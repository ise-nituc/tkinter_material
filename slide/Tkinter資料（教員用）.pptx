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1"/>
  </p:notesMasterIdLst>
  <p:handoutMasterIdLst>
    <p:handoutMasterId r:id="rId42"/>
  </p:handoutMasterIdLst>
  <p:sldIdLst>
    <p:sldId id="284" r:id="rId5"/>
    <p:sldId id="285" r:id="rId6"/>
    <p:sldId id="301" r:id="rId7"/>
    <p:sldId id="318" r:id="rId8"/>
    <p:sldId id="319" r:id="rId9"/>
    <p:sldId id="320"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41" r:id="rId23"/>
    <p:sldId id="342" r:id="rId24"/>
    <p:sldId id="333" r:id="rId25"/>
    <p:sldId id="334" r:id="rId26"/>
    <p:sldId id="335" r:id="rId27"/>
    <p:sldId id="336" r:id="rId28"/>
    <p:sldId id="337" r:id="rId29"/>
    <p:sldId id="338" r:id="rId30"/>
    <p:sldId id="339" r:id="rId31"/>
    <p:sldId id="340" r:id="rId32"/>
    <p:sldId id="343" r:id="rId33"/>
    <p:sldId id="344" r:id="rId34"/>
    <p:sldId id="345" r:id="rId35"/>
    <p:sldId id="346" r:id="rId36"/>
    <p:sldId id="350" r:id="rId37"/>
    <p:sldId id="351" r:id="rId38"/>
    <p:sldId id="348" r:id="rId39"/>
    <p:sldId id="34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7D61"/>
    <a:srgbClr val="C9F1FF"/>
    <a:srgbClr val="FFEEB9"/>
    <a:srgbClr val="FFC5C5"/>
    <a:srgbClr val="4F91EF"/>
    <a:srgbClr val="4A82A5"/>
    <a:srgbClr val="BB5863"/>
    <a:srgbClr val="76B29F"/>
    <a:srgbClr val="F0F0F0"/>
    <a:srgbClr val="FFEE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A61DF-B3CE-4E63-BB4D-12BE7CCE4FB2}" v="7" dt="2026-10-15T01:58:48.164"/>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4" autoAdjust="0"/>
    <p:restoredTop sz="83656" autoAdjust="0"/>
  </p:normalViewPr>
  <p:slideViewPr>
    <p:cSldViewPr snapToGrid="0">
      <p:cViewPr varScale="1">
        <p:scale>
          <a:sx n="59" d="100"/>
          <a:sy n="59" d="100"/>
        </p:scale>
        <p:origin x="90" y="72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p:scale>
          <a:sx n="1" d="2"/>
          <a:sy n="1" d="2"/>
        </p:scale>
        <p:origin x="4548" y="9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d Hafizuddin Bin Kamilin (宇部)" userId="dcc12b03-11b8-42c5-b91a-420a12a1d1e2" providerId="ADAL" clId="{C208E6D6-5F29-4ACC-84C5-187E083BCA60}"/>
    <pc:docChg chg="undo custSel modSld">
      <pc:chgData name="Mohd Hafizuddin Bin Kamilin (宇部)" userId="dcc12b03-11b8-42c5-b91a-420a12a1d1e2" providerId="ADAL" clId="{C208E6D6-5F29-4ACC-84C5-187E083BCA60}" dt="2026-10-15T02:20:26.050" v="280" actId="6549"/>
      <pc:docMkLst>
        <pc:docMk/>
      </pc:docMkLst>
      <pc:sldChg chg="modSp mod">
        <pc:chgData name="Mohd Hafizuddin Bin Kamilin (宇部)" userId="dcc12b03-11b8-42c5-b91a-420a12a1d1e2" providerId="ADAL" clId="{C208E6D6-5F29-4ACC-84C5-187E083BCA60}" dt="2026-10-15T01:55:15.605" v="70" actId="6549"/>
        <pc:sldMkLst>
          <pc:docMk/>
          <pc:sldMk cId="2752715451" sldId="321"/>
        </pc:sldMkLst>
        <pc:graphicFrameChg chg="modGraphic">
          <ac:chgData name="Mohd Hafizuddin Bin Kamilin (宇部)" userId="dcc12b03-11b8-42c5-b91a-420a12a1d1e2" providerId="ADAL" clId="{C208E6D6-5F29-4ACC-84C5-187E083BCA60}" dt="2026-10-15T01:55:15.605" v="70" actId="6549"/>
          <ac:graphicFrameMkLst>
            <pc:docMk/>
            <pc:sldMk cId="2752715451" sldId="321"/>
            <ac:graphicFrameMk id="5" creationId="{89D925B7-DA21-73A0-7796-591EBA6EDA80}"/>
          </ac:graphicFrameMkLst>
        </pc:graphicFrameChg>
      </pc:sldChg>
      <pc:sldChg chg="modSp">
        <pc:chgData name="Mohd Hafizuddin Bin Kamilin (宇部)" userId="dcc12b03-11b8-42c5-b91a-420a12a1d1e2" providerId="ADAL" clId="{C208E6D6-5F29-4ACC-84C5-187E083BCA60}" dt="2026-10-06T11:04:23.326" v="0"/>
        <pc:sldMkLst>
          <pc:docMk/>
          <pc:sldMk cId="3865166979" sldId="325"/>
        </pc:sldMkLst>
        <pc:spChg chg="mod">
          <ac:chgData name="Mohd Hafizuddin Bin Kamilin (宇部)" userId="dcc12b03-11b8-42c5-b91a-420a12a1d1e2" providerId="ADAL" clId="{C208E6D6-5F29-4ACC-84C5-187E083BCA60}" dt="2026-10-06T11:04:23.326" v="0"/>
          <ac:spMkLst>
            <pc:docMk/>
            <pc:sldMk cId="3865166979" sldId="325"/>
            <ac:spMk id="14" creationId="{D06D5C6A-AE92-199C-5350-8F6A1A181F4D}"/>
          </ac:spMkLst>
        </pc:spChg>
      </pc:sldChg>
      <pc:sldChg chg="modSp mod">
        <pc:chgData name="Mohd Hafizuddin Bin Kamilin (宇部)" userId="dcc12b03-11b8-42c5-b91a-420a12a1d1e2" providerId="ADAL" clId="{C208E6D6-5F29-4ACC-84C5-187E083BCA60}" dt="2026-10-15T02:18:01.883" v="258" actId="1076"/>
        <pc:sldMkLst>
          <pc:docMk/>
          <pc:sldMk cId="52035325" sldId="331"/>
        </pc:sldMkLst>
        <pc:spChg chg="mod">
          <ac:chgData name="Mohd Hafizuddin Bin Kamilin (宇部)" userId="dcc12b03-11b8-42c5-b91a-420a12a1d1e2" providerId="ADAL" clId="{C208E6D6-5F29-4ACC-84C5-187E083BCA60}" dt="2026-10-06T11:04:36.879" v="1"/>
          <ac:spMkLst>
            <pc:docMk/>
            <pc:sldMk cId="52035325" sldId="331"/>
            <ac:spMk id="5" creationId="{5CA37EBC-179E-9DC2-B12D-8AB7BD7E63B9}"/>
          </ac:spMkLst>
        </pc:spChg>
        <pc:picChg chg="mod">
          <ac:chgData name="Mohd Hafizuddin Bin Kamilin (宇部)" userId="dcc12b03-11b8-42c5-b91a-420a12a1d1e2" providerId="ADAL" clId="{C208E6D6-5F29-4ACC-84C5-187E083BCA60}" dt="2026-10-15T02:18:01.883" v="258" actId="1076"/>
          <ac:picMkLst>
            <pc:docMk/>
            <pc:sldMk cId="52035325" sldId="331"/>
            <ac:picMk id="7" creationId="{A17E989A-B2F5-CD40-B919-7D7467DFB638}"/>
          </ac:picMkLst>
        </pc:picChg>
      </pc:sldChg>
      <pc:sldChg chg="modSp mod">
        <pc:chgData name="Mohd Hafizuddin Bin Kamilin (宇部)" userId="dcc12b03-11b8-42c5-b91a-420a12a1d1e2" providerId="ADAL" clId="{C208E6D6-5F29-4ACC-84C5-187E083BCA60}" dt="2026-10-15T02:20:26.050" v="280" actId="6549"/>
        <pc:sldMkLst>
          <pc:docMk/>
          <pc:sldMk cId="2165059887" sldId="334"/>
        </pc:sldMkLst>
        <pc:spChg chg="mod">
          <ac:chgData name="Mohd Hafizuddin Bin Kamilin (宇部)" userId="dcc12b03-11b8-42c5-b91a-420a12a1d1e2" providerId="ADAL" clId="{C208E6D6-5F29-4ACC-84C5-187E083BCA60}" dt="2026-10-15T02:20:26.050" v="280" actId="6549"/>
          <ac:spMkLst>
            <pc:docMk/>
            <pc:sldMk cId="2165059887" sldId="334"/>
            <ac:spMk id="3" creationId="{DA766E65-4790-C964-ECB2-999F0AAAE1E2}"/>
          </ac:spMkLst>
        </pc:spChg>
      </pc:sldChg>
      <pc:sldChg chg="modSp mod">
        <pc:chgData name="Mohd Hafizuddin Bin Kamilin (宇部)" userId="dcc12b03-11b8-42c5-b91a-420a12a1d1e2" providerId="ADAL" clId="{C208E6D6-5F29-4ACC-84C5-187E083BCA60}" dt="2026-10-07T02:52:47.584" v="10" actId="6549"/>
        <pc:sldMkLst>
          <pc:docMk/>
          <pc:sldMk cId="3236813189" sldId="337"/>
        </pc:sldMkLst>
        <pc:spChg chg="mod">
          <ac:chgData name="Mohd Hafizuddin Bin Kamilin (宇部)" userId="dcc12b03-11b8-42c5-b91a-420a12a1d1e2" providerId="ADAL" clId="{C208E6D6-5F29-4ACC-84C5-187E083BCA60}" dt="2026-10-07T02:52:47.584" v="10" actId="6549"/>
          <ac:spMkLst>
            <pc:docMk/>
            <pc:sldMk cId="3236813189" sldId="337"/>
            <ac:spMk id="16" creationId="{441659AF-F183-9AC2-6E0E-048A25B01FEC}"/>
          </ac:spMkLst>
        </pc:spChg>
      </pc:sldChg>
      <pc:sldChg chg="modSp mod">
        <pc:chgData name="Mohd Hafizuddin Bin Kamilin (宇部)" userId="dcc12b03-11b8-42c5-b91a-420a12a1d1e2" providerId="ADAL" clId="{C208E6D6-5F29-4ACC-84C5-187E083BCA60}" dt="2026-10-07T02:08:19.904" v="5" actId="20577"/>
        <pc:sldMkLst>
          <pc:docMk/>
          <pc:sldMk cId="972568743" sldId="341"/>
        </pc:sldMkLst>
        <pc:spChg chg="mod">
          <ac:chgData name="Mohd Hafizuddin Bin Kamilin (宇部)" userId="dcc12b03-11b8-42c5-b91a-420a12a1d1e2" providerId="ADAL" clId="{C208E6D6-5F29-4ACC-84C5-187E083BCA60}" dt="2026-10-07T02:08:19.904" v="5" actId="20577"/>
          <ac:spMkLst>
            <pc:docMk/>
            <pc:sldMk cId="972568743" sldId="341"/>
            <ac:spMk id="3" creationId="{2E6F2761-9FFF-09A9-B94B-D59C54AE653F}"/>
          </ac:spMkLst>
        </pc:spChg>
      </pc:sldChg>
      <pc:sldChg chg="modSp mod">
        <pc:chgData name="Mohd Hafizuddin Bin Kamilin (宇部)" userId="dcc12b03-11b8-42c5-b91a-420a12a1d1e2" providerId="ADAL" clId="{C208E6D6-5F29-4ACC-84C5-187E083BCA60}" dt="2026-10-07T04:52:08.766" v="39" actId="123"/>
        <pc:sldMkLst>
          <pc:docMk/>
          <pc:sldMk cId="3308420188" sldId="344"/>
        </pc:sldMkLst>
        <pc:spChg chg="mod">
          <ac:chgData name="Mohd Hafizuddin Bin Kamilin (宇部)" userId="dcc12b03-11b8-42c5-b91a-420a12a1d1e2" providerId="ADAL" clId="{C208E6D6-5F29-4ACC-84C5-187E083BCA60}" dt="2026-10-07T04:52:08.766" v="39" actId="123"/>
          <ac:spMkLst>
            <pc:docMk/>
            <pc:sldMk cId="3308420188" sldId="344"/>
            <ac:spMk id="3" creationId="{27959186-0D6A-D064-C5DB-09A460960A48}"/>
          </ac:spMkLst>
        </pc:spChg>
      </pc:sldChg>
      <pc:sldChg chg="modSp">
        <pc:chgData name="Mohd Hafizuddin Bin Kamilin (宇部)" userId="dcc12b03-11b8-42c5-b91a-420a12a1d1e2" providerId="ADAL" clId="{C208E6D6-5F29-4ACC-84C5-187E083BCA60}" dt="2026-10-07T06:01:02.036" v="69"/>
        <pc:sldMkLst>
          <pc:docMk/>
          <pc:sldMk cId="3083001499" sldId="348"/>
        </pc:sldMkLst>
        <pc:graphicFrameChg chg="mod">
          <ac:chgData name="Mohd Hafizuddin Bin Kamilin (宇部)" userId="dcc12b03-11b8-42c5-b91a-420a12a1d1e2" providerId="ADAL" clId="{C208E6D6-5F29-4ACC-84C5-187E083BCA60}" dt="2026-10-07T06:01:02.036" v="69"/>
          <ac:graphicFrameMkLst>
            <pc:docMk/>
            <pc:sldMk cId="3083001499" sldId="348"/>
            <ac:graphicFrameMk id="6" creationId="{FC05989B-B85D-38B8-1FAB-992647F4E4EB}"/>
          </ac:graphicFrameMkLst>
        </pc:graphicFrameChg>
      </pc:sldChg>
      <pc:sldChg chg="modSp mod">
        <pc:chgData name="Mohd Hafizuddin Bin Kamilin (宇部)" userId="dcc12b03-11b8-42c5-b91a-420a12a1d1e2" providerId="ADAL" clId="{C208E6D6-5F29-4ACC-84C5-187E083BCA60}" dt="2026-10-07T05:23:09.504" v="68" actId="20577"/>
        <pc:sldMkLst>
          <pc:docMk/>
          <pc:sldMk cId="2575555011" sldId="350"/>
        </pc:sldMkLst>
        <pc:spChg chg="mod">
          <ac:chgData name="Mohd Hafizuddin Bin Kamilin (宇部)" userId="dcc12b03-11b8-42c5-b91a-420a12a1d1e2" providerId="ADAL" clId="{C208E6D6-5F29-4ACC-84C5-187E083BCA60}" dt="2026-10-07T05:22:58.834" v="53" actId="20577"/>
          <ac:spMkLst>
            <pc:docMk/>
            <pc:sldMk cId="2575555011" sldId="350"/>
            <ac:spMk id="10" creationId="{FB345421-DA75-2858-0267-14AECFC1F879}"/>
          </ac:spMkLst>
        </pc:spChg>
        <pc:spChg chg="mod">
          <ac:chgData name="Mohd Hafizuddin Bin Kamilin (宇部)" userId="dcc12b03-11b8-42c5-b91a-420a12a1d1e2" providerId="ADAL" clId="{C208E6D6-5F29-4ACC-84C5-187E083BCA60}" dt="2026-10-07T05:23:09.504" v="68" actId="20577"/>
          <ac:spMkLst>
            <pc:docMk/>
            <pc:sldMk cId="2575555011" sldId="350"/>
            <ac:spMk id="11" creationId="{8642F8A4-A124-7497-1203-FF1AACE8D741}"/>
          </ac:spMkLst>
        </pc:spChg>
      </pc:sldChg>
      <pc:sldChg chg="addSp modSp mod">
        <pc:chgData name="Mohd Hafizuddin Bin Kamilin (宇部)" userId="dcc12b03-11b8-42c5-b91a-420a12a1d1e2" providerId="ADAL" clId="{C208E6D6-5F29-4ACC-84C5-187E083BCA60}" dt="2026-10-15T01:58:59.273" v="256" actId="1076"/>
        <pc:sldMkLst>
          <pc:docMk/>
          <pc:sldMk cId="1509546444" sldId="351"/>
        </pc:sldMkLst>
        <pc:spChg chg="add mod">
          <ac:chgData name="Mohd Hafizuddin Bin Kamilin (宇部)" userId="dcc12b03-11b8-42c5-b91a-420a12a1d1e2" providerId="ADAL" clId="{C208E6D6-5F29-4ACC-84C5-187E083BCA60}" dt="2026-10-15T01:58:59.273" v="256" actId="1076"/>
          <ac:spMkLst>
            <pc:docMk/>
            <pc:sldMk cId="1509546444" sldId="351"/>
            <ac:spMk id="3" creationId="{225B63E2-F909-9129-1B48-206E20CA204A}"/>
          </ac:spMkLst>
        </pc:spChg>
        <pc:picChg chg="mod">
          <ac:chgData name="Mohd Hafizuddin Bin Kamilin (宇部)" userId="dcc12b03-11b8-42c5-b91a-420a12a1d1e2" providerId="ADAL" clId="{C208E6D6-5F29-4ACC-84C5-187E083BCA60}" dt="2026-10-15T01:56:23.656" v="71" actId="1076"/>
          <ac:picMkLst>
            <pc:docMk/>
            <pc:sldMk cId="1509546444" sldId="351"/>
            <ac:picMk id="2" creationId="{CEBE3DF6-22B9-188C-E8BC-7B9E9D83815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10/15/2026</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10/15/2026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dirty="0"/>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 </a:t>
            </a:r>
            <a:r>
              <a:rPr lang="ja-JP" altLang="en-US" dirty="0"/>
              <a:t>時間の制約で</a:t>
            </a:r>
            <a:r>
              <a:rPr lang="en-US" altLang="ja-JP" dirty="0"/>
              <a:t>grid</a:t>
            </a:r>
            <a:r>
              <a:rPr lang="ja-JP" altLang="en-US" dirty="0"/>
              <a:t>関数だけを教えます。</a:t>
            </a:r>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14</a:t>
            </a:fld>
            <a:endParaRPr lang="en-US" dirty="0"/>
          </a:p>
        </p:txBody>
      </p:sp>
    </p:spTree>
    <p:extLst>
      <p:ext uri="{BB962C8B-B14F-4D97-AF65-F5344CB8AC3E}">
        <p14:creationId xmlns:p14="http://schemas.microsoft.com/office/powerpoint/2010/main" val="3421346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16</a:t>
            </a:fld>
            <a:endParaRPr lang="en-US" dirty="0"/>
          </a:p>
        </p:txBody>
      </p:sp>
    </p:spTree>
    <p:extLst>
      <p:ext uri="{BB962C8B-B14F-4D97-AF65-F5344CB8AC3E}">
        <p14:creationId xmlns:p14="http://schemas.microsoft.com/office/powerpoint/2010/main" val="1585896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20</a:t>
            </a:fld>
            <a:endParaRPr lang="en-US" dirty="0"/>
          </a:p>
        </p:txBody>
      </p:sp>
    </p:spTree>
    <p:extLst>
      <p:ext uri="{BB962C8B-B14F-4D97-AF65-F5344CB8AC3E}">
        <p14:creationId xmlns:p14="http://schemas.microsoft.com/office/powerpoint/2010/main" val="2783543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28</a:t>
            </a:fld>
            <a:endParaRPr lang="en-US" dirty="0"/>
          </a:p>
        </p:txBody>
      </p:sp>
    </p:spTree>
    <p:extLst>
      <p:ext uri="{BB962C8B-B14F-4D97-AF65-F5344CB8AC3E}">
        <p14:creationId xmlns:p14="http://schemas.microsoft.com/office/powerpoint/2010/main" val="1750021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9F06F2-3A00-14DE-2A96-DB8B172628FB}"/>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17" name="Title 1">
            <a:extLst>
              <a:ext uri="{FF2B5EF4-FFF2-40B4-BE49-F238E27FC236}">
                <a16:creationId xmlns:a16="http://schemas.microsoft.com/office/drawing/2014/main" id="{096705D8-5032-1E07-61C2-4F5B11745B84}"/>
              </a:ext>
            </a:extLst>
          </p:cNvPr>
          <p:cNvSpPr txBox="1">
            <a:spLocks/>
          </p:cNvSpPr>
          <p:nvPr userDrawn="1"/>
        </p:nvSpPr>
        <p:spPr>
          <a:xfrm>
            <a:off x="353056" y="3810128"/>
            <a:ext cx="11542771" cy="2546710"/>
          </a:xfrm>
          <a:prstGeom prst="rect">
            <a:avLst/>
          </a:prstGeom>
          <a:noFill/>
          <a:ln w="19050">
            <a:solidFill>
              <a:srgbClr val="C097F8"/>
            </a:solidFill>
          </a:ln>
          <a:effectLst>
            <a:outerShdw blurRad="50800" dist="38100" dir="2700000" algn="tl" rotWithShape="0">
              <a:prstClr val="black">
                <a:alpha val="40000"/>
              </a:prstClr>
            </a:outerShdw>
          </a:effectLst>
        </p:spPr>
        <p:txBody>
          <a:bodyPr vert="horz" lIns="68580" tIns="34290" rIns="68580" bIns="34290" rtlCol="0" anchor="t">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sz="2100" dirty="0"/>
              <a:t>Summary</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362310" y="736183"/>
            <a:ext cx="11533517" cy="1673435"/>
          </a:xfrm>
          <a:solidFill>
            <a:srgbClr val="002060"/>
          </a:solidFill>
          <a:ln w="19050">
            <a:solidFill>
              <a:srgbClr val="002060"/>
            </a:solidFill>
          </a:ln>
          <a:effectLst>
            <a:outerShdw blurRad="50800" dist="38100" dir="2700000" algn="tl" rotWithShape="0">
              <a:prstClr val="black">
                <a:alpha val="40000"/>
              </a:prstClr>
            </a:outerShdw>
          </a:effectLst>
        </p:spPr>
        <p:txBody>
          <a:bodyPr/>
          <a:lstStyle>
            <a:lvl1pPr algn="ctr">
              <a:defRPr>
                <a:solidFill>
                  <a:schemeClr val="bg1"/>
                </a:solidFill>
              </a:defRPr>
            </a:lvl1pPr>
          </a:lstStyle>
          <a:p>
            <a:r>
              <a:rPr lang="en-US" dirty="0"/>
              <a:t>Title</a:t>
            </a:r>
          </a:p>
        </p:txBody>
      </p:sp>
      <p:sp>
        <p:nvSpPr>
          <p:cNvPr id="6" name="TextBox 5">
            <a:extLst>
              <a:ext uri="{FF2B5EF4-FFF2-40B4-BE49-F238E27FC236}">
                <a16:creationId xmlns:a16="http://schemas.microsoft.com/office/drawing/2014/main" id="{E0D08FDD-74C4-4348-DF2F-AAB3DF9B9F2A}"/>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11" name="Title 1">
            <a:extLst>
              <a:ext uri="{FF2B5EF4-FFF2-40B4-BE49-F238E27FC236}">
                <a16:creationId xmlns:a16="http://schemas.microsoft.com/office/drawing/2014/main" id="{5E1D2014-3849-C11D-CB53-155B01F648AD}"/>
              </a:ext>
            </a:extLst>
          </p:cNvPr>
          <p:cNvSpPr txBox="1">
            <a:spLocks/>
          </p:cNvSpPr>
          <p:nvPr userDrawn="1"/>
        </p:nvSpPr>
        <p:spPr>
          <a:xfrm>
            <a:off x="353057" y="3800603"/>
            <a:ext cx="11542771" cy="485647"/>
          </a:xfrm>
          <a:prstGeom prst="rect">
            <a:avLst/>
          </a:prstGeom>
          <a:solidFill>
            <a:srgbClr val="002060"/>
          </a:solidFill>
          <a:ln w="19050">
            <a:solidFill>
              <a:srgbClr val="002060"/>
            </a:solidFill>
          </a:ln>
        </p:spPr>
        <p:txBody>
          <a:bodyPr vert="horz" lIns="68580" tIns="34290" rIns="68580" bIns="34290" rtlCol="0" anchor="ct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ja-JP" altLang="en-US" sz="2100" dirty="0">
                <a:solidFill>
                  <a:schemeClr val="bg1"/>
                </a:solidFill>
              </a:rPr>
              <a:t>概要</a:t>
            </a:r>
            <a:endParaRPr lang="en-US" sz="2100" dirty="0">
              <a:solidFill>
                <a:schemeClr val="bg1"/>
              </a:solidFill>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p:nvPr>
        </p:nvSpPr>
        <p:spPr>
          <a:xfrm>
            <a:off x="353055" y="4295776"/>
            <a:ext cx="11542772" cy="2061062"/>
          </a:xfrm>
          <a:solidFill>
            <a:schemeClr val="bg1"/>
          </a:solidFill>
          <a:ln w="19050">
            <a:solidFill>
              <a:srgbClr val="002060"/>
            </a:solidFill>
          </a:ln>
        </p:spPr>
        <p:txBody>
          <a:bodyPr>
            <a:normAutofit/>
          </a:bodyPr>
          <a:lstStyle>
            <a:lvl1pPr marL="0" indent="0">
              <a:buFont typeface="+mj-lt"/>
              <a:buAutoNum type="arabicPeriod"/>
              <a:defRPr sz="2800">
                <a:latin typeface="+mj-lt"/>
              </a:defRPr>
            </a:lvl1pPr>
          </a:lstStyle>
          <a:p>
            <a:pPr lvl="0"/>
            <a:endParaRPr lang="en-US" dirty="0"/>
          </a:p>
        </p:txBody>
      </p:sp>
      <p:sp>
        <p:nvSpPr>
          <p:cNvPr id="27" name="Text Placeholder 25">
            <a:extLst>
              <a:ext uri="{FF2B5EF4-FFF2-40B4-BE49-F238E27FC236}">
                <a16:creationId xmlns:a16="http://schemas.microsoft.com/office/drawing/2014/main" id="{8899EC65-5DCC-20B3-B6F9-F514087FD234}"/>
              </a:ext>
            </a:extLst>
          </p:cNvPr>
          <p:cNvSpPr>
            <a:spLocks noGrp="1"/>
          </p:cNvSpPr>
          <p:nvPr>
            <p:ph type="body" sz="quarter" idx="13" hasCustomPrompt="1"/>
          </p:nvPr>
        </p:nvSpPr>
        <p:spPr>
          <a:xfrm>
            <a:off x="362310" y="2416513"/>
            <a:ext cx="11533517" cy="1374564"/>
          </a:xfrm>
        </p:spPr>
        <p:txBody>
          <a:bodyPr anchor="ctr">
            <a:normAutofit/>
          </a:bodyPr>
          <a:lstStyle>
            <a:lvl1pPr marL="0" indent="0" algn="ctr">
              <a:buNone/>
              <a:defRPr sz="2800">
                <a:latin typeface="+mj-lt"/>
              </a:defRPr>
            </a:lvl1pPr>
          </a:lstStyle>
          <a:p>
            <a:pPr lvl="0"/>
            <a:r>
              <a:rPr lang="en-US" dirty="0"/>
              <a:t>John Smith</a:t>
            </a:r>
            <a:r>
              <a:rPr lang="en-US" altLang="ja-JP" dirty="0"/>
              <a:t>¹</a:t>
            </a:r>
            <a:r>
              <a:rPr lang="en-US" dirty="0"/>
              <a:t>, Mohd Hafizuddin Bin Kamilin</a:t>
            </a:r>
            <a:r>
              <a:rPr lang="en-US" altLang="ja-JP" dirty="0"/>
              <a:t>²</a:t>
            </a:r>
            <a:endParaRPr lang="en-US" dirty="0"/>
          </a:p>
        </p:txBody>
      </p:sp>
      <p:sp>
        <p:nvSpPr>
          <p:cNvPr id="35" name="Slide Number Placeholder 34">
            <a:extLst>
              <a:ext uri="{FF2B5EF4-FFF2-40B4-BE49-F238E27FC236}">
                <a16:creationId xmlns:a16="http://schemas.microsoft.com/office/drawing/2014/main" id="{A7CF6A23-F224-50A3-C0EE-6BCCF3ECB23F}"/>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4274420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E5D8D7-E272-DD95-54E6-939074EDB2EA}"/>
              </a:ext>
            </a:extLst>
          </p:cNvPr>
          <p:cNvSpPr/>
          <p:nvPr userDrawn="1"/>
        </p:nvSpPr>
        <p:spPr>
          <a:xfrm>
            <a:off x="0" y="0"/>
            <a:ext cx="12192000" cy="6858000"/>
          </a:xfrm>
          <a:prstGeom prst="rect">
            <a:avLst/>
          </a:prstGeom>
          <a:solidFill>
            <a:schemeClr val="tx1">
              <a:lumMod val="75000"/>
              <a:lumOff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926282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884C18F-D2D8-76D3-E7AC-437FAC1DE1D7}"/>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91440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1-1 Background</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3"/>
            <a:ext cx="12191999" cy="698499"/>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1. Introduction</a:t>
            </a:r>
          </a:p>
        </p:txBody>
      </p:sp>
      <p:sp>
        <p:nvSpPr>
          <p:cNvPr id="17" name="Text Placeholder 12">
            <a:extLst>
              <a:ext uri="{FF2B5EF4-FFF2-40B4-BE49-F238E27FC236}">
                <a16:creationId xmlns:a16="http://schemas.microsoft.com/office/drawing/2014/main" id="{26F31D16-44E6-143F-3472-9BE8ED0F0E29}"/>
              </a:ext>
            </a:extLst>
          </p:cNvPr>
          <p:cNvSpPr>
            <a:spLocks noGrp="1"/>
          </p:cNvSpPr>
          <p:nvPr>
            <p:ph type="body" sz="quarter" idx="13" hasCustomPrompt="1"/>
          </p:nvPr>
        </p:nvSpPr>
        <p:spPr>
          <a:xfrm>
            <a:off x="114444" y="1724025"/>
            <a:ext cx="11963109" cy="4686300"/>
          </a:xfrm>
          <a:ln>
            <a:noFill/>
          </a:ln>
        </p:spPr>
        <p:txBody>
          <a:bodyPr/>
          <a:lstStyle>
            <a:lvl1pPr>
              <a:defRPr sz="2400">
                <a:latin typeface="+mj-lt"/>
              </a:defRPr>
            </a:lvl1pPr>
          </a:lstStyle>
          <a:p>
            <a:pPr lvl="0"/>
            <a:r>
              <a:rPr lang="en-US" dirty="0"/>
              <a:t>…</a:t>
            </a:r>
          </a:p>
        </p:txBody>
      </p:sp>
      <p:sp>
        <p:nvSpPr>
          <p:cNvPr id="5" name="Slide Number Placeholder 34">
            <a:extLst>
              <a:ext uri="{FF2B5EF4-FFF2-40B4-BE49-F238E27FC236}">
                <a16:creationId xmlns:a16="http://schemas.microsoft.com/office/drawing/2014/main" id="{9AC8DA2F-E3FE-B703-32D0-7A3786BE2FA6}"/>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6" name="TextBox 5">
            <a:extLst>
              <a:ext uri="{FF2B5EF4-FFF2-40B4-BE49-F238E27FC236}">
                <a16:creationId xmlns:a16="http://schemas.microsoft.com/office/drawing/2014/main" id="{1065ECBB-7FBB-0EC9-80D5-94795C0DEBE3}"/>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4157173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B6F040-CFDD-3229-522E-62927E188AF4}"/>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1-2 Problem</a:t>
            </a:r>
          </a:p>
        </p:txBody>
      </p:sp>
      <p:sp>
        <p:nvSpPr>
          <p:cNvPr id="13" name="Text Placeholder 12">
            <a:extLst>
              <a:ext uri="{FF2B5EF4-FFF2-40B4-BE49-F238E27FC236}">
                <a16:creationId xmlns:a16="http://schemas.microsoft.com/office/drawing/2014/main" id="{A23D06F8-1169-C536-2D8C-45A935092798}"/>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5" name="TextBox 4">
            <a:extLst>
              <a:ext uri="{FF2B5EF4-FFF2-40B4-BE49-F238E27FC236}">
                <a16:creationId xmlns:a16="http://schemas.microsoft.com/office/drawing/2014/main" id="{54D740AB-0A34-0569-9182-AD6A8AF99859}"/>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4" name="Slide Number Placeholder 34">
            <a:extLst>
              <a:ext uri="{FF2B5EF4-FFF2-40B4-BE49-F238E27FC236}">
                <a16:creationId xmlns:a16="http://schemas.microsoft.com/office/drawing/2014/main" id="{5A682C21-51F0-6729-DC48-D3BBFF2F5B8B}"/>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4151187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7B150FD-D9F0-3854-9E26-E975BB4FC244}"/>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1-3 Related Work</a:t>
            </a:r>
          </a:p>
        </p:txBody>
      </p:sp>
      <p:sp>
        <p:nvSpPr>
          <p:cNvPr id="9" name="Text Placeholder 12">
            <a:extLst>
              <a:ext uri="{FF2B5EF4-FFF2-40B4-BE49-F238E27FC236}">
                <a16:creationId xmlns:a16="http://schemas.microsoft.com/office/drawing/2014/main" id="{CBF0CCD4-721A-BCEF-5BCD-8F562B7B8B19}"/>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4" name="Slide Number Placeholder 34">
            <a:extLst>
              <a:ext uri="{FF2B5EF4-FFF2-40B4-BE49-F238E27FC236}">
                <a16:creationId xmlns:a16="http://schemas.microsoft.com/office/drawing/2014/main" id="{5D9F467B-5C75-52F5-37B5-01ED1C4D0B19}"/>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5" name="TextBox 4">
            <a:extLst>
              <a:ext uri="{FF2B5EF4-FFF2-40B4-BE49-F238E27FC236}">
                <a16:creationId xmlns:a16="http://schemas.microsoft.com/office/drawing/2014/main" id="{BCF1AB33-18F7-8BF3-511D-1BEF46CE0A3E}"/>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228192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B4ECEF-4D28-D429-EEC3-A80BEFBD987B}"/>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1-4 This Work</a:t>
            </a:r>
          </a:p>
        </p:txBody>
      </p:sp>
      <p:sp>
        <p:nvSpPr>
          <p:cNvPr id="9" name="Text Placeholder 12">
            <a:extLst>
              <a:ext uri="{FF2B5EF4-FFF2-40B4-BE49-F238E27FC236}">
                <a16:creationId xmlns:a16="http://schemas.microsoft.com/office/drawing/2014/main" id="{BA28725A-45B3-A680-FE5A-17C3088F3EE4}"/>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4" name="Slide Number Placeholder 34">
            <a:extLst>
              <a:ext uri="{FF2B5EF4-FFF2-40B4-BE49-F238E27FC236}">
                <a16:creationId xmlns:a16="http://schemas.microsoft.com/office/drawing/2014/main" id="{32425F87-2AE9-F83A-914F-5D93DD552B3B}"/>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5" name="TextBox 4">
            <a:extLst>
              <a:ext uri="{FF2B5EF4-FFF2-40B4-BE49-F238E27FC236}">
                <a16:creationId xmlns:a16="http://schemas.microsoft.com/office/drawing/2014/main" id="{F205396D-8977-A42D-5CD9-60C52FF2E5D8}"/>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2464760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8F8B8FA-5018-35AA-A90B-FF65F7A5EEA9}"/>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91440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2-1 X</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53926"/>
            <a:ext cx="12191999" cy="660476"/>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2. Preliminary</a:t>
            </a:r>
          </a:p>
        </p:txBody>
      </p:sp>
      <p:sp>
        <p:nvSpPr>
          <p:cNvPr id="3" name="Text Placeholder 12">
            <a:extLst>
              <a:ext uri="{FF2B5EF4-FFF2-40B4-BE49-F238E27FC236}">
                <a16:creationId xmlns:a16="http://schemas.microsoft.com/office/drawing/2014/main" id="{FB570AEC-3F06-14E2-18E1-9F2802091609}"/>
              </a:ext>
            </a:extLst>
          </p:cNvPr>
          <p:cNvSpPr>
            <a:spLocks noGrp="1"/>
          </p:cNvSpPr>
          <p:nvPr>
            <p:ph type="body" sz="quarter" idx="13" hasCustomPrompt="1"/>
          </p:nvPr>
        </p:nvSpPr>
        <p:spPr>
          <a:xfrm>
            <a:off x="114444" y="1724025"/>
            <a:ext cx="11963109" cy="4686300"/>
          </a:xfrm>
        </p:spPr>
        <p:txBody>
          <a:bodyPr>
            <a:normAutofit/>
          </a:bodyPr>
          <a:lstStyle>
            <a:lvl1pPr>
              <a:defRPr sz="2400">
                <a:latin typeface="+mj-lt"/>
              </a:defRPr>
            </a:lvl1pPr>
          </a:lstStyle>
          <a:p>
            <a:pPr lvl="0"/>
            <a:r>
              <a:rPr lang="en-US" dirty="0"/>
              <a:t>…</a:t>
            </a:r>
          </a:p>
        </p:txBody>
      </p:sp>
      <p:sp>
        <p:nvSpPr>
          <p:cNvPr id="7" name="Slide Number Placeholder 34">
            <a:extLst>
              <a:ext uri="{FF2B5EF4-FFF2-40B4-BE49-F238E27FC236}">
                <a16:creationId xmlns:a16="http://schemas.microsoft.com/office/drawing/2014/main" id="{40F1E9AD-0F3D-7D54-1B18-714C362415E7}"/>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6" name="TextBox 5">
            <a:extLst>
              <a:ext uri="{FF2B5EF4-FFF2-40B4-BE49-F238E27FC236}">
                <a16:creationId xmlns:a16="http://schemas.microsoft.com/office/drawing/2014/main" id="{8640A615-16ED-41B6-2918-EC4B08C8F898}"/>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3037209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82DB2C2-C092-CCA0-7AC3-E111ACCD9C0F}"/>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2-2 Y</a:t>
            </a:r>
          </a:p>
        </p:txBody>
      </p:sp>
      <p:sp>
        <p:nvSpPr>
          <p:cNvPr id="2" name="Text Placeholder 12">
            <a:extLst>
              <a:ext uri="{FF2B5EF4-FFF2-40B4-BE49-F238E27FC236}">
                <a16:creationId xmlns:a16="http://schemas.microsoft.com/office/drawing/2014/main" id="{66B0D7F6-64F1-2193-D994-3A76698487F1}"/>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5" name="Slide Number Placeholder 34">
            <a:extLst>
              <a:ext uri="{FF2B5EF4-FFF2-40B4-BE49-F238E27FC236}">
                <a16:creationId xmlns:a16="http://schemas.microsoft.com/office/drawing/2014/main" id="{B34A4423-6671-1992-0270-353C1A02FD82}"/>
              </a:ext>
            </a:extLst>
          </p:cNvPr>
          <p:cNvSpPr>
            <a:spLocks noGrp="1"/>
          </p:cNvSpPr>
          <p:nvPr>
            <p:ph type="sldNum" sz="quarter" idx="15"/>
          </p:nvPr>
        </p:nvSpPr>
        <p:spPr>
          <a:xfrm>
            <a:off x="9448800" y="6583303"/>
            <a:ext cx="2743200" cy="365126"/>
          </a:xfrm>
          <a:prstGeom prst="rect">
            <a:avLst/>
          </a:prstGeom>
          <a:ln>
            <a:noFill/>
          </a:ln>
        </p:spPr>
        <p:txBody>
          <a:bodyPr/>
          <a:lstStyle/>
          <a:p>
            <a:fld id="{CBD12358-51D2-46B3-9BDE-DF29528B9454}" type="slidenum">
              <a:rPr lang="en-US" smtClean="0"/>
              <a:pPr/>
              <a:t>‹#›</a:t>
            </a:fld>
            <a:endParaRPr lang="en-US" dirty="0"/>
          </a:p>
        </p:txBody>
      </p:sp>
      <p:sp>
        <p:nvSpPr>
          <p:cNvPr id="6" name="TextBox 5">
            <a:extLst>
              <a:ext uri="{FF2B5EF4-FFF2-40B4-BE49-F238E27FC236}">
                <a16:creationId xmlns:a16="http://schemas.microsoft.com/office/drawing/2014/main" id="{9DED0F4B-D05E-216E-C758-285B33E3125E}"/>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266839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AEC568E-7EE0-8F0E-97D4-90C4666F69E8}"/>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91440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3-1 X</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3"/>
            <a:ext cx="12191999" cy="698499"/>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3. Proposed</a:t>
            </a:r>
          </a:p>
        </p:txBody>
      </p:sp>
      <p:sp>
        <p:nvSpPr>
          <p:cNvPr id="3" name="Text Placeholder 12">
            <a:extLst>
              <a:ext uri="{FF2B5EF4-FFF2-40B4-BE49-F238E27FC236}">
                <a16:creationId xmlns:a16="http://schemas.microsoft.com/office/drawing/2014/main" id="{5912B110-0DF6-0150-B47E-BB0A2781DFE2}"/>
              </a:ext>
            </a:extLst>
          </p:cNvPr>
          <p:cNvSpPr>
            <a:spLocks noGrp="1"/>
          </p:cNvSpPr>
          <p:nvPr>
            <p:ph type="body" sz="quarter" idx="13" hasCustomPrompt="1"/>
          </p:nvPr>
        </p:nvSpPr>
        <p:spPr>
          <a:xfrm>
            <a:off x="114444" y="1724025"/>
            <a:ext cx="11963109" cy="4686300"/>
          </a:xfrm>
        </p:spPr>
        <p:txBody>
          <a:bodyPr>
            <a:normAutofit/>
          </a:bodyPr>
          <a:lstStyle>
            <a:lvl1pPr>
              <a:defRPr sz="2400">
                <a:latin typeface="+mj-lt"/>
              </a:defRPr>
            </a:lvl1pPr>
          </a:lstStyle>
          <a:p>
            <a:pPr lvl="0"/>
            <a:r>
              <a:rPr lang="en-US" dirty="0"/>
              <a:t>…</a:t>
            </a:r>
          </a:p>
        </p:txBody>
      </p:sp>
      <p:sp>
        <p:nvSpPr>
          <p:cNvPr id="7" name="Slide Number Placeholder 34">
            <a:extLst>
              <a:ext uri="{FF2B5EF4-FFF2-40B4-BE49-F238E27FC236}">
                <a16:creationId xmlns:a16="http://schemas.microsoft.com/office/drawing/2014/main" id="{4828EFB3-3F8C-51B3-295D-86729B1175DC}"/>
              </a:ext>
            </a:extLst>
          </p:cNvPr>
          <p:cNvSpPr>
            <a:spLocks noGrp="1"/>
          </p:cNvSpPr>
          <p:nvPr>
            <p:ph type="sldNum" sz="quarter" idx="15"/>
          </p:nvPr>
        </p:nvSpPr>
        <p:spPr>
          <a:xfrm>
            <a:off x="9448800" y="6583303"/>
            <a:ext cx="2743200" cy="365126"/>
          </a:xfrm>
          <a:prstGeom prst="rect">
            <a:avLst/>
          </a:prstGeom>
          <a:ln>
            <a:noFill/>
          </a:ln>
        </p:spPr>
        <p:txBody>
          <a:bodyPr/>
          <a:lstStyle/>
          <a:p>
            <a:fld id="{CBD12358-51D2-46B3-9BDE-DF29528B9454}" type="slidenum">
              <a:rPr lang="en-US" smtClean="0"/>
              <a:pPr/>
              <a:t>‹#›</a:t>
            </a:fld>
            <a:endParaRPr lang="en-US" dirty="0"/>
          </a:p>
        </p:txBody>
      </p:sp>
      <p:sp>
        <p:nvSpPr>
          <p:cNvPr id="6" name="TextBox 5">
            <a:extLst>
              <a:ext uri="{FF2B5EF4-FFF2-40B4-BE49-F238E27FC236}">
                <a16:creationId xmlns:a16="http://schemas.microsoft.com/office/drawing/2014/main" id="{49453B6C-33E3-37A3-1DDB-4219B4CCD8CC}"/>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1527048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3-2 Y</a:t>
            </a:r>
          </a:p>
        </p:txBody>
      </p:sp>
      <p:sp>
        <p:nvSpPr>
          <p:cNvPr id="2" name="Text Placeholder 12">
            <a:extLst>
              <a:ext uri="{FF2B5EF4-FFF2-40B4-BE49-F238E27FC236}">
                <a16:creationId xmlns:a16="http://schemas.microsoft.com/office/drawing/2014/main" id="{6D3C139F-27B6-B4C2-1C3F-35C198C1F5AC}"/>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6" name="TextBox 5">
            <a:extLst>
              <a:ext uri="{FF2B5EF4-FFF2-40B4-BE49-F238E27FC236}">
                <a16:creationId xmlns:a16="http://schemas.microsoft.com/office/drawing/2014/main" id="{720DCFFD-1338-7E34-D12A-172007037999}"/>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7" name="TextBox 6">
            <a:extLst>
              <a:ext uri="{FF2B5EF4-FFF2-40B4-BE49-F238E27FC236}">
                <a16:creationId xmlns:a16="http://schemas.microsoft.com/office/drawing/2014/main" id="{C18DFD72-FDA4-48A0-422E-B3065AAC3418}"/>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5" name="Slide Number Placeholder 34">
            <a:extLst>
              <a:ext uri="{FF2B5EF4-FFF2-40B4-BE49-F238E27FC236}">
                <a16:creationId xmlns:a16="http://schemas.microsoft.com/office/drawing/2014/main" id="{DADA88CB-4D86-E988-3C39-7B90EF20A11C}"/>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792393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91440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4-1 X</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2"/>
            <a:ext cx="12191999" cy="698500"/>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4. Result</a:t>
            </a:r>
          </a:p>
        </p:txBody>
      </p:sp>
      <p:sp>
        <p:nvSpPr>
          <p:cNvPr id="3" name="Text Placeholder 12">
            <a:extLst>
              <a:ext uri="{FF2B5EF4-FFF2-40B4-BE49-F238E27FC236}">
                <a16:creationId xmlns:a16="http://schemas.microsoft.com/office/drawing/2014/main" id="{ECEF07BB-7D85-6B82-056C-59BBE754CB11}"/>
              </a:ext>
            </a:extLst>
          </p:cNvPr>
          <p:cNvSpPr>
            <a:spLocks noGrp="1"/>
          </p:cNvSpPr>
          <p:nvPr>
            <p:ph type="body" sz="quarter" idx="13" hasCustomPrompt="1"/>
          </p:nvPr>
        </p:nvSpPr>
        <p:spPr>
          <a:xfrm>
            <a:off x="114444" y="1724025"/>
            <a:ext cx="11963109" cy="4686300"/>
          </a:xfrm>
          <a:ln>
            <a:noFill/>
          </a:ln>
        </p:spPr>
        <p:txBody>
          <a:bodyPr>
            <a:normAutofit/>
          </a:bodyPr>
          <a:lstStyle>
            <a:lvl1pPr>
              <a:defRPr sz="2400">
                <a:latin typeface="+mj-lt"/>
              </a:defRPr>
            </a:lvl1pPr>
          </a:lstStyle>
          <a:p>
            <a:pPr lvl="0"/>
            <a:r>
              <a:rPr lang="en-US" dirty="0"/>
              <a:t>…</a:t>
            </a:r>
          </a:p>
        </p:txBody>
      </p:sp>
      <p:sp>
        <p:nvSpPr>
          <p:cNvPr id="6" name="TextBox 5">
            <a:extLst>
              <a:ext uri="{FF2B5EF4-FFF2-40B4-BE49-F238E27FC236}">
                <a16:creationId xmlns:a16="http://schemas.microsoft.com/office/drawing/2014/main" id="{77CAB248-3135-1CE6-2EC3-CCD089BAD178}"/>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8" name="TextBox 7">
            <a:extLst>
              <a:ext uri="{FF2B5EF4-FFF2-40B4-BE49-F238E27FC236}">
                <a16:creationId xmlns:a16="http://schemas.microsoft.com/office/drawing/2014/main" id="{11E085EE-B06E-FFD1-92E4-DC4138A1360E}"/>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7" name="Slide Number Placeholder 34">
            <a:extLst>
              <a:ext uri="{FF2B5EF4-FFF2-40B4-BE49-F238E27FC236}">
                <a16:creationId xmlns:a16="http://schemas.microsoft.com/office/drawing/2014/main" id="{BB284DC0-3C52-9B4B-5C4D-0B5A61C54723}"/>
              </a:ext>
            </a:extLst>
          </p:cNvPr>
          <p:cNvSpPr>
            <a:spLocks noGrp="1"/>
          </p:cNvSpPr>
          <p:nvPr>
            <p:ph type="sldNum" sz="quarter" idx="15"/>
          </p:nvPr>
        </p:nvSpPr>
        <p:spPr>
          <a:xfrm>
            <a:off x="9448800" y="6583303"/>
            <a:ext cx="2743200" cy="365126"/>
          </a:xfrm>
          <a:prstGeom prst="rect">
            <a:avLst/>
          </a:prstGeom>
          <a:ln>
            <a:noFill/>
          </a:ln>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2643344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4-2 Y</a:t>
            </a:r>
          </a:p>
        </p:txBody>
      </p:sp>
      <p:sp>
        <p:nvSpPr>
          <p:cNvPr id="2" name="Text Placeholder 12">
            <a:extLst>
              <a:ext uri="{FF2B5EF4-FFF2-40B4-BE49-F238E27FC236}">
                <a16:creationId xmlns:a16="http://schemas.microsoft.com/office/drawing/2014/main" id="{83F19133-D21C-062F-98F4-5D7ED924A35B}"/>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6" name="TextBox 5">
            <a:extLst>
              <a:ext uri="{FF2B5EF4-FFF2-40B4-BE49-F238E27FC236}">
                <a16:creationId xmlns:a16="http://schemas.microsoft.com/office/drawing/2014/main" id="{E2E4E077-D3B2-AECD-7309-B12EB043B98E}"/>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7" name="TextBox 6">
            <a:extLst>
              <a:ext uri="{FF2B5EF4-FFF2-40B4-BE49-F238E27FC236}">
                <a16:creationId xmlns:a16="http://schemas.microsoft.com/office/drawing/2014/main" id="{4035ED53-F4C8-3CF2-5F0D-B4BAB4113CDF}"/>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5" name="Slide Number Placeholder 34">
            <a:extLst>
              <a:ext uri="{FF2B5EF4-FFF2-40B4-BE49-F238E27FC236}">
                <a16:creationId xmlns:a16="http://schemas.microsoft.com/office/drawing/2014/main" id="{D03795AD-9D1A-1464-E935-1F8FC750AE79}"/>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766983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2"/>
            <a:ext cx="12191999" cy="698500"/>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5. </a:t>
            </a:r>
          </a:p>
        </p:txBody>
      </p:sp>
      <p:sp>
        <p:nvSpPr>
          <p:cNvPr id="6" name="TextBox 5">
            <a:extLst>
              <a:ext uri="{FF2B5EF4-FFF2-40B4-BE49-F238E27FC236}">
                <a16:creationId xmlns:a16="http://schemas.microsoft.com/office/drawing/2014/main" id="{77CAB248-3135-1CE6-2EC3-CCD089BAD178}"/>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8" name="TextBox 7">
            <a:extLst>
              <a:ext uri="{FF2B5EF4-FFF2-40B4-BE49-F238E27FC236}">
                <a16:creationId xmlns:a16="http://schemas.microsoft.com/office/drawing/2014/main" id="{11E085EE-B06E-FFD1-92E4-DC4138A1360E}"/>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7" name="Slide Number Placeholder 34">
            <a:extLst>
              <a:ext uri="{FF2B5EF4-FFF2-40B4-BE49-F238E27FC236}">
                <a16:creationId xmlns:a16="http://schemas.microsoft.com/office/drawing/2014/main" id="{BB284DC0-3C52-9B4B-5C4D-0B5A61C54723}"/>
              </a:ext>
            </a:extLst>
          </p:cNvPr>
          <p:cNvSpPr>
            <a:spLocks noGrp="1"/>
          </p:cNvSpPr>
          <p:nvPr>
            <p:ph type="sldNum" sz="quarter" idx="15"/>
          </p:nvPr>
        </p:nvSpPr>
        <p:spPr>
          <a:xfrm>
            <a:off x="9448800" y="6583303"/>
            <a:ext cx="2743200" cy="365126"/>
          </a:xfrm>
          <a:prstGeom prst="rect">
            <a:avLst/>
          </a:prstGeom>
          <a:ln>
            <a:noFill/>
          </a:ln>
        </p:spPr>
        <p:txBody>
          <a:bodyPr/>
          <a:lstStyle/>
          <a:p>
            <a:fld id="{CBD12358-51D2-46B3-9BDE-DF29528B9454}" type="slidenum">
              <a:rPr lang="en-US" smtClean="0"/>
              <a:pPr/>
              <a:t>‹#›</a:t>
            </a:fld>
            <a:endParaRPr lang="en-US" dirty="0"/>
          </a:p>
        </p:txBody>
      </p:sp>
      <p:sp>
        <p:nvSpPr>
          <p:cNvPr id="4" name="Text Placeholder 12">
            <a:extLst>
              <a:ext uri="{FF2B5EF4-FFF2-40B4-BE49-F238E27FC236}">
                <a16:creationId xmlns:a16="http://schemas.microsoft.com/office/drawing/2014/main" id="{3667F7F2-055E-8CF9-EF13-69FDA130F17B}"/>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Tree>
    <p:extLst>
      <p:ext uri="{BB962C8B-B14F-4D97-AF65-F5344CB8AC3E}">
        <p14:creationId xmlns:p14="http://schemas.microsoft.com/office/powerpoint/2010/main" val="2223061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3"/>
            <a:ext cx="12191999" cy="698499"/>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5. Conclusion</a:t>
            </a:r>
          </a:p>
        </p:txBody>
      </p:sp>
      <p:sp>
        <p:nvSpPr>
          <p:cNvPr id="3" name="Text Placeholder 12">
            <a:extLst>
              <a:ext uri="{FF2B5EF4-FFF2-40B4-BE49-F238E27FC236}">
                <a16:creationId xmlns:a16="http://schemas.microsoft.com/office/drawing/2014/main" id="{F7C724B5-12D4-2430-80BC-FB49D9C0483E}"/>
              </a:ext>
            </a:extLst>
          </p:cNvPr>
          <p:cNvSpPr>
            <a:spLocks noGrp="1"/>
          </p:cNvSpPr>
          <p:nvPr>
            <p:ph type="body" sz="quarter" idx="13" hasCustomPrompt="1"/>
          </p:nvPr>
        </p:nvSpPr>
        <p:spPr>
          <a:xfrm>
            <a:off x="114444" y="1009652"/>
            <a:ext cx="11963109" cy="2692211"/>
          </a:xfrm>
        </p:spPr>
        <p:txBody>
          <a:bodyPr>
            <a:normAutofit/>
          </a:bodyPr>
          <a:lstStyle>
            <a:lvl1pPr>
              <a:defRPr sz="2400">
                <a:latin typeface="+mj-lt"/>
              </a:defRPr>
            </a:lvl1pPr>
          </a:lstStyle>
          <a:p>
            <a:pPr lvl="0"/>
            <a:r>
              <a:rPr lang="en-US" dirty="0"/>
              <a:t>…</a:t>
            </a:r>
          </a:p>
        </p:txBody>
      </p:sp>
      <p:sp>
        <p:nvSpPr>
          <p:cNvPr id="4" name="Text Placeholder 23">
            <a:extLst>
              <a:ext uri="{FF2B5EF4-FFF2-40B4-BE49-F238E27FC236}">
                <a16:creationId xmlns:a16="http://schemas.microsoft.com/office/drawing/2014/main" id="{0B3524CB-3BD0-3E86-0742-9BC44FDBC52F}"/>
              </a:ext>
            </a:extLst>
          </p:cNvPr>
          <p:cNvSpPr>
            <a:spLocks noGrp="1"/>
          </p:cNvSpPr>
          <p:nvPr>
            <p:ph type="body" sz="quarter" idx="11" hasCustomPrompt="1"/>
          </p:nvPr>
        </p:nvSpPr>
        <p:spPr>
          <a:xfrm>
            <a:off x="114444" y="38036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2-2 Y</a:t>
            </a:r>
          </a:p>
        </p:txBody>
      </p:sp>
      <p:sp>
        <p:nvSpPr>
          <p:cNvPr id="5" name="Text Placeholder 12">
            <a:extLst>
              <a:ext uri="{FF2B5EF4-FFF2-40B4-BE49-F238E27FC236}">
                <a16:creationId xmlns:a16="http://schemas.microsoft.com/office/drawing/2014/main" id="{A728FE12-38F6-0121-245C-C79E35A4AA74}"/>
              </a:ext>
            </a:extLst>
          </p:cNvPr>
          <p:cNvSpPr>
            <a:spLocks noGrp="1"/>
          </p:cNvSpPr>
          <p:nvPr>
            <p:ph type="body" sz="quarter" idx="14" hasCustomPrompt="1"/>
          </p:nvPr>
        </p:nvSpPr>
        <p:spPr>
          <a:xfrm>
            <a:off x="114443" y="4603941"/>
            <a:ext cx="11963109" cy="1900587"/>
          </a:xfrm>
        </p:spPr>
        <p:txBody>
          <a:bodyPr>
            <a:normAutofit/>
          </a:bodyPr>
          <a:lstStyle>
            <a:lvl1pPr>
              <a:defRPr sz="2400">
                <a:latin typeface="+mj-lt"/>
              </a:defRPr>
            </a:lvl1pPr>
          </a:lstStyle>
          <a:p>
            <a:pPr lvl="0"/>
            <a:r>
              <a:rPr lang="en-US" dirty="0"/>
              <a:t>…</a:t>
            </a:r>
          </a:p>
        </p:txBody>
      </p:sp>
      <p:sp>
        <p:nvSpPr>
          <p:cNvPr id="6" name="TextBox 5">
            <a:extLst>
              <a:ext uri="{FF2B5EF4-FFF2-40B4-BE49-F238E27FC236}">
                <a16:creationId xmlns:a16="http://schemas.microsoft.com/office/drawing/2014/main" id="{B9230006-A474-BC87-E7D1-CB6096AE5A4E}"/>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10" name="TextBox 9">
            <a:extLst>
              <a:ext uri="{FF2B5EF4-FFF2-40B4-BE49-F238E27FC236}">
                <a16:creationId xmlns:a16="http://schemas.microsoft.com/office/drawing/2014/main" id="{5AAFC440-379D-273D-58BF-A6DB8F769F4E}"/>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9" name="Slide Number Placeholder 34">
            <a:extLst>
              <a:ext uri="{FF2B5EF4-FFF2-40B4-BE49-F238E27FC236}">
                <a16:creationId xmlns:a16="http://schemas.microsoft.com/office/drawing/2014/main" id="{FB75DDC4-180E-CBC8-168B-66397F92FCFD}"/>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27776325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67A474-226E-851B-1FEF-1A14BFA4B35F}"/>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4" name="Slide Number Placeholder 34">
            <a:extLst>
              <a:ext uri="{FF2B5EF4-FFF2-40B4-BE49-F238E27FC236}">
                <a16:creationId xmlns:a16="http://schemas.microsoft.com/office/drawing/2014/main" id="{34941DFA-39D5-521D-28FF-340E06F77433}"/>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5" name="TextBox 4">
            <a:extLst>
              <a:ext uri="{FF2B5EF4-FFF2-40B4-BE49-F238E27FC236}">
                <a16:creationId xmlns:a16="http://schemas.microsoft.com/office/drawing/2014/main" id="{63B03092-0BA9-4D35-FF2A-7040950986D9}"/>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1130069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9448800" y="6538914"/>
            <a:ext cx="2743200" cy="365125"/>
          </a:xfrm>
          <a:prstGeom prst="rect">
            <a:avLst/>
          </a:prstGeom>
        </p:spPr>
        <p:txBody>
          <a:bodyPr vert="horz" lIns="91440" tIns="45720" rIns="91440" bIns="45720" rtlCol="0" anchor="ctr"/>
          <a:lstStyle>
            <a:lvl1pPr algn="r">
              <a:defRPr sz="1050">
                <a:solidFill>
                  <a:schemeClr val="bg1"/>
                </a:solidFill>
                <a:effectLst>
                  <a:outerShdw blurRad="38100" dist="38100" dir="2700000" algn="tl">
                    <a:srgbClr val="000000">
                      <a:alpha val="43137"/>
                    </a:srgbClr>
                  </a:outerShdw>
                </a:effectLst>
                <a:latin typeface="+mj-lt"/>
              </a:defRPr>
            </a:lvl1p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68" r:id="rId1"/>
    <p:sldLayoutId id="2147483683"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4" r:id="rId13"/>
    <p:sldLayoutId id="2147483681" r:id="rId14"/>
    <p:sldLayoutId id="2147483682"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info.nikkeibp.co.jp/media/NSW/atcl/books/110900064/"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en.wiktionary.org/wiki/widget"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Word_Document.docx"/><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E11C6-1780-5C54-EBF3-20031507744D}"/>
              </a:ext>
            </a:extLst>
          </p:cNvPr>
          <p:cNvSpPr>
            <a:spLocks noGrp="1"/>
          </p:cNvSpPr>
          <p:nvPr>
            <p:ph type="title"/>
          </p:nvPr>
        </p:nvSpPr>
        <p:spPr/>
        <p:txBody>
          <a:bodyPr>
            <a:normAutofit/>
          </a:bodyPr>
          <a:lstStyle/>
          <a:p>
            <a:pPr>
              <a:lnSpc>
                <a:spcPct val="100000"/>
              </a:lnSpc>
              <a:spcBef>
                <a:spcPts val="600"/>
              </a:spcBef>
              <a:spcAft>
                <a:spcPts val="1800"/>
              </a:spcAft>
            </a:pPr>
            <a:r>
              <a:rPr lang="en-US" sz="3600" dirty="0"/>
              <a:t>Python</a:t>
            </a:r>
            <a:r>
              <a:rPr lang="ja-JP" altLang="en-US" sz="3600" dirty="0"/>
              <a:t>でデスクトップアプリを作ろう</a:t>
            </a:r>
            <a:br>
              <a:rPr lang="en-US" altLang="ja-JP" sz="3600" dirty="0"/>
            </a:br>
            <a:r>
              <a:rPr lang="en-US" altLang="ja-JP" sz="2400" dirty="0"/>
              <a:t>10</a:t>
            </a:r>
            <a:r>
              <a:rPr lang="ja-JP" altLang="en-US" sz="2400" dirty="0"/>
              <a:t>月</a:t>
            </a:r>
            <a:r>
              <a:rPr lang="en-US" altLang="ja-JP" sz="2400" dirty="0"/>
              <a:t>7</a:t>
            </a:r>
            <a:r>
              <a:rPr lang="ja-JP" altLang="en-US" sz="2400" dirty="0"/>
              <a:t>日・</a:t>
            </a:r>
            <a:r>
              <a:rPr lang="en-US" altLang="ja-JP" sz="2400" dirty="0"/>
              <a:t>9</a:t>
            </a:r>
            <a:r>
              <a:rPr lang="ja-JP" altLang="en-US" sz="2400" dirty="0"/>
              <a:t>日</a:t>
            </a:r>
            <a:br>
              <a:rPr lang="en-US" altLang="ja-JP" sz="3600" dirty="0"/>
            </a:br>
            <a:r>
              <a:rPr lang="en-US" altLang="ja-JP" sz="1400" dirty="0"/>
              <a:t> </a:t>
            </a:r>
            <a:br>
              <a:rPr lang="en-US" altLang="ja-JP" sz="3600" dirty="0"/>
            </a:br>
            <a:r>
              <a:rPr lang="en-US" altLang="ja-JP" sz="1600" dirty="0">
                <a:solidFill>
                  <a:schemeClr val="bg1">
                    <a:lumMod val="75000"/>
                  </a:schemeClr>
                </a:solidFill>
                <a:latin typeface="+mn-ea"/>
                <a:ea typeface="+mn-ea"/>
                <a:hlinkClick r:id="rId2">
                  <a:extLst>
                    <a:ext uri="{A12FA001-AC4F-418D-AE19-62706E023703}">
                      <ahyp:hlinkClr xmlns:ahyp="http://schemas.microsoft.com/office/drawing/2018/hyperlinkcolor" val="tx"/>
                    </a:ext>
                  </a:extLst>
                </a:hlinkClick>
              </a:rPr>
              <a:t>https://info.nikkeibp.co.jp/media/NSW/atcl/books/110900064/</a:t>
            </a:r>
            <a:endParaRPr lang="en-US" dirty="0">
              <a:solidFill>
                <a:schemeClr val="bg1">
                  <a:lumMod val="75000"/>
                </a:schemeClr>
              </a:solidFill>
            </a:endParaRPr>
          </a:p>
        </p:txBody>
      </p:sp>
      <p:sp>
        <p:nvSpPr>
          <p:cNvPr id="3" name="Text Placeholder 2">
            <a:extLst>
              <a:ext uri="{FF2B5EF4-FFF2-40B4-BE49-F238E27FC236}">
                <a16:creationId xmlns:a16="http://schemas.microsoft.com/office/drawing/2014/main" id="{ECAA706C-1117-C255-9812-8A56BB727089}"/>
              </a:ext>
            </a:extLst>
          </p:cNvPr>
          <p:cNvSpPr>
            <a:spLocks noGrp="1"/>
          </p:cNvSpPr>
          <p:nvPr>
            <p:ph type="body" sz="quarter" idx="11"/>
          </p:nvPr>
        </p:nvSpPr>
        <p:spPr/>
        <p:txBody>
          <a:bodyPr anchor="ctr">
            <a:normAutofit/>
          </a:bodyPr>
          <a:lstStyle/>
          <a:p>
            <a:pPr algn="just">
              <a:buNone/>
            </a:pPr>
            <a:r>
              <a:rPr lang="ja-JP" altLang="en-US" dirty="0"/>
              <a:t>この講義では、</a:t>
            </a:r>
            <a:r>
              <a:rPr lang="en-US" altLang="ja-JP" dirty="0"/>
              <a:t>GUI</a:t>
            </a:r>
            <a:r>
              <a:rPr lang="ja-JP" altLang="en-US" dirty="0"/>
              <a:t>（</a:t>
            </a:r>
            <a:r>
              <a:rPr lang="en-US" altLang="ja-JP" dirty="0"/>
              <a:t>Graphical User Interface</a:t>
            </a:r>
            <a:r>
              <a:rPr lang="ja-JP" altLang="en-US" dirty="0"/>
              <a:t>）の基礎を学び、</a:t>
            </a:r>
            <a:r>
              <a:rPr lang="en-US" altLang="ja-JP" dirty="0"/>
              <a:t>Python</a:t>
            </a:r>
            <a:r>
              <a:rPr lang="ja-JP" altLang="en-US" dirty="0"/>
              <a:t>と</a:t>
            </a:r>
            <a:r>
              <a:rPr lang="en-US" altLang="ja-JP" dirty="0" err="1"/>
              <a:t>Tkinter</a:t>
            </a:r>
            <a:r>
              <a:rPr lang="ja-JP" altLang="en-US" dirty="0"/>
              <a:t>という</a:t>
            </a:r>
            <a:r>
              <a:rPr lang="en-US" altLang="ja-JP" dirty="0"/>
              <a:t>GUI</a:t>
            </a:r>
            <a:r>
              <a:rPr lang="ja-JP" altLang="en-US" dirty="0"/>
              <a:t>ライブラリを用いて、自作のアプリを開発する。</a:t>
            </a:r>
            <a:endParaRPr lang="en-US" altLang="ja-JP" dirty="0"/>
          </a:p>
          <a:p>
            <a:pPr marL="457200" indent="-457200" algn="just">
              <a:buFont typeface="Arial" panose="020B0604020202020204" pitchFamily="34" charset="0"/>
              <a:buChar char="•"/>
            </a:pPr>
            <a:r>
              <a:rPr lang="en-US" altLang="ja-JP" dirty="0"/>
              <a:t>10</a:t>
            </a:r>
            <a:r>
              <a:rPr lang="ja-JP" altLang="en-US" dirty="0"/>
              <a:t>月</a:t>
            </a:r>
            <a:r>
              <a:rPr lang="en-US" altLang="ja-JP" dirty="0"/>
              <a:t>7</a:t>
            </a:r>
            <a:r>
              <a:rPr lang="ja-JP" altLang="en-US" dirty="0"/>
              <a:t>日：</a:t>
            </a:r>
            <a:r>
              <a:rPr lang="ja-JP" altLang="en-US" dirty="0">
                <a:solidFill>
                  <a:srgbClr val="D67D61"/>
                </a:solidFill>
              </a:rPr>
              <a:t>基礎学習</a:t>
            </a:r>
            <a:r>
              <a:rPr lang="ja-JP" altLang="en-US" dirty="0"/>
              <a:t>、</a:t>
            </a:r>
            <a:r>
              <a:rPr lang="ja-JP" altLang="en-US" dirty="0">
                <a:solidFill>
                  <a:srgbClr val="D67D61"/>
                </a:solidFill>
              </a:rPr>
              <a:t>課題設定</a:t>
            </a:r>
            <a:r>
              <a:rPr lang="ja-JP" altLang="en-US" dirty="0"/>
              <a:t>、</a:t>
            </a:r>
            <a:r>
              <a:rPr lang="en-US" altLang="ja-JP" dirty="0"/>
              <a:t>GUI</a:t>
            </a:r>
            <a:r>
              <a:rPr lang="ja-JP" altLang="en-US" dirty="0"/>
              <a:t>アプリの開発</a:t>
            </a:r>
            <a:endParaRPr lang="en-US" altLang="ja-JP" dirty="0"/>
          </a:p>
          <a:p>
            <a:pPr marL="457200" indent="-457200" algn="just">
              <a:buFont typeface="Arial" panose="020B0604020202020204" pitchFamily="34" charset="0"/>
              <a:buChar char="•"/>
            </a:pPr>
            <a:r>
              <a:rPr lang="en-US" altLang="ja-JP" dirty="0"/>
              <a:t>10</a:t>
            </a:r>
            <a:r>
              <a:rPr lang="ja-JP" altLang="en-US" dirty="0"/>
              <a:t>月</a:t>
            </a:r>
            <a:r>
              <a:rPr lang="en-US" altLang="ja-JP" dirty="0"/>
              <a:t>9</a:t>
            </a:r>
            <a:r>
              <a:rPr lang="ja-JP" altLang="en-US" dirty="0"/>
              <a:t>日：開発の続き、レポート作成、</a:t>
            </a:r>
            <a:r>
              <a:rPr lang="ja-JP" altLang="en-US" dirty="0">
                <a:solidFill>
                  <a:srgbClr val="D67D61"/>
                </a:solidFill>
              </a:rPr>
              <a:t>成果発表</a:t>
            </a:r>
            <a:endParaRPr lang="en-US" altLang="ja-JP" dirty="0">
              <a:solidFill>
                <a:srgbClr val="D67D61"/>
              </a:solidFill>
            </a:endParaRPr>
          </a:p>
        </p:txBody>
      </p:sp>
      <p:sp>
        <p:nvSpPr>
          <p:cNvPr id="4" name="Text Placeholder 3">
            <a:extLst>
              <a:ext uri="{FF2B5EF4-FFF2-40B4-BE49-F238E27FC236}">
                <a16:creationId xmlns:a16="http://schemas.microsoft.com/office/drawing/2014/main" id="{A275CE8D-2E8E-0572-9A07-94B4FB6764E8}"/>
              </a:ext>
            </a:extLst>
          </p:cNvPr>
          <p:cNvSpPr>
            <a:spLocks noGrp="1"/>
          </p:cNvSpPr>
          <p:nvPr>
            <p:ph type="body" sz="quarter" idx="13"/>
          </p:nvPr>
        </p:nvSpPr>
        <p:spPr/>
        <p:txBody>
          <a:bodyPr>
            <a:normAutofit/>
          </a:bodyPr>
          <a:lstStyle/>
          <a:p>
            <a:pPr>
              <a:lnSpc>
                <a:spcPct val="100000"/>
              </a:lnSpc>
              <a:spcAft>
                <a:spcPts val="600"/>
              </a:spcAft>
            </a:pPr>
            <a:r>
              <a:rPr lang="en-US" altLang="ja-JP" sz="4000" u="sng" dirty="0"/>
              <a:t>GUI</a:t>
            </a:r>
            <a:r>
              <a:rPr lang="ja-JP" altLang="en-US" sz="4000" u="sng" dirty="0"/>
              <a:t>の基礎と課題</a:t>
            </a:r>
            <a:endParaRPr lang="en-US" altLang="ja-JP" sz="4000" u="sng" dirty="0"/>
          </a:p>
        </p:txBody>
      </p:sp>
      <p:sp>
        <p:nvSpPr>
          <p:cNvPr id="5" name="TextBox 4">
            <a:extLst>
              <a:ext uri="{FF2B5EF4-FFF2-40B4-BE49-F238E27FC236}">
                <a16:creationId xmlns:a16="http://schemas.microsoft.com/office/drawing/2014/main" id="{3DB0EBD9-A560-DC59-83A3-CAD97E74EB76}"/>
              </a:ext>
            </a:extLst>
          </p:cNvPr>
          <p:cNvSpPr txBox="1"/>
          <p:nvPr/>
        </p:nvSpPr>
        <p:spPr>
          <a:xfrm>
            <a:off x="353055" y="347274"/>
            <a:ext cx="11542772" cy="307777"/>
          </a:xfrm>
          <a:prstGeom prst="rect">
            <a:avLst/>
          </a:prstGeom>
          <a:noFill/>
        </p:spPr>
        <p:txBody>
          <a:bodyPr wrap="square" rtlCol="0">
            <a:spAutoFit/>
          </a:bodyPr>
          <a:lstStyle/>
          <a:p>
            <a:r>
              <a:rPr lang="ja-JP" altLang="en-US" sz="1400" dirty="0"/>
              <a:t>見学欠席者向けの補講</a:t>
            </a:r>
            <a:endParaRPr lang="en-US" sz="1400" dirty="0"/>
          </a:p>
        </p:txBody>
      </p:sp>
    </p:spTree>
    <p:extLst>
      <p:ext uri="{BB962C8B-B14F-4D97-AF65-F5344CB8AC3E}">
        <p14:creationId xmlns:p14="http://schemas.microsoft.com/office/powerpoint/2010/main" val="227514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18D471-2502-6123-10BF-EE29690FCC50}"/>
              </a:ext>
            </a:extLst>
          </p:cNvPr>
          <p:cNvSpPr txBox="1"/>
          <p:nvPr/>
        </p:nvSpPr>
        <p:spPr>
          <a:xfrm>
            <a:off x="276330" y="2367171"/>
            <a:ext cx="11639339" cy="2123658"/>
          </a:xfrm>
          <a:prstGeom prst="rect">
            <a:avLst/>
          </a:prstGeom>
          <a:noFill/>
        </p:spPr>
        <p:txBody>
          <a:bodyPr wrap="square" rtlCol="0">
            <a:spAutoFit/>
          </a:bodyPr>
          <a:lstStyle/>
          <a:p>
            <a:pPr algn="ctr"/>
            <a:r>
              <a:rPr lang="en-US" altLang="ja-JP" sz="6600" dirty="0">
                <a:solidFill>
                  <a:schemeClr val="bg1"/>
                </a:solidFill>
                <a:latin typeface="+mj-lt"/>
              </a:rPr>
              <a:t>GUI</a:t>
            </a:r>
            <a:r>
              <a:rPr lang="ja-JP" altLang="en-US" sz="6600" dirty="0">
                <a:solidFill>
                  <a:schemeClr val="bg1"/>
                </a:solidFill>
                <a:latin typeface="+mj-lt"/>
              </a:rPr>
              <a:t>とは何か？</a:t>
            </a:r>
            <a:endParaRPr lang="en-US" altLang="ja-JP" sz="6600" dirty="0">
              <a:solidFill>
                <a:schemeClr val="bg1"/>
              </a:solidFill>
              <a:latin typeface="+mj-lt"/>
            </a:endParaRPr>
          </a:p>
          <a:p>
            <a:pPr algn="ctr"/>
            <a:r>
              <a:rPr lang="ja-JP" altLang="en-US" sz="6600" dirty="0">
                <a:solidFill>
                  <a:schemeClr val="bg1"/>
                </a:solidFill>
                <a:latin typeface="+mj-lt"/>
              </a:rPr>
              <a:t>具体例は？</a:t>
            </a:r>
            <a:endParaRPr lang="en-US" sz="6600" dirty="0">
              <a:solidFill>
                <a:schemeClr val="bg1"/>
              </a:solidFill>
              <a:latin typeface="+mj-lt"/>
            </a:endParaRPr>
          </a:p>
        </p:txBody>
      </p:sp>
    </p:spTree>
    <p:extLst>
      <p:ext uri="{BB962C8B-B14F-4D97-AF65-F5344CB8AC3E}">
        <p14:creationId xmlns:p14="http://schemas.microsoft.com/office/powerpoint/2010/main" val="1943736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DE0BC-86A3-8CD9-6592-4DA99C8E739A}"/>
              </a:ext>
            </a:extLst>
          </p:cNvPr>
          <p:cNvSpPr>
            <a:spLocks noGrp="1"/>
          </p:cNvSpPr>
          <p:nvPr>
            <p:ph type="title"/>
          </p:nvPr>
        </p:nvSpPr>
        <p:spPr/>
        <p:txBody>
          <a:bodyPr/>
          <a:lstStyle/>
          <a:p>
            <a:r>
              <a:rPr lang="en-US" dirty="0"/>
              <a:t>1 </a:t>
            </a:r>
            <a:r>
              <a:rPr lang="ja-JP" altLang="en-US" dirty="0"/>
              <a:t>はじめに</a:t>
            </a:r>
            <a:endParaRPr lang="en-US" dirty="0"/>
          </a:p>
        </p:txBody>
      </p:sp>
      <p:sp>
        <p:nvSpPr>
          <p:cNvPr id="3" name="Text Placeholder 2">
            <a:extLst>
              <a:ext uri="{FF2B5EF4-FFF2-40B4-BE49-F238E27FC236}">
                <a16:creationId xmlns:a16="http://schemas.microsoft.com/office/drawing/2014/main" id="{AC3808C8-23F8-4FB2-3854-9F8267A014F9}"/>
              </a:ext>
            </a:extLst>
          </p:cNvPr>
          <p:cNvSpPr>
            <a:spLocks noGrp="1"/>
          </p:cNvSpPr>
          <p:nvPr>
            <p:ph type="body" sz="quarter" idx="11"/>
          </p:nvPr>
        </p:nvSpPr>
        <p:spPr/>
        <p:txBody>
          <a:bodyPr/>
          <a:lstStyle/>
          <a:p>
            <a:r>
              <a:rPr lang="en-US" dirty="0"/>
              <a:t>1-1</a:t>
            </a:r>
            <a:r>
              <a:rPr lang="ja-JP" altLang="en-US" dirty="0"/>
              <a:t>　</a:t>
            </a:r>
            <a:r>
              <a:rPr lang="en-US" altLang="ja-JP" dirty="0"/>
              <a:t>GUI</a:t>
            </a:r>
            <a:r>
              <a:rPr lang="ja-JP" altLang="en-US" dirty="0"/>
              <a:t>とは</a:t>
            </a:r>
            <a:endParaRPr lang="en-US" dirty="0"/>
          </a:p>
        </p:txBody>
      </p:sp>
      <p:sp>
        <p:nvSpPr>
          <p:cNvPr id="4" name="Text Placeholder 3">
            <a:extLst>
              <a:ext uri="{FF2B5EF4-FFF2-40B4-BE49-F238E27FC236}">
                <a16:creationId xmlns:a16="http://schemas.microsoft.com/office/drawing/2014/main" id="{7C6AA1F4-DF79-1815-BDD6-533019201141}"/>
              </a:ext>
            </a:extLst>
          </p:cNvPr>
          <p:cNvSpPr>
            <a:spLocks noGrp="1"/>
          </p:cNvSpPr>
          <p:nvPr>
            <p:ph type="body" sz="quarter" idx="13"/>
          </p:nvPr>
        </p:nvSpPr>
        <p:spPr>
          <a:xfrm>
            <a:off x="114445" y="1731981"/>
            <a:ext cx="5103014" cy="4765638"/>
          </a:xfrm>
        </p:spPr>
        <p:txBody>
          <a:bodyPr>
            <a:normAutofit/>
          </a:bodyPr>
          <a:lstStyle/>
          <a:p>
            <a:pPr algn="just"/>
            <a:r>
              <a:rPr lang="en-US" altLang="ja-JP" dirty="0"/>
              <a:t>GUI</a:t>
            </a:r>
            <a:r>
              <a:rPr lang="ja-JP" altLang="en-US" dirty="0"/>
              <a:t>（</a:t>
            </a:r>
            <a:r>
              <a:rPr lang="en-US" altLang="ja-JP" dirty="0"/>
              <a:t>Graphical User Interface</a:t>
            </a:r>
            <a:r>
              <a:rPr lang="ja-JP" altLang="en-US" dirty="0"/>
              <a:t>）</a:t>
            </a:r>
            <a:endParaRPr lang="en-US" altLang="ja-JP" dirty="0"/>
          </a:p>
          <a:p>
            <a:pPr indent="0" algn="just">
              <a:buNone/>
            </a:pPr>
            <a:r>
              <a:rPr lang="en-US" altLang="ja-JP" dirty="0"/>
              <a:t>GUI</a:t>
            </a:r>
            <a:r>
              <a:rPr lang="ja-JP" altLang="en-US" dirty="0"/>
              <a:t>とは、画面上の</a:t>
            </a:r>
            <a:r>
              <a:rPr lang="ja-JP" altLang="en-US" dirty="0">
                <a:solidFill>
                  <a:srgbClr val="D67D61"/>
                </a:solidFill>
              </a:rPr>
              <a:t>ボタン</a:t>
            </a:r>
            <a:r>
              <a:rPr lang="ja-JP" altLang="en-US" dirty="0"/>
              <a:t>、</a:t>
            </a:r>
            <a:r>
              <a:rPr lang="ja-JP" altLang="en-US" dirty="0">
                <a:solidFill>
                  <a:srgbClr val="D67D61"/>
                </a:solidFill>
              </a:rPr>
              <a:t>アイコン</a:t>
            </a:r>
            <a:r>
              <a:rPr lang="ja-JP" altLang="en-US" dirty="0"/>
              <a:t>、</a:t>
            </a:r>
            <a:r>
              <a:rPr lang="ja-JP" altLang="en-US" dirty="0">
                <a:solidFill>
                  <a:srgbClr val="D67D61"/>
                </a:solidFill>
              </a:rPr>
              <a:t>メニュー</a:t>
            </a:r>
            <a:r>
              <a:rPr lang="ja-JP" altLang="en-US" dirty="0"/>
              <a:t>などを使って、コンピュータを操作する方式である。マウスやタッチ操作を使うことが多く、初心者でも</a:t>
            </a:r>
            <a:r>
              <a:rPr lang="ja-JP" altLang="en-US" dirty="0">
                <a:solidFill>
                  <a:srgbClr val="D67D61"/>
                </a:solidFill>
              </a:rPr>
              <a:t>直感的に</a:t>
            </a:r>
            <a:r>
              <a:rPr lang="ja-JP" altLang="en-US" dirty="0"/>
              <a:t>使いやすい。</a:t>
            </a:r>
            <a:endParaRPr lang="en-US" altLang="ja-JP" dirty="0"/>
          </a:p>
          <a:p>
            <a:pPr algn="just"/>
            <a:r>
              <a:rPr lang="en-US" altLang="ja-JP" dirty="0"/>
              <a:t>CUI</a:t>
            </a:r>
            <a:r>
              <a:rPr lang="ja-JP" altLang="en-US" dirty="0"/>
              <a:t>（</a:t>
            </a:r>
            <a:r>
              <a:rPr lang="en-US" altLang="ja-JP" dirty="0"/>
              <a:t>Character User Interface</a:t>
            </a:r>
            <a:r>
              <a:rPr lang="ja-JP" altLang="en-US" dirty="0"/>
              <a:t>）</a:t>
            </a:r>
            <a:endParaRPr lang="en-US" altLang="ja-JP" dirty="0"/>
          </a:p>
          <a:p>
            <a:pPr indent="0" algn="just">
              <a:buNone/>
            </a:pPr>
            <a:r>
              <a:rPr lang="en-US" altLang="ja-JP" dirty="0"/>
              <a:t>CUI</a:t>
            </a:r>
            <a:r>
              <a:rPr lang="ja-JP" altLang="en-US" dirty="0"/>
              <a:t>とは、文字やコマンドを入力して、コンピュータを操作する方式である。主にキーボードを使い、</a:t>
            </a:r>
            <a:r>
              <a:rPr lang="ja-JP" altLang="en-US" dirty="0">
                <a:solidFill>
                  <a:srgbClr val="D67D61"/>
                </a:solidFill>
              </a:rPr>
              <a:t>決められたコマンド</a:t>
            </a:r>
            <a:r>
              <a:rPr lang="ja-JP" altLang="en-US" dirty="0"/>
              <a:t>を入力して操作する。</a:t>
            </a:r>
            <a:endParaRPr lang="en-US" dirty="0"/>
          </a:p>
        </p:txBody>
      </p:sp>
      <p:pic>
        <p:nvPicPr>
          <p:cNvPr id="6" name="Picture 5">
            <a:extLst>
              <a:ext uri="{FF2B5EF4-FFF2-40B4-BE49-F238E27FC236}">
                <a16:creationId xmlns:a16="http://schemas.microsoft.com/office/drawing/2014/main" id="{6D9A7D08-5D8A-6568-EF53-A71D8D257C63}"/>
              </a:ext>
            </a:extLst>
          </p:cNvPr>
          <p:cNvPicPr>
            <a:picLocks noChangeAspect="1"/>
          </p:cNvPicPr>
          <p:nvPr/>
        </p:nvPicPr>
        <p:blipFill>
          <a:blip r:embed="rId2"/>
          <a:stretch>
            <a:fillRect/>
          </a:stretch>
        </p:blipFill>
        <p:spPr>
          <a:xfrm>
            <a:off x="5626250" y="1731981"/>
            <a:ext cx="6159687" cy="3457718"/>
          </a:xfrm>
          <a:prstGeom prst="rect">
            <a:avLst/>
          </a:prstGeom>
          <a:ln>
            <a:solidFill>
              <a:schemeClr val="accent1"/>
            </a:solidFill>
          </a:ln>
        </p:spPr>
      </p:pic>
      <p:pic>
        <p:nvPicPr>
          <p:cNvPr id="9" name="Picture 8">
            <a:extLst>
              <a:ext uri="{FF2B5EF4-FFF2-40B4-BE49-F238E27FC236}">
                <a16:creationId xmlns:a16="http://schemas.microsoft.com/office/drawing/2014/main" id="{DD147A2F-59B7-491A-0EA2-4932DD0E5DF1}"/>
              </a:ext>
            </a:extLst>
          </p:cNvPr>
          <p:cNvPicPr>
            <a:picLocks noChangeAspect="1"/>
          </p:cNvPicPr>
          <p:nvPr/>
        </p:nvPicPr>
        <p:blipFill>
          <a:blip r:embed="rId3"/>
          <a:stretch>
            <a:fillRect/>
          </a:stretch>
        </p:blipFill>
        <p:spPr>
          <a:xfrm>
            <a:off x="5985266" y="2870556"/>
            <a:ext cx="5441654" cy="3457718"/>
          </a:xfrm>
          <a:prstGeom prst="rect">
            <a:avLst/>
          </a:prstGeom>
          <a:ln>
            <a:solidFill>
              <a:schemeClr val="accent1"/>
            </a:solidFill>
          </a:ln>
        </p:spPr>
      </p:pic>
    </p:spTree>
    <p:extLst>
      <p:ext uri="{BB962C8B-B14F-4D97-AF65-F5344CB8AC3E}">
        <p14:creationId xmlns:p14="http://schemas.microsoft.com/office/powerpoint/2010/main" val="39800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992DA5E-A436-2269-5623-4F9F045F536D}"/>
              </a:ext>
            </a:extLst>
          </p:cNvPr>
          <p:cNvSpPr>
            <a:spLocks noGrp="1"/>
          </p:cNvSpPr>
          <p:nvPr>
            <p:ph type="body" sz="quarter" idx="11"/>
          </p:nvPr>
        </p:nvSpPr>
        <p:spPr/>
        <p:txBody>
          <a:bodyPr/>
          <a:lstStyle/>
          <a:p>
            <a:r>
              <a:rPr lang="en-US" dirty="0"/>
              <a:t>1-2</a:t>
            </a:r>
            <a:r>
              <a:rPr lang="ja-JP" altLang="en-US" dirty="0"/>
              <a:t>　プログラムの制御方式</a:t>
            </a:r>
            <a:endParaRPr lang="en-US" dirty="0"/>
          </a:p>
        </p:txBody>
      </p:sp>
      <p:sp>
        <p:nvSpPr>
          <p:cNvPr id="7" name="Text Placeholder 6">
            <a:extLst>
              <a:ext uri="{FF2B5EF4-FFF2-40B4-BE49-F238E27FC236}">
                <a16:creationId xmlns:a16="http://schemas.microsoft.com/office/drawing/2014/main" id="{DC36D201-BEE2-BBC0-F267-945D3B2785B0}"/>
              </a:ext>
            </a:extLst>
          </p:cNvPr>
          <p:cNvSpPr>
            <a:spLocks noGrp="1"/>
          </p:cNvSpPr>
          <p:nvPr>
            <p:ph type="body" sz="quarter" idx="13"/>
          </p:nvPr>
        </p:nvSpPr>
        <p:spPr>
          <a:xfrm>
            <a:off x="114444" y="1133475"/>
            <a:ext cx="11963109" cy="2265044"/>
          </a:xfrm>
        </p:spPr>
        <p:txBody>
          <a:bodyPr>
            <a:normAutofit/>
          </a:bodyPr>
          <a:lstStyle/>
          <a:p>
            <a:pPr algn="just"/>
            <a:r>
              <a:rPr lang="ja-JP" altLang="en-US" b="1" dirty="0"/>
              <a:t> </a:t>
            </a:r>
            <a:r>
              <a:rPr lang="ja-JP" altLang="en-US" dirty="0">
                <a:solidFill>
                  <a:srgbClr val="D67D61"/>
                </a:solidFill>
              </a:rPr>
              <a:t>イベント駆動型プログラミング</a:t>
            </a:r>
            <a:r>
              <a:rPr lang="ja-JP" altLang="en-US" dirty="0"/>
              <a:t>とは、ユーザーの操作をきっかけに処理を実行する方式である。</a:t>
            </a:r>
            <a:endParaRPr lang="en-US" altLang="ja-JP" dirty="0"/>
          </a:p>
          <a:p>
            <a:pPr algn="just"/>
            <a:r>
              <a:rPr lang="en-US" altLang="ja-JP" dirty="0"/>
              <a:t>GUI</a:t>
            </a:r>
            <a:r>
              <a:rPr lang="ja-JP" altLang="en-US" dirty="0"/>
              <a:t>では操作の</a:t>
            </a:r>
            <a:r>
              <a:rPr lang="ja-JP" altLang="en-US" dirty="0">
                <a:solidFill>
                  <a:srgbClr val="D67D61"/>
                </a:solidFill>
              </a:rPr>
              <a:t>順番が決まっていない</a:t>
            </a:r>
            <a:r>
              <a:rPr lang="ja-JP" altLang="en-US" dirty="0"/>
              <a:t>ため、クリックやキー入力などに応じて処理する仕組みが重要である。</a:t>
            </a:r>
            <a:endParaRPr lang="en-US" altLang="ja-JP" dirty="0"/>
          </a:p>
          <a:p>
            <a:pPr algn="just"/>
            <a:r>
              <a:rPr lang="ja-JP" altLang="en-US" dirty="0"/>
              <a:t> </a:t>
            </a:r>
            <a:r>
              <a:rPr lang="ja-JP" altLang="en-US" dirty="0">
                <a:solidFill>
                  <a:srgbClr val="D67D61"/>
                </a:solidFill>
              </a:rPr>
              <a:t>イベント </a:t>
            </a:r>
            <a:r>
              <a:rPr lang="ja-JP" altLang="en-US" dirty="0"/>
              <a:t>→ </a:t>
            </a:r>
            <a:r>
              <a:rPr lang="ja-JP" altLang="en-US" dirty="0">
                <a:solidFill>
                  <a:srgbClr val="D67D61"/>
                </a:solidFill>
              </a:rPr>
              <a:t>ハンドラ</a:t>
            </a:r>
            <a:r>
              <a:rPr lang="ja-JP" altLang="en-US" dirty="0"/>
              <a:t> → </a:t>
            </a:r>
            <a:r>
              <a:rPr lang="ja-JP" altLang="en-US" dirty="0">
                <a:solidFill>
                  <a:srgbClr val="D67D61"/>
                </a:solidFill>
              </a:rPr>
              <a:t>アクション</a:t>
            </a:r>
            <a:r>
              <a:rPr lang="ja-JP" altLang="en-US" dirty="0"/>
              <a:t> → 次のイベントを待つ。</a:t>
            </a:r>
            <a:endParaRPr lang="en-US" dirty="0"/>
          </a:p>
        </p:txBody>
      </p:sp>
      <p:sp>
        <p:nvSpPr>
          <p:cNvPr id="5" name="Slide Number Placeholder 4">
            <a:extLst>
              <a:ext uri="{FF2B5EF4-FFF2-40B4-BE49-F238E27FC236}">
                <a16:creationId xmlns:a16="http://schemas.microsoft.com/office/drawing/2014/main" id="{1E066E46-04AE-0BD8-D118-2570D7C040BC}"/>
              </a:ext>
            </a:extLst>
          </p:cNvPr>
          <p:cNvSpPr>
            <a:spLocks noGrp="1"/>
          </p:cNvSpPr>
          <p:nvPr>
            <p:ph type="sldNum" sz="quarter" idx="15"/>
          </p:nvPr>
        </p:nvSpPr>
        <p:spPr/>
        <p:txBody>
          <a:bodyPr/>
          <a:lstStyle/>
          <a:p>
            <a:fld id="{CBD12358-51D2-46B3-9BDE-DF29528B9454}" type="slidenum">
              <a:rPr lang="en-US" smtClean="0"/>
              <a:pPr/>
              <a:t>4</a:t>
            </a:fld>
            <a:endParaRPr lang="en-US" dirty="0"/>
          </a:p>
        </p:txBody>
      </p:sp>
      <p:grpSp>
        <p:nvGrpSpPr>
          <p:cNvPr id="43" name="Group 42">
            <a:extLst>
              <a:ext uri="{FF2B5EF4-FFF2-40B4-BE49-F238E27FC236}">
                <a16:creationId xmlns:a16="http://schemas.microsoft.com/office/drawing/2014/main" id="{98491C95-729B-27A6-04F3-0AF24146A344}"/>
              </a:ext>
            </a:extLst>
          </p:cNvPr>
          <p:cNvGrpSpPr/>
          <p:nvPr/>
        </p:nvGrpSpPr>
        <p:grpSpPr>
          <a:xfrm>
            <a:off x="1313558" y="3613407"/>
            <a:ext cx="9564879" cy="2537643"/>
            <a:chOff x="1392567" y="3548861"/>
            <a:chExt cx="9564879" cy="2537643"/>
          </a:xfrm>
        </p:grpSpPr>
        <p:sp>
          <p:nvSpPr>
            <p:cNvPr id="12" name="Rectangle: Rounded Corners 11">
              <a:extLst>
                <a:ext uri="{FF2B5EF4-FFF2-40B4-BE49-F238E27FC236}">
                  <a16:creationId xmlns:a16="http://schemas.microsoft.com/office/drawing/2014/main" id="{580FA1C9-0894-92CA-881D-98D88E83D47F}"/>
                </a:ext>
              </a:extLst>
            </p:cNvPr>
            <p:cNvSpPr/>
            <p:nvPr/>
          </p:nvSpPr>
          <p:spPr>
            <a:xfrm>
              <a:off x="1392567" y="3777457"/>
              <a:ext cx="2456121" cy="1496229"/>
            </a:xfrm>
            <a:prstGeom prst="roundRect">
              <a:avLst>
                <a:gd name="adj" fmla="val 9700"/>
              </a:avLst>
            </a:prstGeom>
            <a:solidFill>
              <a:schemeClr val="bg1"/>
            </a:solidFill>
            <a:ln>
              <a:solidFill>
                <a:srgbClr val="4A82A5"/>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altLang="ja-JP" dirty="0">
                  <a:solidFill>
                    <a:schemeClr val="tx1"/>
                  </a:solidFill>
                </a:rPr>
                <a:t>UI</a:t>
              </a:r>
              <a:r>
                <a:rPr lang="ja-JP" altLang="en-US" dirty="0">
                  <a:solidFill>
                    <a:schemeClr val="tx1"/>
                  </a:solidFill>
                </a:rPr>
                <a:t>での操作：</a:t>
              </a:r>
              <a:endParaRPr lang="en-US" altLang="ja-JP" dirty="0">
                <a:solidFill>
                  <a:schemeClr val="tx1"/>
                </a:solidFill>
              </a:endParaRPr>
            </a:p>
            <a:p>
              <a:pPr marL="285750" indent="-285750">
                <a:buFont typeface="Arial" panose="020B0604020202020204" pitchFamily="34" charset="0"/>
                <a:buChar char="•"/>
              </a:pPr>
              <a:r>
                <a:rPr lang="ja-JP" altLang="en-US" dirty="0">
                  <a:solidFill>
                    <a:schemeClr val="tx1"/>
                  </a:solidFill>
                </a:rPr>
                <a:t>タッチ画面の操作</a:t>
              </a:r>
              <a:endParaRPr lang="en-US" altLang="ja-JP" dirty="0">
                <a:solidFill>
                  <a:schemeClr val="tx1"/>
                </a:solidFill>
              </a:endParaRPr>
            </a:p>
            <a:p>
              <a:pPr marL="285750" indent="-285750">
                <a:buFont typeface="Arial" panose="020B0604020202020204" pitchFamily="34" charset="0"/>
                <a:buChar char="•"/>
              </a:pPr>
              <a:r>
                <a:rPr lang="ja-JP" altLang="en-US" dirty="0">
                  <a:solidFill>
                    <a:schemeClr val="tx1"/>
                  </a:solidFill>
                </a:rPr>
                <a:t>ボタンのクリック</a:t>
              </a:r>
            </a:p>
            <a:p>
              <a:pPr marL="285750" indent="-285750">
                <a:buFont typeface="Arial" panose="020B0604020202020204" pitchFamily="34" charset="0"/>
                <a:buChar char="•"/>
              </a:pPr>
              <a:r>
                <a:rPr lang="ja-JP" altLang="en-US" dirty="0">
                  <a:solidFill>
                    <a:schemeClr val="tx1"/>
                  </a:solidFill>
                </a:rPr>
                <a:t>キー入力</a:t>
              </a:r>
            </a:p>
          </p:txBody>
        </p:sp>
        <p:sp>
          <p:nvSpPr>
            <p:cNvPr id="10" name="Rectangle: Rounded Corners 9">
              <a:extLst>
                <a:ext uri="{FF2B5EF4-FFF2-40B4-BE49-F238E27FC236}">
                  <a16:creationId xmlns:a16="http://schemas.microsoft.com/office/drawing/2014/main" id="{85C8638A-6320-2F3F-7B3F-C52E7893B043}"/>
                </a:ext>
              </a:extLst>
            </p:cNvPr>
            <p:cNvSpPr/>
            <p:nvPr/>
          </p:nvSpPr>
          <p:spPr>
            <a:xfrm>
              <a:off x="1926851" y="3548861"/>
              <a:ext cx="1387551" cy="457198"/>
            </a:xfrm>
            <a:prstGeom prst="roundRect">
              <a:avLst/>
            </a:prstGeom>
            <a:solidFill>
              <a:srgbClr val="4A82A5"/>
            </a:solidFill>
            <a:ln>
              <a:solidFill>
                <a:srgbClr val="4A8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effectLst>
                    <a:outerShdw blurRad="38100" dist="38100" dir="2700000" algn="tl">
                      <a:srgbClr val="000000">
                        <a:alpha val="43137"/>
                      </a:srgbClr>
                    </a:outerShdw>
                  </a:effectLst>
                </a:rPr>
                <a:t>イベント</a:t>
              </a:r>
              <a:endParaRPr lang="en-US" b="1" dirty="0">
                <a:effectLst>
                  <a:outerShdw blurRad="38100" dist="38100" dir="2700000" algn="tl">
                    <a:srgbClr val="000000">
                      <a:alpha val="43137"/>
                    </a:srgbClr>
                  </a:outerShdw>
                </a:effectLst>
              </a:endParaRPr>
            </a:p>
          </p:txBody>
        </p:sp>
        <p:sp>
          <p:nvSpPr>
            <p:cNvPr id="19" name="Rectangle: Rounded Corners 18">
              <a:extLst>
                <a:ext uri="{FF2B5EF4-FFF2-40B4-BE49-F238E27FC236}">
                  <a16:creationId xmlns:a16="http://schemas.microsoft.com/office/drawing/2014/main" id="{151CBE00-96EA-E240-9CC8-6B6836B3DA38}"/>
                </a:ext>
              </a:extLst>
            </p:cNvPr>
            <p:cNvSpPr/>
            <p:nvPr/>
          </p:nvSpPr>
          <p:spPr>
            <a:xfrm>
              <a:off x="4993906" y="3777458"/>
              <a:ext cx="2244061" cy="1496229"/>
            </a:xfrm>
            <a:prstGeom prst="roundRect">
              <a:avLst>
                <a:gd name="adj" fmla="val 9700"/>
              </a:avLst>
            </a:prstGeom>
            <a:solidFill>
              <a:schemeClr val="bg1"/>
            </a:solidFill>
            <a:ln>
              <a:solidFill>
                <a:srgbClr val="76B29F"/>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ja-JP" altLang="en-US" dirty="0">
                  <a:solidFill>
                    <a:schemeClr val="tx1"/>
                  </a:solidFill>
                </a:rPr>
                <a:t>何をするのか？</a:t>
              </a:r>
              <a:endParaRPr lang="en-US" altLang="ja-JP" dirty="0">
                <a:solidFill>
                  <a:schemeClr val="tx1"/>
                </a:solidFill>
              </a:endParaRPr>
            </a:p>
            <a:p>
              <a:r>
                <a:rPr lang="ja-JP" altLang="en-US" dirty="0">
                  <a:solidFill>
                    <a:schemeClr val="tx1"/>
                  </a:solidFill>
                </a:rPr>
                <a:t>■   ファイルを開く</a:t>
              </a:r>
              <a:endParaRPr lang="en-US" altLang="ja-JP" dirty="0">
                <a:solidFill>
                  <a:schemeClr val="tx1"/>
                </a:solidFill>
              </a:endParaRPr>
            </a:p>
            <a:p>
              <a:r>
                <a:rPr lang="ja-JP" altLang="en-US" dirty="0">
                  <a:solidFill>
                    <a:schemeClr val="tx1"/>
                  </a:solidFill>
                </a:rPr>
                <a:t>□   ファイル保存</a:t>
              </a:r>
              <a:endParaRPr lang="en-US" altLang="ja-JP" dirty="0">
                <a:solidFill>
                  <a:schemeClr val="tx1"/>
                </a:solidFill>
              </a:endParaRPr>
            </a:p>
            <a:p>
              <a:r>
                <a:rPr lang="ja-JP" altLang="en-US" dirty="0">
                  <a:solidFill>
                    <a:schemeClr val="tx1"/>
                  </a:solidFill>
                </a:rPr>
                <a:t>□    処理</a:t>
              </a:r>
              <a:endParaRPr lang="en-US" altLang="ja-JP" dirty="0">
                <a:solidFill>
                  <a:schemeClr val="tx1"/>
                </a:solidFill>
              </a:endParaRPr>
            </a:p>
          </p:txBody>
        </p:sp>
        <p:sp>
          <p:nvSpPr>
            <p:cNvPr id="21" name="Rectangle: Rounded Corners 20">
              <a:extLst>
                <a:ext uri="{FF2B5EF4-FFF2-40B4-BE49-F238E27FC236}">
                  <a16:creationId xmlns:a16="http://schemas.microsoft.com/office/drawing/2014/main" id="{E3E5FE63-6DCD-06E0-BBAF-18E0F867669D}"/>
                </a:ext>
              </a:extLst>
            </p:cNvPr>
            <p:cNvSpPr/>
            <p:nvPr/>
          </p:nvSpPr>
          <p:spPr>
            <a:xfrm>
              <a:off x="5427623" y="3548862"/>
              <a:ext cx="1387551" cy="457198"/>
            </a:xfrm>
            <a:prstGeom prst="roundRect">
              <a:avLst/>
            </a:prstGeom>
            <a:solidFill>
              <a:srgbClr val="76B29F"/>
            </a:solidFill>
            <a:ln>
              <a:solidFill>
                <a:srgbClr val="76B2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effectLst>
                    <a:outerShdw blurRad="38100" dist="38100" dir="2700000" algn="tl">
                      <a:srgbClr val="000000">
                        <a:alpha val="43137"/>
                      </a:srgbClr>
                    </a:outerShdw>
                  </a:effectLst>
                </a:rPr>
                <a:t>ハンドラ</a:t>
              </a:r>
              <a:endParaRPr lang="en-US" b="1" dirty="0">
                <a:effectLst>
                  <a:outerShdw blurRad="38100" dist="38100" dir="2700000" algn="tl">
                    <a:srgbClr val="000000">
                      <a:alpha val="43137"/>
                    </a:srgbClr>
                  </a:outerShdw>
                </a:effectLst>
              </a:endParaRPr>
            </a:p>
          </p:txBody>
        </p:sp>
        <p:sp>
          <p:nvSpPr>
            <p:cNvPr id="26" name="Rectangle: Rounded Corners 25">
              <a:extLst>
                <a:ext uri="{FF2B5EF4-FFF2-40B4-BE49-F238E27FC236}">
                  <a16:creationId xmlns:a16="http://schemas.microsoft.com/office/drawing/2014/main" id="{AB7CC912-1D11-DF20-0C34-65AF4E1A21D8}"/>
                </a:ext>
              </a:extLst>
            </p:cNvPr>
            <p:cNvSpPr/>
            <p:nvPr/>
          </p:nvSpPr>
          <p:spPr>
            <a:xfrm>
              <a:off x="8383185" y="3777457"/>
              <a:ext cx="2574261" cy="1496229"/>
            </a:xfrm>
            <a:prstGeom prst="roundRect">
              <a:avLst>
                <a:gd name="adj" fmla="val 9700"/>
              </a:avLst>
            </a:prstGeom>
            <a:solidFill>
              <a:schemeClr val="bg1"/>
            </a:solidFill>
            <a:ln>
              <a:solidFill>
                <a:srgbClr val="BB5863"/>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ja-JP" altLang="en-US" dirty="0">
                  <a:solidFill>
                    <a:schemeClr val="tx1"/>
                  </a:solidFill>
                </a:rPr>
                <a:t>ファイルを開く場合：</a:t>
              </a:r>
              <a:endParaRPr lang="en-US" altLang="ja-JP" dirty="0">
                <a:solidFill>
                  <a:schemeClr val="tx1"/>
                </a:solidFill>
              </a:endParaRPr>
            </a:p>
            <a:p>
              <a:pPr marL="342900" indent="-342900">
                <a:buFont typeface="+mj-lt"/>
                <a:buAutoNum type="arabicPeriod"/>
              </a:pPr>
              <a:r>
                <a:rPr lang="ja-JP" altLang="en-US" dirty="0">
                  <a:solidFill>
                    <a:schemeClr val="tx1"/>
                  </a:solidFill>
                </a:rPr>
                <a:t>ファイルを指定</a:t>
              </a:r>
              <a:endParaRPr lang="en-US" altLang="ja-JP" dirty="0">
                <a:solidFill>
                  <a:schemeClr val="tx1"/>
                </a:solidFill>
              </a:endParaRPr>
            </a:p>
            <a:p>
              <a:pPr marL="342900" indent="-342900">
                <a:buFont typeface="+mj-lt"/>
                <a:buAutoNum type="arabicPeriod"/>
              </a:pPr>
              <a:r>
                <a:rPr lang="ja-JP" altLang="en-US" dirty="0">
                  <a:solidFill>
                    <a:schemeClr val="tx1"/>
                  </a:solidFill>
                </a:rPr>
                <a:t>中身を読込む</a:t>
              </a:r>
              <a:endParaRPr lang="en-US" altLang="ja-JP" dirty="0">
                <a:solidFill>
                  <a:schemeClr val="tx1"/>
                </a:solidFill>
              </a:endParaRPr>
            </a:p>
            <a:p>
              <a:pPr marL="342900" indent="-342900">
                <a:buFont typeface="+mj-lt"/>
                <a:buAutoNum type="arabicPeriod"/>
              </a:pPr>
              <a:r>
                <a:rPr lang="en-US" altLang="ja-JP" dirty="0">
                  <a:solidFill>
                    <a:schemeClr val="tx1"/>
                  </a:solidFill>
                </a:rPr>
                <a:t>UI</a:t>
              </a:r>
              <a:r>
                <a:rPr lang="ja-JP" altLang="en-US" dirty="0">
                  <a:solidFill>
                    <a:schemeClr val="tx1"/>
                  </a:solidFill>
                </a:rPr>
                <a:t>の更新</a:t>
              </a:r>
              <a:endParaRPr lang="en-US" altLang="ja-JP" dirty="0">
                <a:solidFill>
                  <a:schemeClr val="tx1"/>
                </a:solidFill>
              </a:endParaRPr>
            </a:p>
          </p:txBody>
        </p:sp>
        <p:sp>
          <p:nvSpPr>
            <p:cNvPr id="28" name="Rectangle: Rounded Corners 27">
              <a:extLst>
                <a:ext uri="{FF2B5EF4-FFF2-40B4-BE49-F238E27FC236}">
                  <a16:creationId xmlns:a16="http://schemas.microsoft.com/office/drawing/2014/main" id="{83DD5557-1074-3E84-C800-58FD86685D95}"/>
                </a:ext>
              </a:extLst>
            </p:cNvPr>
            <p:cNvSpPr/>
            <p:nvPr/>
          </p:nvSpPr>
          <p:spPr>
            <a:xfrm>
              <a:off x="8976541" y="3548862"/>
              <a:ext cx="1387551" cy="457198"/>
            </a:xfrm>
            <a:prstGeom prst="roundRect">
              <a:avLst/>
            </a:prstGeom>
            <a:solidFill>
              <a:srgbClr val="BB5863"/>
            </a:solidFill>
            <a:ln>
              <a:solidFill>
                <a:srgbClr val="BB58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effectLst>
                    <a:outerShdw blurRad="38100" dist="38100" dir="2700000" algn="tl">
                      <a:srgbClr val="000000">
                        <a:alpha val="43137"/>
                      </a:srgbClr>
                    </a:outerShdw>
                  </a:effectLst>
                </a:rPr>
                <a:t>アクション</a:t>
              </a:r>
              <a:endParaRPr lang="en-US" dirty="0">
                <a:effectLst>
                  <a:outerShdw blurRad="38100" dist="38100" dir="2700000" algn="tl">
                    <a:srgbClr val="000000">
                      <a:alpha val="43137"/>
                    </a:srgbClr>
                  </a:outerShdw>
                </a:effectLst>
              </a:endParaRPr>
            </a:p>
          </p:txBody>
        </p:sp>
        <p:sp>
          <p:nvSpPr>
            <p:cNvPr id="36" name="Arrow: Bent-Up 35">
              <a:extLst>
                <a:ext uri="{FF2B5EF4-FFF2-40B4-BE49-F238E27FC236}">
                  <a16:creationId xmlns:a16="http://schemas.microsoft.com/office/drawing/2014/main" id="{5E6CA734-D43F-3F3B-77BE-E2C9C199001C}"/>
                </a:ext>
              </a:extLst>
            </p:cNvPr>
            <p:cNvSpPr/>
            <p:nvPr/>
          </p:nvSpPr>
          <p:spPr>
            <a:xfrm flipH="1">
              <a:off x="2397413" y="5351411"/>
              <a:ext cx="3395356" cy="630289"/>
            </a:xfrm>
            <a:prstGeom prst="bentUpArrow">
              <a:avLst>
                <a:gd name="adj1" fmla="val 25000"/>
                <a:gd name="adj2" fmla="val 25000"/>
                <a:gd name="adj3" fmla="val 24496"/>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3A2A4889-96B6-219D-41B6-4A23BD33CEE7}"/>
                </a:ext>
              </a:extLst>
            </p:cNvPr>
            <p:cNvSpPr txBox="1"/>
            <p:nvPr/>
          </p:nvSpPr>
          <p:spPr>
            <a:xfrm>
              <a:off x="5765425" y="5717171"/>
              <a:ext cx="646331" cy="369332"/>
            </a:xfrm>
            <a:prstGeom prst="rect">
              <a:avLst/>
            </a:prstGeom>
            <a:noFill/>
          </p:spPr>
          <p:txBody>
            <a:bodyPr wrap="none" rtlCol="0">
              <a:spAutoFit/>
            </a:bodyPr>
            <a:lstStyle/>
            <a:p>
              <a:r>
                <a:rPr lang="ja-JP" altLang="en-US" dirty="0"/>
                <a:t>待つ</a:t>
              </a:r>
              <a:endParaRPr lang="en-US" dirty="0"/>
            </a:p>
          </p:txBody>
        </p:sp>
        <p:sp>
          <p:nvSpPr>
            <p:cNvPr id="39" name="Arrow: Bent-Up 38">
              <a:extLst>
                <a:ext uri="{FF2B5EF4-FFF2-40B4-BE49-F238E27FC236}">
                  <a16:creationId xmlns:a16="http://schemas.microsoft.com/office/drawing/2014/main" id="{C0BA069B-8508-682C-9287-397337B62841}"/>
                </a:ext>
              </a:extLst>
            </p:cNvPr>
            <p:cNvSpPr/>
            <p:nvPr/>
          </p:nvSpPr>
          <p:spPr>
            <a:xfrm rot="16200000" flipH="1">
              <a:off x="7713086" y="4005004"/>
              <a:ext cx="735091" cy="3427910"/>
            </a:xfrm>
            <a:prstGeom prst="bentUpArrow">
              <a:avLst>
                <a:gd name="adj1" fmla="val 21113"/>
                <a:gd name="adj2" fmla="val 25000"/>
                <a:gd name="adj3" fmla="val 25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0" name="Arrow: Right 39">
              <a:extLst>
                <a:ext uri="{FF2B5EF4-FFF2-40B4-BE49-F238E27FC236}">
                  <a16:creationId xmlns:a16="http://schemas.microsoft.com/office/drawing/2014/main" id="{8CA9683B-2ABC-1E28-2501-C1FC43072693}"/>
                </a:ext>
              </a:extLst>
            </p:cNvPr>
            <p:cNvSpPr/>
            <p:nvPr/>
          </p:nvSpPr>
          <p:spPr>
            <a:xfrm>
              <a:off x="3922717" y="4344581"/>
              <a:ext cx="978408" cy="361979"/>
            </a:xfrm>
            <a:prstGeom prst="rightArrow">
              <a:avLst>
                <a:gd name="adj1" fmla="val 39474"/>
                <a:gd name="adj2" fmla="val 50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2" name="Arrow: Right 41">
              <a:extLst>
                <a:ext uri="{FF2B5EF4-FFF2-40B4-BE49-F238E27FC236}">
                  <a16:creationId xmlns:a16="http://schemas.microsoft.com/office/drawing/2014/main" id="{27B6FBD6-139C-BB04-AB16-B03A9260E8E8}"/>
                </a:ext>
              </a:extLst>
            </p:cNvPr>
            <p:cNvSpPr/>
            <p:nvPr/>
          </p:nvSpPr>
          <p:spPr>
            <a:xfrm>
              <a:off x="7330748" y="4344581"/>
              <a:ext cx="978408" cy="361979"/>
            </a:xfrm>
            <a:prstGeom prst="rightArrow">
              <a:avLst>
                <a:gd name="adj1" fmla="val 39474"/>
                <a:gd name="adj2" fmla="val 50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8052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0A571D-5E7B-6C86-3546-74957F621826}"/>
              </a:ext>
            </a:extLst>
          </p:cNvPr>
          <p:cNvSpPr>
            <a:spLocks noGrp="1"/>
          </p:cNvSpPr>
          <p:nvPr>
            <p:ph type="body" sz="quarter" idx="11"/>
          </p:nvPr>
        </p:nvSpPr>
        <p:spPr/>
        <p:txBody>
          <a:bodyPr/>
          <a:lstStyle/>
          <a:p>
            <a:r>
              <a:rPr lang="en-US" dirty="0"/>
              <a:t>1-3</a:t>
            </a:r>
            <a:r>
              <a:rPr lang="ja-JP" altLang="en-US" dirty="0"/>
              <a:t>　</a:t>
            </a:r>
            <a:r>
              <a:rPr lang="en-US" dirty="0"/>
              <a:t>CUI</a:t>
            </a:r>
            <a:r>
              <a:rPr lang="ja-JP" altLang="en-US" dirty="0"/>
              <a:t>の違い</a:t>
            </a:r>
            <a:endParaRPr lang="en-US" dirty="0"/>
          </a:p>
        </p:txBody>
      </p:sp>
      <p:sp>
        <p:nvSpPr>
          <p:cNvPr id="3" name="Text Placeholder 2">
            <a:extLst>
              <a:ext uri="{FF2B5EF4-FFF2-40B4-BE49-F238E27FC236}">
                <a16:creationId xmlns:a16="http://schemas.microsoft.com/office/drawing/2014/main" id="{CF42B9E2-C264-CF72-4BAC-86E99E99A1A3}"/>
              </a:ext>
            </a:extLst>
          </p:cNvPr>
          <p:cNvSpPr>
            <a:spLocks noGrp="1"/>
          </p:cNvSpPr>
          <p:nvPr>
            <p:ph type="body" sz="quarter" idx="13"/>
          </p:nvPr>
        </p:nvSpPr>
        <p:spPr>
          <a:xfrm>
            <a:off x="114444" y="1133475"/>
            <a:ext cx="11963109" cy="2063675"/>
          </a:xfrm>
        </p:spPr>
        <p:txBody>
          <a:bodyPr/>
          <a:lstStyle/>
          <a:p>
            <a:pPr algn="just"/>
            <a:r>
              <a:rPr lang="ja-JP" altLang="en-US" dirty="0"/>
              <a:t>今まで作成してきたプログラムは </a:t>
            </a:r>
            <a:r>
              <a:rPr lang="en-US" altLang="ja-JP" dirty="0"/>
              <a:t>CUI </a:t>
            </a:r>
            <a:r>
              <a:rPr lang="ja-JP" altLang="en-US" dirty="0"/>
              <a:t>であり、ユーザーが入力したコマンドに応じて処理を実行する</a:t>
            </a:r>
            <a:r>
              <a:rPr lang="ja-JP" altLang="en-US" dirty="0">
                <a:solidFill>
                  <a:srgbClr val="D67D61"/>
                </a:solidFill>
              </a:rPr>
              <a:t>コマンド駆動型プログラミング</a:t>
            </a:r>
            <a:r>
              <a:rPr lang="ja-JP" altLang="en-US" dirty="0"/>
              <a:t>の方式である。</a:t>
            </a:r>
            <a:endParaRPr lang="en-US" altLang="ja-JP" dirty="0"/>
          </a:p>
          <a:p>
            <a:pPr algn="just"/>
            <a:r>
              <a:rPr lang="en-US" altLang="ja-JP" dirty="0"/>
              <a:t>CUI</a:t>
            </a:r>
            <a:r>
              <a:rPr lang="ja-JP" altLang="en-US" dirty="0"/>
              <a:t>では、ユーザーが命令を入力し、その</a:t>
            </a:r>
            <a:r>
              <a:rPr lang="ja-JP" altLang="en-US" dirty="0">
                <a:solidFill>
                  <a:srgbClr val="D67D61"/>
                </a:solidFill>
              </a:rPr>
              <a:t>内容をプログラムが判断</a:t>
            </a:r>
            <a:r>
              <a:rPr lang="ja-JP" altLang="en-US" dirty="0"/>
              <a:t>して対応するアクションを実行する。</a:t>
            </a:r>
            <a:endParaRPr lang="en-US" altLang="ja-JP" dirty="0"/>
          </a:p>
          <a:p>
            <a:pPr algn="just"/>
            <a:r>
              <a:rPr lang="ja-JP" altLang="en-US" dirty="0"/>
              <a:t> </a:t>
            </a:r>
            <a:r>
              <a:rPr lang="ja-JP" altLang="en-US" dirty="0">
                <a:solidFill>
                  <a:srgbClr val="D67D61"/>
                </a:solidFill>
              </a:rPr>
              <a:t>コマンド</a:t>
            </a:r>
            <a:r>
              <a:rPr lang="ja-JP" altLang="en-US" dirty="0"/>
              <a:t> → </a:t>
            </a:r>
            <a:r>
              <a:rPr lang="ja-JP" altLang="en-US" dirty="0">
                <a:solidFill>
                  <a:srgbClr val="D67D61"/>
                </a:solidFill>
              </a:rPr>
              <a:t>インタプリタ </a:t>
            </a:r>
            <a:r>
              <a:rPr lang="ja-JP" altLang="en-US" dirty="0"/>
              <a:t>→ </a:t>
            </a:r>
            <a:r>
              <a:rPr lang="ja-JP" altLang="en-US" dirty="0">
                <a:solidFill>
                  <a:srgbClr val="D67D61"/>
                </a:solidFill>
              </a:rPr>
              <a:t>アクション</a:t>
            </a:r>
            <a:r>
              <a:rPr lang="ja-JP" altLang="en-US" dirty="0"/>
              <a:t> → 次のコマンドを待つ。</a:t>
            </a:r>
            <a:endParaRPr lang="en-US" dirty="0"/>
          </a:p>
        </p:txBody>
      </p:sp>
      <p:sp>
        <p:nvSpPr>
          <p:cNvPr id="4" name="Slide Number Placeholder 3">
            <a:extLst>
              <a:ext uri="{FF2B5EF4-FFF2-40B4-BE49-F238E27FC236}">
                <a16:creationId xmlns:a16="http://schemas.microsoft.com/office/drawing/2014/main" id="{BA3C7865-CCD3-7EAB-B01A-9F119E4A8E16}"/>
              </a:ext>
            </a:extLst>
          </p:cNvPr>
          <p:cNvSpPr>
            <a:spLocks noGrp="1"/>
          </p:cNvSpPr>
          <p:nvPr>
            <p:ph type="sldNum" sz="quarter" idx="15"/>
          </p:nvPr>
        </p:nvSpPr>
        <p:spPr/>
        <p:txBody>
          <a:bodyPr/>
          <a:lstStyle/>
          <a:p>
            <a:fld id="{CBD12358-51D2-46B3-9BDE-DF29528B9454}" type="slidenum">
              <a:rPr lang="en-US" smtClean="0"/>
              <a:pPr/>
              <a:t>5</a:t>
            </a:fld>
            <a:endParaRPr lang="en-US" dirty="0"/>
          </a:p>
        </p:txBody>
      </p:sp>
      <p:grpSp>
        <p:nvGrpSpPr>
          <p:cNvPr id="17" name="Group 16">
            <a:extLst>
              <a:ext uri="{FF2B5EF4-FFF2-40B4-BE49-F238E27FC236}">
                <a16:creationId xmlns:a16="http://schemas.microsoft.com/office/drawing/2014/main" id="{36B05EFD-C223-1CDE-4199-3734910A0F80}"/>
              </a:ext>
            </a:extLst>
          </p:cNvPr>
          <p:cNvGrpSpPr/>
          <p:nvPr/>
        </p:nvGrpSpPr>
        <p:grpSpPr>
          <a:xfrm>
            <a:off x="1293728" y="3613407"/>
            <a:ext cx="9446884" cy="2537645"/>
            <a:chOff x="1293728" y="3613407"/>
            <a:chExt cx="9446884" cy="2537645"/>
          </a:xfrm>
        </p:grpSpPr>
        <p:sp>
          <p:nvSpPr>
            <p:cNvPr id="6" name="Rectangle: Rounded Corners 5">
              <a:extLst>
                <a:ext uri="{FF2B5EF4-FFF2-40B4-BE49-F238E27FC236}">
                  <a16:creationId xmlns:a16="http://schemas.microsoft.com/office/drawing/2014/main" id="{08FB9A8C-39A7-B2DC-2D07-7509834FD944}"/>
                </a:ext>
              </a:extLst>
            </p:cNvPr>
            <p:cNvSpPr/>
            <p:nvPr/>
          </p:nvSpPr>
          <p:spPr>
            <a:xfrm>
              <a:off x="1293728" y="3842003"/>
              <a:ext cx="1862762" cy="1496229"/>
            </a:xfrm>
            <a:prstGeom prst="roundRect">
              <a:avLst>
                <a:gd name="adj" fmla="val 9700"/>
              </a:avLst>
            </a:prstGeom>
            <a:solidFill>
              <a:schemeClr val="bg1"/>
            </a:solidFill>
            <a:ln>
              <a:solidFill>
                <a:srgbClr val="4A82A5"/>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altLang="ja-JP" dirty="0">
                  <a:solidFill>
                    <a:schemeClr val="tx1"/>
                  </a:solidFill>
                </a:rPr>
                <a:t>CUI</a:t>
              </a:r>
              <a:r>
                <a:rPr lang="ja-JP" altLang="en-US" dirty="0">
                  <a:solidFill>
                    <a:schemeClr val="tx1"/>
                  </a:solidFill>
                </a:rPr>
                <a:t>での入力：</a:t>
              </a:r>
              <a:endParaRPr lang="en-US" altLang="ja-JP" dirty="0">
                <a:solidFill>
                  <a:schemeClr val="tx1"/>
                </a:solidFill>
              </a:endParaRPr>
            </a:p>
            <a:p>
              <a:pPr marL="285750" indent="-285750">
                <a:buFont typeface="Arial" panose="020B0604020202020204" pitchFamily="34" charset="0"/>
                <a:buChar char="•"/>
              </a:pPr>
              <a:r>
                <a:rPr lang="en-US" altLang="ja-JP" dirty="0">
                  <a:solidFill>
                    <a:schemeClr val="tx1"/>
                  </a:solidFill>
                </a:rPr>
                <a:t>open</a:t>
              </a:r>
            </a:p>
            <a:p>
              <a:pPr marL="285750" indent="-285750">
                <a:buFont typeface="Arial" panose="020B0604020202020204" pitchFamily="34" charset="0"/>
                <a:buChar char="•"/>
              </a:pPr>
              <a:r>
                <a:rPr lang="en-US" altLang="ja-JP" dirty="0">
                  <a:solidFill>
                    <a:schemeClr val="tx1"/>
                  </a:solidFill>
                </a:rPr>
                <a:t>save</a:t>
              </a:r>
            </a:p>
            <a:p>
              <a:pPr marL="285750" indent="-285750">
                <a:buFont typeface="Arial" panose="020B0604020202020204" pitchFamily="34" charset="0"/>
                <a:buChar char="•"/>
              </a:pPr>
              <a:r>
                <a:rPr lang="en-US" altLang="ja-JP" dirty="0">
                  <a:solidFill>
                    <a:schemeClr val="tx1"/>
                  </a:solidFill>
                </a:rPr>
                <a:t>exit</a:t>
              </a:r>
            </a:p>
          </p:txBody>
        </p:sp>
        <p:sp>
          <p:nvSpPr>
            <p:cNvPr id="7" name="Rectangle: Rounded Corners 6">
              <a:extLst>
                <a:ext uri="{FF2B5EF4-FFF2-40B4-BE49-F238E27FC236}">
                  <a16:creationId xmlns:a16="http://schemas.microsoft.com/office/drawing/2014/main" id="{62A0D97B-C5C3-FBF8-32F9-3D0AFD4EC320}"/>
                </a:ext>
              </a:extLst>
            </p:cNvPr>
            <p:cNvSpPr/>
            <p:nvPr/>
          </p:nvSpPr>
          <p:spPr>
            <a:xfrm>
              <a:off x="1520403" y="3613407"/>
              <a:ext cx="1387551" cy="457198"/>
            </a:xfrm>
            <a:prstGeom prst="roundRect">
              <a:avLst/>
            </a:prstGeom>
            <a:pattFill prst="pct5">
              <a:fgClr>
                <a:srgbClr val="4A82A5"/>
              </a:fgClr>
              <a:bgClr>
                <a:schemeClr val="bg1"/>
              </a:bgClr>
            </a:pattFill>
            <a:ln>
              <a:solidFill>
                <a:srgbClr val="4A8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コマンド</a:t>
              </a:r>
              <a:endParaRPr lang="en-US" b="1" dirty="0">
                <a:solidFill>
                  <a:schemeClr val="tx1"/>
                </a:solidFill>
              </a:endParaRPr>
            </a:p>
          </p:txBody>
        </p:sp>
        <p:sp>
          <p:nvSpPr>
            <p:cNvPr id="8" name="Rectangle: Rounded Corners 7">
              <a:extLst>
                <a:ext uri="{FF2B5EF4-FFF2-40B4-BE49-F238E27FC236}">
                  <a16:creationId xmlns:a16="http://schemas.microsoft.com/office/drawing/2014/main" id="{B191C6DE-E625-329D-83C8-ED0A4999F097}"/>
                </a:ext>
              </a:extLst>
            </p:cNvPr>
            <p:cNvSpPr/>
            <p:nvPr/>
          </p:nvSpPr>
          <p:spPr>
            <a:xfrm>
              <a:off x="4301708" y="3842004"/>
              <a:ext cx="3078483" cy="1496229"/>
            </a:xfrm>
            <a:prstGeom prst="roundRect">
              <a:avLst>
                <a:gd name="adj" fmla="val 9700"/>
              </a:avLst>
            </a:prstGeom>
            <a:solidFill>
              <a:schemeClr val="bg1"/>
            </a:solidFill>
            <a:ln>
              <a:solidFill>
                <a:srgbClr val="76B29F"/>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ja-JP" altLang="en-US" dirty="0">
                  <a:solidFill>
                    <a:schemeClr val="tx1"/>
                  </a:solidFill>
                </a:rPr>
                <a:t>コマンドを解析：</a:t>
              </a:r>
              <a:endParaRPr lang="en-US" altLang="ja-JP" dirty="0">
                <a:solidFill>
                  <a:schemeClr val="tx1"/>
                </a:solidFill>
              </a:endParaRPr>
            </a:p>
            <a:p>
              <a:r>
                <a:rPr lang="ja-JP" altLang="en-US" dirty="0">
                  <a:solidFill>
                    <a:schemeClr val="tx1"/>
                  </a:solidFill>
                </a:rPr>
                <a:t>■   </a:t>
              </a:r>
              <a:r>
                <a:rPr lang="en-US" altLang="ja-JP" dirty="0">
                  <a:solidFill>
                    <a:schemeClr val="tx1"/>
                  </a:solidFill>
                </a:rPr>
                <a:t>open → </a:t>
              </a:r>
              <a:r>
                <a:rPr lang="ja-JP" altLang="en-US" dirty="0">
                  <a:solidFill>
                    <a:schemeClr val="tx1"/>
                  </a:solidFill>
                </a:rPr>
                <a:t>ファイルを開く</a:t>
              </a:r>
              <a:endParaRPr lang="en-US" altLang="ja-JP" dirty="0">
                <a:solidFill>
                  <a:schemeClr val="tx1"/>
                </a:solidFill>
              </a:endParaRPr>
            </a:p>
            <a:p>
              <a:r>
                <a:rPr lang="ja-JP" altLang="en-US" dirty="0">
                  <a:solidFill>
                    <a:schemeClr val="tx1"/>
                  </a:solidFill>
                </a:rPr>
                <a:t>□    </a:t>
              </a:r>
              <a:r>
                <a:rPr lang="en-US" altLang="ja-JP" dirty="0">
                  <a:solidFill>
                    <a:schemeClr val="tx1"/>
                  </a:solidFill>
                </a:rPr>
                <a:t>save → </a:t>
              </a:r>
              <a:r>
                <a:rPr lang="ja-JP" altLang="en-US" dirty="0">
                  <a:solidFill>
                    <a:schemeClr val="tx1"/>
                  </a:solidFill>
                </a:rPr>
                <a:t>ファイルを保存</a:t>
              </a:r>
              <a:endParaRPr lang="en-US" altLang="ja-JP" dirty="0">
                <a:solidFill>
                  <a:schemeClr val="tx1"/>
                </a:solidFill>
              </a:endParaRPr>
            </a:p>
            <a:p>
              <a:r>
                <a:rPr lang="ja-JP" altLang="en-US" dirty="0">
                  <a:solidFill>
                    <a:schemeClr val="tx1"/>
                  </a:solidFill>
                </a:rPr>
                <a:t>□    </a:t>
              </a:r>
              <a:r>
                <a:rPr lang="en-US" altLang="ja-JP" dirty="0">
                  <a:solidFill>
                    <a:schemeClr val="tx1"/>
                  </a:solidFill>
                </a:rPr>
                <a:t>exit → </a:t>
              </a:r>
              <a:r>
                <a:rPr lang="ja-JP" altLang="en-US" dirty="0">
                  <a:solidFill>
                    <a:schemeClr val="tx1"/>
                  </a:solidFill>
                </a:rPr>
                <a:t>終了</a:t>
              </a:r>
              <a:endParaRPr lang="en-US" altLang="ja-JP" dirty="0">
                <a:solidFill>
                  <a:schemeClr val="tx1"/>
                </a:solidFill>
              </a:endParaRPr>
            </a:p>
          </p:txBody>
        </p:sp>
        <p:sp>
          <p:nvSpPr>
            <p:cNvPr id="9" name="Rectangle: Rounded Corners 8">
              <a:extLst>
                <a:ext uri="{FF2B5EF4-FFF2-40B4-BE49-F238E27FC236}">
                  <a16:creationId xmlns:a16="http://schemas.microsoft.com/office/drawing/2014/main" id="{EDDCC02C-A598-EC17-1B09-8D13943B3FA7}"/>
                </a:ext>
              </a:extLst>
            </p:cNvPr>
            <p:cNvSpPr/>
            <p:nvPr/>
          </p:nvSpPr>
          <p:spPr>
            <a:xfrm>
              <a:off x="5018567" y="3613407"/>
              <a:ext cx="1622341" cy="457198"/>
            </a:xfrm>
            <a:prstGeom prst="roundRect">
              <a:avLst/>
            </a:prstGeom>
            <a:pattFill prst="pct5">
              <a:fgClr>
                <a:srgbClr val="76B29F"/>
              </a:fgClr>
              <a:bgClr>
                <a:schemeClr val="bg1"/>
              </a:bgClr>
            </a:pattFill>
            <a:ln>
              <a:solidFill>
                <a:srgbClr val="76B2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インタプリタ</a:t>
              </a:r>
              <a:endParaRPr lang="en-US" b="1" dirty="0">
                <a:solidFill>
                  <a:schemeClr val="tx1"/>
                </a:solidFill>
              </a:endParaRPr>
            </a:p>
          </p:txBody>
        </p:sp>
        <p:sp>
          <p:nvSpPr>
            <p:cNvPr id="10" name="Rectangle: Rounded Corners 9">
              <a:extLst>
                <a:ext uri="{FF2B5EF4-FFF2-40B4-BE49-F238E27FC236}">
                  <a16:creationId xmlns:a16="http://schemas.microsoft.com/office/drawing/2014/main" id="{43A0BFB4-FED0-2BA6-F8D2-D71FC30CA74A}"/>
                </a:ext>
              </a:extLst>
            </p:cNvPr>
            <p:cNvSpPr/>
            <p:nvPr/>
          </p:nvSpPr>
          <p:spPr>
            <a:xfrm>
              <a:off x="8506328" y="3842003"/>
              <a:ext cx="2234284" cy="1496229"/>
            </a:xfrm>
            <a:prstGeom prst="roundRect">
              <a:avLst>
                <a:gd name="adj" fmla="val 9700"/>
              </a:avLst>
            </a:prstGeom>
            <a:solidFill>
              <a:schemeClr val="bg1"/>
            </a:solidFill>
            <a:ln>
              <a:solidFill>
                <a:srgbClr val="BB5863"/>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altLang="ja-JP" dirty="0">
                  <a:solidFill>
                    <a:schemeClr val="tx1"/>
                  </a:solidFill>
                </a:rPr>
                <a:t>open</a:t>
              </a:r>
              <a:r>
                <a:rPr lang="ja-JP" altLang="en-US" dirty="0">
                  <a:solidFill>
                    <a:schemeClr val="tx1"/>
                  </a:solidFill>
                </a:rPr>
                <a:t>の場合：</a:t>
              </a:r>
              <a:endParaRPr lang="en-US" altLang="ja-JP" dirty="0">
                <a:solidFill>
                  <a:schemeClr val="tx1"/>
                </a:solidFill>
              </a:endParaRPr>
            </a:p>
            <a:p>
              <a:pPr marL="342900" indent="-342900">
                <a:buFont typeface="+mj-lt"/>
                <a:buAutoNum type="arabicPeriod"/>
              </a:pPr>
              <a:r>
                <a:rPr lang="ja-JP" altLang="en-US" dirty="0">
                  <a:solidFill>
                    <a:schemeClr val="tx1"/>
                  </a:solidFill>
                </a:rPr>
                <a:t>ファイルを指定</a:t>
              </a:r>
            </a:p>
            <a:p>
              <a:pPr marL="342900" indent="-342900">
                <a:buFont typeface="+mj-lt"/>
                <a:buAutoNum type="arabicPeriod"/>
              </a:pPr>
              <a:r>
                <a:rPr lang="ja-JP" altLang="en-US" dirty="0">
                  <a:solidFill>
                    <a:schemeClr val="tx1"/>
                  </a:solidFill>
                </a:rPr>
                <a:t>中身を読込む</a:t>
              </a:r>
            </a:p>
            <a:p>
              <a:pPr marL="342900" indent="-342900">
                <a:buFont typeface="+mj-lt"/>
                <a:buAutoNum type="arabicPeriod"/>
              </a:pPr>
              <a:r>
                <a:rPr lang="en-US" altLang="ja-JP" dirty="0">
                  <a:solidFill>
                    <a:schemeClr val="tx1"/>
                  </a:solidFill>
                </a:rPr>
                <a:t>CUI</a:t>
              </a:r>
              <a:r>
                <a:rPr lang="ja-JP" altLang="en-US" dirty="0">
                  <a:solidFill>
                    <a:schemeClr val="tx1"/>
                  </a:solidFill>
                </a:rPr>
                <a:t>での表示</a:t>
              </a:r>
            </a:p>
          </p:txBody>
        </p:sp>
        <p:sp>
          <p:nvSpPr>
            <p:cNvPr id="11" name="Rectangle: Rounded Corners 10">
              <a:extLst>
                <a:ext uri="{FF2B5EF4-FFF2-40B4-BE49-F238E27FC236}">
                  <a16:creationId xmlns:a16="http://schemas.microsoft.com/office/drawing/2014/main" id="{7D202BC1-7A25-C590-A84C-D0E5DF7F96FC}"/>
                </a:ext>
              </a:extLst>
            </p:cNvPr>
            <p:cNvSpPr/>
            <p:nvPr/>
          </p:nvSpPr>
          <p:spPr>
            <a:xfrm>
              <a:off x="8929694" y="3613407"/>
              <a:ext cx="1387551" cy="457198"/>
            </a:xfrm>
            <a:prstGeom prst="roundRect">
              <a:avLst/>
            </a:prstGeom>
            <a:pattFill prst="pct5">
              <a:fgClr>
                <a:srgbClr val="BB5863"/>
              </a:fgClr>
              <a:bgClr>
                <a:schemeClr val="bg1"/>
              </a:bgClr>
            </a:pattFill>
            <a:ln>
              <a:solidFill>
                <a:srgbClr val="BB58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アクション</a:t>
              </a:r>
              <a:endParaRPr lang="en-US" b="1" dirty="0">
                <a:solidFill>
                  <a:schemeClr val="tx1"/>
                </a:solidFill>
              </a:endParaRPr>
            </a:p>
          </p:txBody>
        </p:sp>
        <p:sp>
          <p:nvSpPr>
            <p:cNvPr id="12" name="Arrow: Bent-Up 11">
              <a:extLst>
                <a:ext uri="{FF2B5EF4-FFF2-40B4-BE49-F238E27FC236}">
                  <a16:creationId xmlns:a16="http://schemas.microsoft.com/office/drawing/2014/main" id="{C9B06416-3AD0-B0B9-2B48-E270119D1D89}"/>
                </a:ext>
              </a:extLst>
            </p:cNvPr>
            <p:cNvSpPr/>
            <p:nvPr/>
          </p:nvSpPr>
          <p:spPr>
            <a:xfrm flipH="1">
              <a:off x="2081734" y="5415957"/>
              <a:ext cx="3395356" cy="630289"/>
            </a:xfrm>
            <a:prstGeom prst="bentUpArrow">
              <a:avLst>
                <a:gd name="adj1" fmla="val 25000"/>
                <a:gd name="adj2" fmla="val 25000"/>
                <a:gd name="adj3" fmla="val 24496"/>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CAFE6F2-5463-B963-6D94-E4B2D1822D2F}"/>
                </a:ext>
              </a:extLst>
            </p:cNvPr>
            <p:cNvSpPr txBox="1"/>
            <p:nvPr/>
          </p:nvSpPr>
          <p:spPr>
            <a:xfrm>
              <a:off x="5449746" y="5781717"/>
              <a:ext cx="646331" cy="369332"/>
            </a:xfrm>
            <a:prstGeom prst="rect">
              <a:avLst/>
            </a:prstGeom>
            <a:noFill/>
          </p:spPr>
          <p:txBody>
            <a:bodyPr wrap="none" rtlCol="0">
              <a:spAutoFit/>
            </a:bodyPr>
            <a:lstStyle/>
            <a:p>
              <a:r>
                <a:rPr lang="ja-JP" altLang="en-US" dirty="0"/>
                <a:t>待つ</a:t>
              </a:r>
              <a:endParaRPr lang="en-US" dirty="0"/>
            </a:p>
          </p:txBody>
        </p:sp>
        <p:sp>
          <p:nvSpPr>
            <p:cNvPr id="14" name="Arrow: Bent-Up 13">
              <a:extLst>
                <a:ext uri="{FF2B5EF4-FFF2-40B4-BE49-F238E27FC236}">
                  <a16:creationId xmlns:a16="http://schemas.microsoft.com/office/drawing/2014/main" id="{B8AC9795-71C1-A36B-809F-E9BE00907FD0}"/>
                </a:ext>
              </a:extLst>
            </p:cNvPr>
            <p:cNvSpPr/>
            <p:nvPr/>
          </p:nvSpPr>
          <p:spPr>
            <a:xfrm rot="16200000" flipH="1">
              <a:off x="7506178" y="3960781"/>
              <a:ext cx="735091" cy="3645452"/>
            </a:xfrm>
            <a:prstGeom prst="bentUpArrow">
              <a:avLst>
                <a:gd name="adj1" fmla="val 21113"/>
                <a:gd name="adj2" fmla="val 25000"/>
                <a:gd name="adj3" fmla="val 25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6075B0FC-A321-C876-D169-604255D6A9C5}"/>
                </a:ext>
              </a:extLst>
            </p:cNvPr>
            <p:cNvSpPr/>
            <p:nvPr/>
          </p:nvSpPr>
          <p:spPr>
            <a:xfrm>
              <a:off x="3230519" y="4409127"/>
              <a:ext cx="978408" cy="361979"/>
            </a:xfrm>
            <a:prstGeom prst="rightArrow">
              <a:avLst>
                <a:gd name="adj1" fmla="val 39474"/>
                <a:gd name="adj2" fmla="val 50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9FA4C053-B31B-CBCB-1B34-38A9FC8B759E}"/>
                </a:ext>
              </a:extLst>
            </p:cNvPr>
            <p:cNvSpPr/>
            <p:nvPr/>
          </p:nvSpPr>
          <p:spPr>
            <a:xfrm>
              <a:off x="7453890" y="4409127"/>
              <a:ext cx="978408" cy="361979"/>
            </a:xfrm>
            <a:prstGeom prst="rightArrow">
              <a:avLst>
                <a:gd name="adj1" fmla="val 39474"/>
                <a:gd name="adj2" fmla="val 50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0668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E9536F-FF03-2B39-5B8F-2C0413751788}"/>
              </a:ext>
            </a:extLst>
          </p:cNvPr>
          <p:cNvSpPr>
            <a:spLocks noGrp="1"/>
          </p:cNvSpPr>
          <p:nvPr>
            <p:ph type="body" sz="quarter" idx="11"/>
          </p:nvPr>
        </p:nvSpPr>
        <p:spPr/>
        <p:txBody>
          <a:bodyPr/>
          <a:lstStyle/>
          <a:p>
            <a:r>
              <a:rPr lang="en-US" dirty="0"/>
              <a:t>1-4</a:t>
            </a:r>
            <a:r>
              <a:rPr lang="ja-JP" altLang="en-US" dirty="0"/>
              <a:t>　違いの例</a:t>
            </a:r>
            <a:endParaRPr lang="en-US" dirty="0"/>
          </a:p>
        </p:txBody>
      </p:sp>
      <p:sp>
        <p:nvSpPr>
          <p:cNvPr id="4" name="Slide Number Placeholder 3">
            <a:extLst>
              <a:ext uri="{FF2B5EF4-FFF2-40B4-BE49-F238E27FC236}">
                <a16:creationId xmlns:a16="http://schemas.microsoft.com/office/drawing/2014/main" id="{2BBE1B07-CFD9-0F07-2A97-1D1D27B34AF5}"/>
              </a:ext>
            </a:extLst>
          </p:cNvPr>
          <p:cNvSpPr>
            <a:spLocks noGrp="1"/>
          </p:cNvSpPr>
          <p:nvPr>
            <p:ph type="sldNum" sz="quarter" idx="15"/>
          </p:nvPr>
        </p:nvSpPr>
        <p:spPr/>
        <p:txBody>
          <a:bodyPr/>
          <a:lstStyle/>
          <a:p>
            <a:fld id="{CBD12358-51D2-46B3-9BDE-DF29528B9454}" type="slidenum">
              <a:rPr lang="en-US" smtClean="0"/>
              <a:pPr/>
              <a:t>6</a:t>
            </a:fld>
            <a:endParaRPr lang="en-US" dirty="0"/>
          </a:p>
        </p:txBody>
      </p:sp>
      <p:sp>
        <p:nvSpPr>
          <p:cNvPr id="7" name="TextBox 6">
            <a:extLst>
              <a:ext uri="{FF2B5EF4-FFF2-40B4-BE49-F238E27FC236}">
                <a16:creationId xmlns:a16="http://schemas.microsoft.com/office/drawing/2014/main" id="{5501FE18-1489-D857-C103-8DB354BAAC4E}"/>
              </a:ext>
            </a:extLst>
          </p:cNvPr>
          <p:cNvSpPr txBox="1"/>
          <p:nvPr/>
        </p:nvSpPr>
        <p:spPr>
          <a:xfrm>
            <a:off x="842616" y="1588570"/>
            <a:ext cx="4224233" cy="4878643"/>
          </a:xfrm>
          <a:prstGeom prst="rect">
            <a:avLst/>
          </a:prstGeom>
          <a:noFill/>
          <a:ln>
            <a:solidFill>
              <a:schemeClr val="tx1"/>
            </a:solidFill>
          </a:ln>
        </p:spPr>
        <p:txBody>
          <a:bodyPr wrap="none" rtlCol="0">
            <a:spAutoFit/>
          </a:bodyPr>
          <a:lstStyle/>
          <a:p>
            <a:pPr>
              <a:lnSpc>
                <a:spcPct val="113095"/>
              </a:lnSpc>
              <a:buNone/>
            </a:pPr>
            <a:r>
              <a:rPr lang="en-US" sz="1200" b="0" dirty="0">
                <a:effectLst/>
                <a:latin typeface="Consolas" panose="020B0609020204030204" pitchFamily="49" charset="0"/>
              </a:rPr>
              <a:t>import </a:t>
            </a:r>
            <a:r>
              <a:rPr lang="en-US" sz="1200" b="0" dirty="0" err="1">
                <a:effectLst/>
                <a:latin typeface="Consolas" panose="020B0609020204030204" pitchFamily="49" charset="0"/>
              </a:rPr>
              <a:t>tkinter</a:t>
            </a:r>
            <a:r>
              <a:rPr lang="en-US" sz="1200" b="0" dirty="0">
                <a:effectLst/>
                <a:latin typeface="Consolas" panose="020B0609020204030204" pitchFamily="49" charset="0"/>
              </a:rPr>
              <a:t> as </a:t>
            </a:r>
            <a:r>
              <a:rPr lang="en-US" sz="1200" b="0" dirty="0" err="1">
                <a:effectLst/>
                <a:latin typeface="Consolas" panose="020B0609020204030204" pitchFamily="49" charset="0"/>
              </a:rPr>
              <a:t>tk</a:t>
            </a:r>
            <a:endParaRPr lang="en-US" sz="1200" b="0" dirty="0">
              <a:effectLst/>
              <a:latin typeface="Consolas" panose="020B0609020204030204" pitchFamily="49" charset="0"/>
            </a:endParaRPr>
          </a:p>
          <a:p>
            <a:pPr>
              <a:lnSpc>
                <a:spcPct val="113095"/>
              </a:lnSpc>
              <a:buNone/>
            </a:pPr>
            <a:endParaRPr lang="en-US" sz="1200" b="0" dirty="0">
              <a:effectLst/>
              <a:latin typeface="Consolas" panose="020B0609020204030204" pitchFamily="49" charset="0"/>
            </a:endParaRPr>
          </a:p>
          <a:p>
            <a:pPr>
              <a:lnSpc>
                <a:spcPct val="113095"/>
              </a:lnSpc>
              <a:buNone/>
            </a:pPr>
            <a:r>
              <a:rPr lang="en-US" sz="1200" b="0" dirty="0">
                <a:solidFill>
                  <a:schemeClr val="bg1"/>
                </a:solidFill>
                <a:effectLst/>
                <a:highlight>
                  <a:srgbClr val="76B29F"/>
                </a:highlight>
                <a:latin typeface="Consolas" panose="020B0609020204030204" pitchFamily="49" charset="0"/>
              </a:rPr>
              <a:t># </a:t>
            </a:r>
            <a:r>
              <a:rPr lang="ja-JP" altLang="en-US" sz="1200" b="0" dirty="0">
                <a:solidFill>
                  <a:schemeClr val="bg1"/>
                </a:solidFill>
                <a:effectLst/>
                <a:highlight>
                  <a:srgbClr val="76B29F"/>
                </a:highlight>
                <a:latin typeface="Consolas" panose="020B0609020204030204" pitchFamily="49" charset="0"/>
              </a:rPr>
              <a:t>ハンドラ</a:t>
            </a:r>
          </a:p>
          <a:p>
            <a:pPr>
              <a:lnSpc>
                <a:spcPct val="113095"/>
              </a:lnSpc>
              <a:buNone/>
            </a:pPr>
            <a:r>
              <a:rPr lang="en-US" sz="1200" b="0" dirty="0">
                <a:effectLst/>
                <a:latin typeface="Consolas" panose="020B0609020204030204" pitchFamily="49" charset="0"/>
              </a:rPr>
              <a:t>def </a:t>
            </a:r>
            <a:r>
              <a:rPr lang="en-US" sz="1200" b="0" dirty="0" err="1">
                <a:effectLst/>
                <a:latin typeface="Consolas" panose="020B0609020204030204" pitchFamily="49" charset="0"/>
              </a:rPr>
              <a:t>say_hello</a:t>
            </a:r>
            <a:r>
              <a:rPr lang="en-US" sz="1200" b="0" dirty="0">
                <a:effectLst/>
                <a:latin typeface="Consolas" panose="020B0609020204030204" pitchFamily="49" charset="0"/>
              </a:rPr>
              <a:t>():</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BB5863"/>
                </a:highlight>
                <a:latin typeface="Consolas" panose="020B0609020204030204" pitchFamily="49" charset="0"/>
              </a:rPr>
              <a:t># </a:t>
            </a:r>
            <a:r>
              <a:rPr lang="ja-JP" altLang="en-US" sz="1200" b="0" dirty="0">
                <a:solidFill>
                  <a:schemeClr val="bg1"/>
                </a:solidFill>
                <a:effectLst/>
                <a:highlight>
                  <a:srgbClr val="BB5863"/>
                </a:highlight>
                <a:latin typeface="Consolas" panose="020B0609020204030204" pitchFamily="49" charset="0"/>
              </a:rPr>
              <a:t>アクション</a:t>
            </a:r>
          </a:p>
          <a:p>
            <a:pPr>
              <a:lnSpc>
                <a:spcPct val="113095"/>
              </a:lnSpc>
              <a:buNone/>
            </a:pPr>
            <a:r>
              <a:rPr lang="ja-JP" altLang="en-US" sz="1200" b="0" dirty="0">
                <a:effectLst/>
                <a:latin typeface="Consolas" panose="020B0609020204030204" pitchFamily="49" charset="0"/>
              </a:rPr>
              <a:t>    </a:t>
            </a:r>
            <a:r>
              <a:rPr lang="en-US" sz="1200" b="0" dirty="0" err="1">
                <a:effectLst/>
                <a:latin typeface="Consolas" panose="020B0609020204030204" pitchFamily="49" charset="0"/>
              </a:rPr>
              <a:t>label.config</a:t>
            </a:r>
            <a:r>
              <a:rPr lang="en-US" sz="1200" b="0" dirty="0">
                <a:effectLst/>
                <a:latin typeface="Consolas" panose="020B0609020204030204" pitchFamily="49" charset="0"/>
              </a:rPr>
              <a:t>(text="Hello!")</a:t>
            </a:r>
          </a:p>
          <a:p>
            <a:pPr>
              <a:lnSpc>
                <a:spcPct val="113095"/>
              </a:lnSpc>
              <a:buNone/>
            </a:pPr>
            <a:endParaRPr lang="en-US" sz="1200" dirty="0">
              <a:latin typeface="Consolas" panose="020B0609020204030204" pitchFamily="49" charset="0"/>
            </a:endParaRPr>
          </a:p>
          <a:p>
            <a:pPr>
              <a:lnSpc>
                <a:spcPct val="113095"/>
              </a:lnSpc>
              <a:buNone/>
            </a:pPr>
            <a:r>
              <a:rPr lang="en-US" sz="1200" b="0" dirty="0">
                <a:effectLst/>
                <a:latin typeface="Consolas" panose="020B0609020204030204" pitchFamily="49" charset="0"/>
              </a:rPr>
              <a:t># GUI</a:t>
            </a:r>
            <a:r>
              <a:rPr lang="ja-JP" altLang="en-US" sz="1200" b="0" dirty="0">
                <a:effectLst/>
                <a:latin typeface="Consolas" panose="020B0609020204030204" pitchFamily="49" charset="0"/>
              </a:rPr>
              <a:t>の初期化</a:t>
            </a:r>
            <a:endParaRPr lang="en-US" sz="1200" b="0" dirty="0">
              <a:effectLst/>
              <a:latin typeface="Consolas" panose="020B0609020204030204" pitchFamily="49" charset="0"/>
            </a:endParaRPr>
          </a:p>
          <a:p>
            <a:pPr>
              <a:lnSpc>
                <a:spcPct val="113095"/>
              </a:lnSpc>
              <a:buNone/>
            </a:pPr>
            <a:r>
              <a:rPr lang="en-US" sz="1200" b="0" dirty="0">
                <a:effectLst/>
                <a:latin typeface="Consolas" panose="020B0609020204030204" pitchFamily="49" charset="0"/>
              </a:rPr>
              <a:t>root = </a:t>
            </a:r>
            <a:r>
              <a:rPr lang="en-US" sz="1200" b="0" dirty="0" err="1">
                <a:effectLst/>
                <a:latin typeface="Consolas" panose="020B0609020204030204" pitchFamily="49" charset="0"/>
              </a:rPr>
              <a:t>tk.Tk</a:t>
            </a:r>
            <a:r>
              <a:rPr lang="en-US" sz="1200" b="0" dirty="0">
                <a:effectLst/>
                <a:latin typeface="Consolas" panose="020B0609020204030204" pitchFamily="49" charset="0"/>
              </a:rPr>
              <a:t>()</a:t>
            </a:r>
          </a:p>
          <a:p>
            <a:pPr>
              <a:lnSpc>
                <a:spcPct val="113095"/>
              </a:lnSpc>
              <a:buNone/>
            </a:pPr>
            <a:r>
              <a:rPr lang="en-US" sz="1200" b="0" dirty="0" err="1">
                <a:effectLst/>
                <a:latin typeface="Consolas" panose="020B0609020204030204" pitchFamily="49" charset="0"/>
              </a:rPr>
              <a:t>root.geometry</a:t>
            </a:r>
            <a:r>
              <a:rPr lang="en-US" sz="1200" b="0" dirty="0">
                <a:effectLst/>
                <a:latin typeface="Consolas" panose="020B0609020204030204" pitchFamily="49" charset="0"/>
              </a:rPr>
              <a:t>(“300x100”)</a:t>
            </a:r>
          </a:p>
          <a:p>
            <a:pPr>
              <a:lnSpc>
                <a:spcPct val="113095"/>
              </a:lnSpc>
              <a:buNone/>
            </a:pPr>
            <a:r>
              <a:rPr lang="en-US" sz="1200" b="0" dirty="0" err="1">
                <a:effectLst/>
                <a:latin typeface="Consolas" panose="020B0609020204030204" pitchFamily="49" charset="0"/>
              </a:rPr>
              <a:t>root.title</a:t>
            </a:r>
            <a:r>
              <a:rPr lang="en-US" sz="1200" b="0" dirty="0">
                <a:effectLst/>
                <a:latin typeface="Consolas" panose="020B0609020204030204" pitchFamily="49" charset="0"/>
              </a:rPr>
              <a:t>("Demo")</a:t>
            </a:r>
          </a:p>
          <a:p>
            <a:pPr>
              <a:lnSpc>
                <a:spcPct val="113095"/>
              </a:lnSpc>
              <a:buNone/>
            </a:pPr>
            <a:r>
              <a:rPr lang="en-US" sz="1200" b="0" dirty="0">
                <a:effectLst/>
                <a:latin typeface="Consolas" panose="020B0609020204030204" pitchFamily="49" charset="0"/>
              </a:rPr>
              <a:t>label = </a:t>
            </a:r>
            <a:r>
              <a:rPr lang="en-US" sz="1200" b="0" dirty="0" err="1">
                <a:effectLst/>
                <a:latin typeface="Consolas" panose="020B0609020204030204" pitchFamily="49" charset="0"/>
              </a:rPr>
              <a:t>tk.Label</a:t>
            </a:r>
            <a:r>
              <a:rPr lang="en-US" sz="1200" b="0" dirty="0">
                <a:effectLst/>
                <a:latin typeface="Consolas" panose="020B0609020204030204" pitchFamily="49" charset="0"/>
              </a:rPr>
              <a:t>(root, text="Press the button")</a:t>
            </a:r>
          </a:p>
          <a:p>
            <a:pPr>
              <a:lnSpc>
                <a:spcPct val="113095"/>
              </a:lnSpc>
              <a:buNone/>
            </a:pPr>
            <a:r>
              <a:rPr lang="en-US" sz="1200" b="0" dirty="0" err="1">
                <a:effectLst/>
                <a:latin typeface="Consolas" panose="020B0609020204030204" pitchFamily="49" charset="0"/>
              </a:rPr>
              <a:t>label.pack</a:t>
            </a:r>
            <a:r>
              <a:rPr lang="en-US" sz="1200" b="0" dirty="0">
                <a:effectLst/>
                <a:latin typeface="Consolas" panose="020B0609020204030204" pitchFamily="49" charset="0"/>
              </a:rPr>
              <a:t>()</a:t>
            </a:r>
          </a:p>
          <a:p>
            <a:pPr>
              <a:lnSpc>
                <a:spcPct val="113095"/>
              </a:lnSpc>
              <a:buNone/>
            </a:pPr>
            <a:endParaRPr lang="en-US" sz="1200" b="0" dirty="0">
              <a:effectLst/>
              <a:latin typeface="Consolas" panose="020B0609020204030204" pitchFamily="49" charset="0"/>
            </a:endParaRPr>
          </a:p>
          <a:p>
            <a:pPr>
              <a:lnSpc>
                <a:spcPct val="113095"/>
              </a:lnSpc>
              <a:buNone/>
            </a:pPr>
            <a:r>
              <a:rPr lang="en-US" sz="1200" b="0" dirty="0">
                <a:effectLst/>
                <a:latin typeface="Consolas" panose="020B0609020204030204" pitchFamily="49" charset="0"/>
              </a:rPr>
              <a:t>button = </a:t>
            </a:r>
            <a:r>
              <a:rPr lang="en-US" sz="1200" b="0" dirty="0" err="1">
                <a:effectLst/>
                <a:latin typeface="Consolas" panose="020B0609020204030204" pitchFamily="49" charset="0"/>
              </a:rPr>
              <a:t>tk.Button</a:t>
            </a:r>
            <a:r>
              <a:rPr lang="en-US" sz="1200" b="0" dirty="0">
                <a:effectLst/>
                <a:latin typeface="Consolas" panose="020B0609020204030204" pitchFamily="49" charset="0"/>
              </a:rPr>
              <a:t>(</a:t>
            </a:r>
          </a:p>
          <a:p>
            <a:pPr>
              <a:lnSpc>
                <a:spcPct val="113095"/>
              </a:lnSpc>
              <a:buNone/>
            </a:pPr>
            <a:r>
              <a:rPr lang="en-US" sz="1200" b="0" dirty="0">
                <a:effectLst/>
                <a:latin typeface="Consolas" panose="020B0609020204030204" pitchFamily="49" charset="0"/>
              </a:rPr>
              <a:t>    root,</a:t>
            </a:r>
          </a:p>
          <a:p>
            <a:pPr>
              <a:lnSpc>
                <a:spcPct val="113095"/>
              </a:lnSpc>
              <a:buNone/>
            </a:pPr>
            <a:r>
              <a:rPr lang="en-US" sz="1200" b="0" dirty="0">
                <a:effectLst/>
                <a:latin typeface="Consolas" panose="020B0609020204030204" pitchFamily="49" charset="0"/>
              </a:rPr>
              <a:t>    text="Click me",</a:t>
            </a:r>
          </a:p>
          <a:p>
            <a:pPr>
              <a:lnSpc>
                <a:spcPct val="113095"/>
              </a:lnSpc>
            </a:pPr>
            <a:r>
              <a:rPr lang="ja-JP" altLang="en-US" sz="1200" dirty="0">
                <a:latin typeface="Consolas" panose="020B0609020204030204" pitchFamily="49" charset="0"/>
              </a:rPr>
              <a:t>    </a:t>
            </a:r>
            <a:r>
              <a:rPr lang="en-US" sz="1200" b="0" dirty="0">
                <a:effectLst/>
                <a:latin typeface="Consolas" panose="020B0609020204030204" pitchFamily="49" charset="0"/>
              </a:rPr>
              <a:t>command=</a:t>
            </a:r>
            <a:r>
              <a:rPr lang="en-US" sz="1200" b="0" dirty="0" err="1">
                <a:effectLst/>
                <a:latin typeface="Consolas" panose="020B0609020204030204" pitchFamily="49" charset="0"/>
              </a:rPr>
              <a:t>say_hello</a:t>
            </a:r>
            <a:r>
              <a:rPr lang="en-US" sz="1200" dirty="0">
                <a:latin typeface="Consolas" panose="020B0609020204030204" pitchFamily="49" charset="0"/>
              </a:rPr>
              <a:t> </a:t>
            </a:r>
            <a:r>
              <a:rPr lang="en-US" sz="1200" dirty="0">
                <a:solidFill>
                  <a:schemeClr val="bg1"/>
                </a:solidFill>
                <a:highlight>
                  <a:srgbClr val="4A82A5"/>
                </a:highlight>
                <a:latin typeface="Consolas" panose="020B0609020204030204" pitchFamily="49" charset="0"/>
              </a:rPr>
              <a:t># </a:t>
            </a:r>
            <a:r>
              <a:rPr lang="ja-JP" altLang="en-US" sz="1200" dirty="0">
                <a:solidFill>
                  <a:schemeClr val="bg1"/>
                </a:solidFill>
                <a:highlight>
                  <a:srgbClr val="4A82A5"/>
                </a:highlight>
                <a:latin typeface="Consolas" panose="020B0609020204030204" pitchFamily="49" charset="0"/>
              </a:rPr>
              <a:t>イベント：ボタンをクリック</a:t>
            </a:r>
            <a:endParaRPr lang="en-US" sz="1200" b="0" dirty="0">
              <a:solidFill>
                <a:schemeClr val="bg1"/>
              </a:solidFill>
              <a:effectLst/>
              <a:highlight>
                <a:srgbClr val="4A82A5"/>
              </a:highlight>
              <a:latin typeface="Consolas" panose="020B0609020204030204" pitchFamily="49" charset="0"/>
            </a:endParaRPr>
          </a:p>
          <a:p>
            <a:pPr>
              <a:lnSpc>
                <a:spcPct val="113095"/>
              </a:lnSpc>
              <a:buNone/>
            </a:pPr>
            <a:r>
              <a:rPr lang="en-US" sz="1200" b="0" dirty="0">
                <a:effectLst/>
                <a:latin typeface="Consolas" panose="020B0609020204030204" pitchFamily="49" charset="0"/>
              </a:rPr>
              <a:t>)</a:t>
            </a:r>
          </a:p>
          <a:p>
            <a:pPr>
              <a:lnSpc>
                <a:spcPct val="113095"/>
              </a:lnSpc>
              <a:buNone/>
            </a:pPr>
            <a:r>
              <a:rPr lang="en-US" sz="1200" b="0" dirty="0" err="1">
                <a:effectLst/>
                <a:latin typeface="Consolas" panose="020B0609020204030204" pitchFamily="49" charset="0"/>
              </a:rPr>
              <a:t>button.pack</a:t>
            </a:r>
            <a:r>
              <a:rPr lang="en-US" sz="1200" b="0" dirty="0">
                <a:effectLst/>
                <a:latin typeface="Consolas" panose="020B0609020204030204" pitchFamily="49" charset="0"/>
              </a:rPr>
              <a:t>()</a:t>
            </a:r>
          </a:p>
          <a:p>
            <a:pPr>
              <a:lnSpc>
                <a:spcPct val="113095"/>
              </a:lnSpc>
              <a:buNone/>
            </a:pPr>
            <a:endParaRPr lang="en-US" sz="1200" b="0" dirty="0">
              <a:effectLst/>
              <a:latin typeface="Consolas" panose="020B0609020204030204" pitchFamily="49" charset="0"/>
            </a:endParaRPr>
          </a:p>
          <a:p>
            <a:pPr>
              <a:lnSpc>
                <a:spcPct val="113095"/>
              </a:lnSpc>
              <a:buNone/>
            </a:pPr>
            <a:r>
              <a:rPr lang="en-US" sz="1200" b="0" dirty="0">
                <a:effectLst/>
                <a:latin typeface="Consolas" panose="020B0609020204030204" pitchFamily="49" charset="0"/>
              </a:rPr>
              <a:t># </a:t>
            </a:r>
            <a:r>
              <a:rPr lang="ja-JP" altLang="en-US" sz="1200" b="0" dirty="0">
                <a:effectLst/>
                <a:latin typeface="Consolas" panose="020B0609020204030204" pitchFamily="49" charset="0"/>
              </a:rPr>
              <a:t>イベントループ</a:t>
            </a:r>
          </a:p>
          <a:p>
            <a:pPr>
              <a:lnSpc>
                <a:spcPct val="113095"/>
              </a:lnSpc>
              <a:buNone/>
            </a:pPr>
            <a:r>
              <a:rPr lang="en-US" sz="1200" b="0" dirty="0" err="1">
                <a:effectLst/>
                <a:latin typeface="Consolas" panose="020B0609020204030204" pitchFamily="49" charset="0"/>
              </a:rPr>
              <a:t>root.mainloop</a:t>
            </a:r>
            <a:r>
              <a:rPr lang="en-US" sz="1200" b="0" dirty="0">
                <a:effectLst/>
                <a:latin typeface="Consolas" panose="020B0609020204030204" pitchFamily="49" charset="0"/>
              </a:rPr>
              <a:t>()</a:t>
            </a:r>
          </a:p>
        </p:txBody>
      </p:sp>
      <p:sp>
        <p:nvSpPr>
          <p:cNvPr id="9" name="TextBox 8">
            <a:extLst>
              <a:ext uri="{FF2B5EF4-FFF2-40B4-BE49-F238E27FC236}">
                <a16:creationId xmlns:a16="http://schemas.microsoft.com/office/drawing/2014/main" id="{8FBF82DA-4763-1022-796B-3C2F57866A62}"/>
              </a:ext>
            </a:extLst>
          </p:cNvPr>
          <p:cNvSpPr txBox="1"/>
          <p:nvPr/>
        </p:nvSpPr>
        <p:spPr>
          <a:xfrm>
            <a:off x="7125152" y="1588570"/>
            <a:ext cx="3926075" cy="3000821"/>
          </a:xfrm>
          <a:prstGeom prst="rect">
            <a:avLst/>
          </a:prstGeom>
          <a:noFill/>
          <a:ln>
            <a:solidFill>
              <a:srgbClr val="D67D61"/>
            </a:solidFill>
          </a:ln>
        </p:spPr>
        <p:txBody>
          <a:bodyPr wrap="none" rtlCol="0">
            <a:spAutoFit/>
          </a:bodyPr>
          <a:lstStyle/>
          <a:p>
            <a:pPr>
              <a:lnSpc>
                <a:spcPct val="113095"/>
              </a:lnSpc>
              <a:buNone/>
            </a:pPr>
            <a:r>
              <a:rPr lang="en-US" sz="1200" b="0" dirty="0">
                <a:effectLst/>
                <a:latin typeface="Consolas" panose="020B0609020204030204" pitchFamily="49" charset="0"/>
              </a:rPr>
              <a:t>while True:</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4A82A5"/>
                </a:highlight>
                <a:latin typeface="Consolas" panose="020B0609020204030204" pitchFamily="49" charset="0"/>
              </a:rPr>
              <a:t># </a:t>
            </a:r>
            <a:r>
              <a:rPr lang="ja-JP" altLang="en-US" sz="1200" b="0" dirty="0">
                <a:solidFill>
                  <a:schemeClr val="bg1"/>
                </a:solidFill>
                <a:effectLst/>
                <a:highlight>
                  <a:srgbClr val="4A82A5"/>
                </a:highlight>
                <a:latin typeface="Consolas" panose="020B0609020204030204" pitchFamily="49" charset="0"/>
              </a:rPr>
              <a:t>コマンド：ユーザーから命令を入力する</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command = input("&gt; ")</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76B29F"/>
                </a:highlight>
                <a:latin typeface="Consolas" panose="020B0609020204030204" pitchFamily="49" charset="0"/>
              </a:rPr>
              <a:t># </a:t>
            </a:r>
            <a:r>
              <a:rPr lang="ja-JP" altLang="en-US" sz="1200" b="0" dirty="0">
                <a:solidFill>
                  <a:schemeClr val="bg1"/>
                </a:solidFill>
                <a:effectLst/>
                <a:highlight>
                  <a:srgbClr val="76B29F"/>
                </a:highlight>
                <a:latin typeface="Consolas" panose="020B0609020204030204" pitchFamily="49" charset="0"/>
              </a:rPr>
              <a:t>インタプリタ：入力されたコマンドを判定する</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if command == "hello":</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BB5863"/>
                </a:highlight>
                <a:latin typeface="Consolas" panose="020B0609020204030204" pitchFamily="49" charset="0"/>
              </a:rPr>
              <a:t># </a:t>
            </a:r>
            <a:r>
              <a:rPr lang="ja-JP" altLang="en-US" sz="1200" b="0" dirty="0">
                <a:solidFill>
                  <a:schemeClr val="bg1"/>
                </a:solidFill>
                <a:effectLst/>
                <a:highlight>
                  <a:srgbClr val="BB5863"/>
                </a:highlight>
                <a:latin typeface="Consolas" panose="020B0609020204030204" pitchFamily="49" charset="0"/>
              </a:rPr>
              <a:t>アクション</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print(“Welcome!")</a:t>
            </a:r>
          </a:p>
          <a:p>
            <a:pPr>
              <a:lnSpc>
                <a:spcPct val="113095"/>
              </a:lnSpc>
              <a:buNone/>
            </a:pPr>
            <a:r>
              <a:rPr lang="ja-JP" altLang="en-US" sz="1200" dirty="0">
                <a:latin typeface="Consolas" panose="020B0609020204030204" pitchFamily="49" charset="0"/>
              </a:rPr>
              <a:t>    </a:t>
            </a:r>
            <a:r>
              <a:rPr lang="en-US" altLang="ja-JP" sz="1200" dirty="0" err="1">
                <a:solidFill>
                  <a:schemeClr val="bg1"/>
                </a:solidFill>
                <a:highlight>
                  <a:srgbClr val="76B29F"/>
                </a:highlight>
                <a:latin typeface="Consolas" panose="020B0609020204030204" pitchFamily="49" charset="0"/>
              </a:rPr>
              <a:t>el</a:t>
            </a:r>
            <a:r>
              <a:rPr lang="en-US" sz="1200" dirty="0" err="1">
                <a:solidFill>
                  <a:schemeClr val="bg1"/>
                </a:solidFill>
                <a:highlight>
                  <a:srgbClr val="76B29F"/>
                </a:highlight>
                <a:latin typeface="Consolas" panose="020B0609020204030204" pitchFamily="49" charset="0"/>
              </a:rPr>
              <a:t>if</a:t>
            </a:r>
            <a:r>
              <a:rPr lang="en-US" sz="1200" dirty="0">
                <a:solidFill>
                  <a:schemeClr val="bg1"/>
                </a:solidFill>
                <a:highlight>
                  <a:srgbClr val="76B29F"/>
                </a:highlight>
                <a:latin typeface="Consolas" panose="020B0609020204030204" pitchFamily="49" charset="0"/>
              </a:rPr>
              <a:t> command == “goodbye":</a:t>
            </a:r>
          </a:p>
          <a:p>
            <a:pPr>
              <a:lnSpc>
                <a:spcPct val="113095"/>
              </a:lnSpc>
              <a:buNone/>
            </a:pPr>
            <a:r>
              <a:rPr lang="en-US" sz="1200" dirty="0">
                <a:latin typeface="Consolas" panose="020B0609020204030204" pitchFamily="49" charset="0"/>
              </a:rPr>
              <a:t>        </a:t>
            </a:r>
            <a:r>
              <a:rPr lang="en-US" sz="1200" dirty="0">
                <a:solidFill>
                  <a:schemeClr val="bg1"/>
                </a:solidFill>
                <a:highlight>
                  <a:srgbClr val="BB5863"/>
                </a:highlight>
                <a:latin typeface="Consolas" panose="020B0609020204030204" pitchFamily="49" charset="0"/>
              </a:rPr>
              <a:t># </a:t>
            </a:r>
            <a:r>
              <a:rPr lang="ja-JP" altLang="en-US" sz="1200" dirty="0">
                <a:solidFill>
                  <a:schemeClr val="bg1"/>
                </a:solidFill>
                <a:highlight>
                  <a:srgbClr val="BB5863"/>
                </a:highlight>
                <a:latin typeface="Consolas" panose="020B0609020204030204" pitchFamily="49" charset="0"/>
              </a:rPr>
              <a:t>アクション</a:t>
            </a:r>
          </a:p>
          <a:p>
            <a:pPr>
              <a:lnSpc>
                <a:spcPct val="113095"/>
              </a:lnSpc>
              <a:buNone/>
            </a:pPr>
            <a:r>
              <a:rPr lang="ja-JP" altLang="en-US" sz="1200" dirty="0">
                <a:latin typeface="Consolas" panose="020B0609020204030204" pitchFamily="49" charset="0"/>
              </a:rPr>
              <a:t>        </a:t>
            </a:r>
            <a:r>
              <a:rPr lang="en-US" sz="1200" dirty="0">
                <a:latin typeface="Consolas" panose="020B0609020204030204" pitchFamily="49" charset="0"/>
              </a:rPr>
              <a:t>print(“Later!")</a:t>
            </a:r>
            <a:endParaRPr lang="en-US" sz="1200" b="0" dirty="0">
              <a:effectLst/>
              <a:latin typeface="Consolas" panose="020B0609020204030204" pitchFamily="49" charset="0"/>
            </a:endParaRP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76B29F"/>
                </a:highlight>
                <a:latin typeface="Consolas" panose="020B0609020204030204" pitchFamily="49" charset="0"/>
              </a:rPr>
              <a:t># </a:t>
            </a:r>
            <a:r>
              <a:rPr lang="ja-JP" altLang="en-US" sz="1200" b="0" dirty="0">
                <a:solidFill>
                  <a:schemeClr val="bg1"/>
                </a:solidFill>
                <a:effectLst/>
                <a:highlight>
                  <a:srgbClr val="76B29F"/>
                </a:highlight>
                <a:latin typeface="Consolas" panose="020B0609020204030204" pitchFamily="49" charset="0"/>
              </a:rPr>
              <a:t>インタプリタ</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else:</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BB5863"/>
                </a:highlight>
                <a:latin typeface="Consolas" panose="020B0609020204030204" pitchFamily="49" charset="0"/>
              </a:rPr>
              <a:t># </a:t>
            </a:r>
            <a:r>
              <a:rPr lang="ja-JP" altLang="en-US" sz="1200" b="0" dirty="0">
                <a:solidFill>
                  <a:schemeClr val="bg1"/>
                </a:solidFill>
                <a:effectLst/>
                <a:highlight>
                  <a:srgbClr val="BB5863"/>
                </a:highlight>
                <a:latin typeface="Consolas" panose="020B0609020204030204" pitchFamily="49" charset="0"/>
              </a:rPr>
              <a:t>アクション</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print("Unknown command")</a:t>
            </a:r>
          </a:p>
        </p:txBody>
      </p:sp>
      <p:sp>
        <p:nvSpPr>
          <p:cNvPr id="12" name="TextBox 11">
            <a:extLst>
              <a:ext uri="{FF2B5EF4-FFF2-40B4-BE49-F238E27FC236}">
                <a16:creationId xmlns:a16="http://schemas.microsoft.com/office/drawing/2014/main" id="{1009FF57-8ED6-6ED2-E009-0109AD902CDD}"/>
              </a:ext>
            </a:extLst>
          </p:cNvPr>
          <p:cNvSpPr txBox="1"/>
          <p:nvPr/>
        </p:nvSpPr>
        <p:spPr>
          <a:xfrm>
            <a:off x="1524822" y="1126905"/>
            <a:ext cx="2859822" cy="461665"/>
          </a:xfrm>
          <a:prstGeom prst="rect">
            <a:avLst/>
          </a:prstGeom>
          <a:noFill/>
        </p:spPr>
        <p:txBody>
          <a:bodyPr wrap="none" rtlCol="0">
            <a:spAutoFit/>
          </a:bodyPr>
          <a:lstStyle/>
          <a:p>
            <a:r>
              <a:rPr lang="en-US" sz="2400" dirty="0"/>
              <a:t>Python GUI: </a:t>
            </a:r>
            <a:r>
              <a:rPr lang="en-US" sz="2400" dirty="0" err="1"/>
              <a:t>Tkinter</a:t>
            </a:r>
            <a:endParaRPr lang="en-US" sz="2400" dirty="0"/>
          </a:p>
        </p:txBody>
      </p:sp>
      <p:sp>
        <p:nvSpPr>
          <p:cNvPr id="14" name="TextBox 13">
            <a:extLst>
              <a:ext uri="{FF2B5EF4-FFF2-40B4-BE49-F238E27FC236}">
                <a16:creationId xmlns:a16="http://schemas.microsoft.com/office/drawing/2014/main" id="{AE4F6763-9EF3-C90F-3579-86ADA0754AA4}"/>
              </a:ext>
            </a:extLst>
          </p:cNvPr>
          <p:cNvSpPr txBox="1"/>
          <p:nvPr/>
        </p:nvSpPr>
        <p:spPr>
          <a:xfrm>
            <a:off x="7524363" y="1126905"/>
            <a:ext cx="3127652" cy="461665"/>
          </a:xfrm>
          <a:prstGeom prst="rect">
            <a:avLst/>
          </a:prstGeom>
          <a:noFill/>
        </p:spPr>
        <p:txBody>
          <a:bodyPr wrap="none" rtlCol="0">
            <a:spAutoFit/>
          </a:bodyPr>
          <a:lstStyle/>
          <a:p>
            <a:pPr algn="ctr"/>
            <a:r>
              <a:rPr lang="en-US" sz="2400" dirty="0"/>
              <a:t>Python CUI: </a:t>
            </a:r>
            <a:r>
              <a:rPr lang="ja-JP" altLang="en-US" sz="2400" dirty="0"/>
              <a:t>コマンド</a:t>
            </a:r>
            <a:endParaRPr lang="en-US" sz="2400" dirty="0"/>
          </a:p>
        </p:txBody>
      </p:sp>
      <p:sp>
        <p:nvSpPr>
          <p:cNvPr id="18" name="Rectangle: Rounded Corners 17">
            <a:extLst>
              <a:ext uri="{FF2B5EF4-FFF2-40B4-BE49-F238E27FC236}">
                <a16:creationId xmlns:a16="http://schemas.microsoft.com/office/drawing/2014/main" id="{5E96F367-1F37-8B56-EAB3-713FC83A4AE4}"/>
              </a:ext>
            </a:extLst>
          </p:cNvPr>
          <p:cNvSpPr/>
          <p:nvPr/>
        </p:nvSpPr>
        <p:spPr>
          <a:xfrm>
            <a:off x="6705600" y="4715095"/>
            <a:ext cx="48514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dirty="0"/>
              <a:t>プログラムの制御方式はほぼ似ているが、書き方自体が異なる。</a:t>
            </a:r>
            <a:endParaRPr lang="en-US" sz="2400" dirty="0"/>
          </a:p>
        </p:txBody>
      </p:sp>
      <p:sp>
        <p:nvSpPr>
          <p:cNvPr id="19" name="TextBox 18">
            <a:extLst>
              <a:ext uri="{FF2B5EF4-FFF2-40B4-BE49-F238E27FC236}">
                <a16:creationId xmlns:a16="http://schemas.microsoft.com/office/drawing/2014/main" id="{8DA800F5-B2E9-8D83-B3DC-6BC7F78FEA4E}"/>
              </a:ext>
            </a:extLst>
          </p:cNvPr>
          <p:cNvSpPr txBox="1"/>
          <p:nvPr/>
        </p:nvSpPr>
        <p:spPr>
          <a:xfrm>
            <a:off x="5887747" y="4849129"/>
            <a:ext cx="817853" cy="646331"/>
          </a:xfrm>
          <a:prstGeom prst="rect">
            <a:avLst/>
          </a:prstGeom>
          <a:noFill/>
        </p:spPr>
        <p:txBody>
          <a:bodyPr wrap="none" rtlCol="0">
            <a:spAutoFit/>
          </a:bodyPr>
          <a:lstStyle/>
          <a:p>
            <a:r>
              <a:rPr lang="ja-JP" altLang="en-US" sz="3600" dirty="0"/>
              <a:t>🤔</a:t>
            </a:r>
            <a:endParaRPr lang="en-US" sz="3600" dirty="0"/>
          </a:p>
        </p:txBody>
      </p:sp>
    </p:spTree>
    <p:extLst>
      <p:ext uri="{BB962C8B-B14F-4D97-AF65-F5344CB8AC3E}">
        <p14:creationId xmlns:p14="http://schemas.microsoft.com/office/powerpoint/2010/main" val="3848314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75169A-4650-514A-193F-06ABE64DF9BA}"/>
              </a:ext>
            </a:extLst>
          </p:cNvPr>
          <p:cNvSpPr>
            <a:spLocks noGrp="1"/>
          </p:cNvSpPr>
          <p:nvPr>
            <p:ph type="body" sz="quarter" idx="11"/>
          </p:nvPr>
        </p:nvSpPr>
        <p:spPr/>
        <p:txBody>
          <a:bodyPr>
            <a:normAutofit/>
          </a:bodyPr>
          <a:lstStyle/>
          <a:p>
            <a:r>
              <a:rPr lang="en-US" dirty="0"/>
              <a:t>1-5</a:t>
            </a:r>
            <a:r>
              <a:rPr lang="ja-JP" altLang="en-US" dirty="0"/>
              <a:t>　まとめ</a:t>
            </a:r>
            <a:endParaRPr lang="en-US" dirty="0"/>
          </a:p>
        </p:txBody>
      </p:sp>
      <p:sp>
        <p:nvSpPr>
          <p:cNvPr id="3" name="Text Placeholder 2">
            <a:extLst>
              <a:ext uri="{FF2B5EF4-FFF2-40B4-BE49-F238E27FC236}">
                <a16:creationId xmlns:a16="http://schemas.microsoft.com/office/drawing/2014/main" id="{05D2166E-6395-6775-A7E4-E53A821B56EF}"/>
              </a:ext>
            </a:extLst>
          </p:cNvPr>
          <p:cNvSpPr>
            <a:spLocks noGrp="1"/>
          </p:cNvSpPr>
          <p:nvPr>
            <p:ph type="body" sz="quarter" idx="13"/>
          </p:nvPr>
        </p:nvSpPr>
        <p:spPr>
          <a:xfrm>
            <a:off x="114444" y="1133475"/>
            <a:ext cx="11963109" cy="873125"/>
          </a:xfrm>
        </p:spPr>
        <p:txBody>
          <a:bodyPr/>
          <a:lstStyle/>
          <a:p>
            <a:pPr marL="0" indent="0">
              <a:buNone/>
            </a:pPr>
            <a:r>
              <a:rPr lang="en-US" altLang="ja-JP" dirty="0"/>
              <a:t>GUI</a:t>
            </a:r>
            <a:r>
              <a:rPr lang="ja-JP" altLang="en-US" dirty="0"/>
              <a:t>と</a:t>
            </a:r>
            <a:r>
              <a:rPr lang="en-US" altLang="ja-JP" dirty="0"/>
              <a:t>CUI</a:t>
            </a:r>
            <a:r>
              <a:rPr lang="ja-JP" altLang="en-US" dirty="0"/>
              <a:t>では、ユーザーからの入力方法だけでなく、プログラムの処理方式も異なる。以下に主な違いを示す。</a:t>
            </a:r>
            <a:endParaRPr lang="en-US" dirty="0"/>
          </a:p>
        </p:txBody>
      </p:sp>
      <p:sp>
        <p:nvSpPr>
          <p:cNvPr id="4" name="Slide Number Placeholder 3">
            <a:extLst>
              <a:ext uri="{FF2B5EF4-FFF2-40B4-BE49-F238E27FC236}">
                <a16:creationId xmlns:a16="http://schemas.microsoft.com/office/drawing/2014/main" id="{12057D37-FAA9-F93B-2673-CE04AD5EB5D4}"/>
              </a:ext>
            </a:extLst>
          </p:cNvPr>
          <p:cNvSpPr>
            <a:spLocks noGrp="1"/>
          </p:cNvSpPr>
          <p:nvPr>
            <p:ph type="sldNum" sz="quarter" idx="15"/>
          </p:nvPr>
        </p:nvSpPr>
        <p:spPr/>
        <p:txBody>
          <a:bodyPr/>
          <a:lstStyle/>
          <a:p>
            <a:fld id="{CBD12358-51D2-46B3-9BDE-DF29528B9454}" type="slidenum">
              <a:rPr lang="en-US" smtClean="0"/>
              <a:pPr/>
              <a:t>7</a:t>
            </a:fld>
            <a:endParaRPr lang="en-US" dirty="0"/>
          </a:p>
        </p:txBody>
      </p:sp>
      <p:graphicFrame>
        <p:nvGraphicFramePr>
          <p:cNvPr id="5" name="Table 4">
            <a:extLst>
              <a:ext uri="{FF2B5EF4-FFF2-40B4-BE49-F238E27FC236}">
                <a16:creationId xmlns:a16="http://schemas.microsoft.com/office/drawing/2014/main" id="{89D925B7-DA21-73A0-7796-591EBA6EDA80}"/>
              </a:ext>
            </a:extLst>
          </p:cNvPr>
          <p:cNvGraphicFramePr>
            <a:graphicFrameLocks noGrp="1"/>
          </p:cNvGraphicFramePr>
          <p:nvPr>
            <p:extLst>
              <p:ext uri="{D42A27DB-BD31-4B8C-83A1-F6EECF244321}">
                <p14:modId xmlns:p14="http://schemas.microsoft.com/office/powerpoint/2010/main" val="2588546518"/>
              </p:ext>
            </p:extLst>
          </p:nvPr>
        </p:nvGraphicFramePr>
        <p:xfrm>
          <a:off x="565221" y="2599691"/>
          <a:ext cx="11061553" cy="2251710"/>
        </p:xfrm>
        <a:graphic>
          <a:graphicData uri="http://schemas.openxmlformats.org/drawingml/2006/table">
            <a:tbl>
              <a:tblPr>
                <a:tableStyleId>{72833802-FEF1-4C79-8D5D-14CF1EAF98D9}</a:tableStyleId>
              </a:tblPr>
              <a:tblGrid>
                <a:gridCol w="3388165">
                  <a:extLst>
                    <a:ext uri="{9D8B030D-6E8A-4147-A177-3AD203B41FA5}">
                      <a16:colId xmlns:a16="http://schemas.microsoft.com/office/drawing/2014/main" val="2554633427"/>
                    </a:ext>
                  </a:extLst>
                </a:gridCol>
                <a:gridCol w="4982217">
                  <a:extLst>
                    <a:ext uri="{9D8B030D-6E8A-4147-A177-3AD203B41FA5}">
                      <a16:colId xmlns:a16="http://schemas.microsoft.com/office/drawing/2014/main" val="482106640"/>
                    </a:ext>
                  </a:extLst>
                </a:gridCol>
                <a:gridCol w="2691171">
                  <a:extLst>
                    <a:ext uri="{9D8B030D-6E8A-4147-A177-3AD203B41FA5}">
                      <a16:colId xmlns:a16="http://schemas.microsoft.com/office/drawing/2014/main" val="2362644602"/>
                    </a:ext>
                  </a:extLst>
                </a:gridCol>
              </a:tblGrid>
              <a:tr h="190500">
                <a:tc>
                  <a:txBody>
                    <a:bodyPr/>
                    <a:lstStyle/>
                    <a:p>
                      <a:pPr algn="ctr" fontAlgn="ctr">
                        <a:buNone/>
                      </a:pPr>
                      <a:endParaRPr lang="en-US" sz="2400" b="1" i="0" u="none" strike="noStrike" dirty="0">
                        <a:solidFill>
                          <a:schemeClr val="bg1"/>
                        </a:solidFill>
                        <a:effectLst/>
                        <a:latin typeface="Aptos Narrow" panose="020B00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2400" b="1" u="none" strike="noStrike">
                          <a:solidFill>
                            <a:schemeClr val="bg1"/>
                          </a:solidFill>
                          <a:effectLst/>
                        </a:rPr>
                        <a:t>GUI</a:t>
                      </a:r>
                      <a:endParaRPr lang="en-US" sz="2400" b="1" i="0" u="none" strike="noStrike">
                        <a:solidFill>
                          <a:schemeClr val="bg1"/>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91EF"/>
                    </a:solidFill>
                  </a:tcPr>
                </a:tc>
                <a:tc>
                  <a:txBody>
                    <a:bodyPr/>
                    <a:lstStyle/>
                    <a:p>
                      <a:pPr algn="ctr" fontAlgn="ctr">
                        <a:buNone/>
                      </a:pPr>
                      <a:r>
                        <a:rPr lang="en-US" sz="2400" b="1" u="none" strike="noStrike" dirty="0">
                          <a:solidFill>
                            <a:schemeClr val="bg1"/>
                          </a:solidFill>
                          <a:effectLst/>
                        </a:rPr>
                        <a:t>CUI</a:t>
                      </a:r>
                      <a:endParaRPr lang="en-US" sz="2400" b="1" i="0" u="none" strike="noStrike" dirty="0">
                        <a:solidFill>
                          <a:schemeClr val="bg1"/>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91EF"/>
                    </a:solidFill>
                  </a:tcPr>
                </a:tc>
                <a:extLst>
                  <a:ext uri="{0D108BD9-81ED-4DB2-BD59-A6C34878D82A}">
                    <a16:rowId xmlns:a16="http://schemas.microsoft.com/office/drawing/2014/main" val="2139630507"/>
                  </a:ext>
                </a:extLst>
              </a:tr>
              <a:tr h="238125">
                <a:tc>
                  <a:txBody>
                    <a:bodyPr/>
                    <a:lstStyle/>
                    <a:p>
                      <a:pPr algn="l" fontAlgn="ctr">
                        <a:buNone/>
                      </a:pPr>
                      <a:r>
                        <a:rPr lang="en-US" sz="2400" u="none" strike="noStrike">
                          <a:effectLst/>
                        </a:rPr>
                        <a:t>インターフェース</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ボタン、ウィンドウ、メニュー</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テキストコマンド</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4641644"/>
                  </a:ext>
                </a:extLst>
              </a:tr>
              <a:tr h="190500">
                <a:tc>
                  <a:txBody>
                    <a:bodyPr/>
                    <a:lstStyle/>
                    <a:p>
                      <a:pPr algn="l" fontAlgn="ctr">
                        <a:buNone/>
                      </a:pPr>
                      <a:r>
                        <a:rPr lang="en-US" sz="2400" u="none" strike="noStrike">
                          <a:effectLst/>
                        </a:rPr>
                        <a:t>ユーザー入力</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ja-JP" altLang="en-US" sz="2400" b="0" i="0" u="none" strike="noStrike" dirty="0">
                          <a:solidFill>
                            <a:srgbClr val="000000"/>
                          </a:solidFill>
                          <a:effectLst/>
                          <a:latin typeface="Aptos Narrow" panose="020B0004020202020204" pitchFamily="34" charset="0"/>
                        </a:rPr>
                        <a:t>クリック、キー入力、マウス操作</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コマンド入力</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3589100"/>
                  </a:ext>
                </a:extLst>
              </a:tr>
              <a:tr h="190500">
                <a:tc>
                  <a:txBody>
                    <a:bodyPr/>
                    <a:lstStyle/>
                    <a:p>
                      <a:pPr algn="l" fontAlgn="ctr">
                        <a:buNone/>
                      </a:pPr>
                      <a:r>
                        <a:rPr lang="en-US" sz="2400" u="none" strike="noStrike">
                          <a:effectLst/>
                        </a:rPr>
                        <a:t>動作方式</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イベント駆動型</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コマンド駆動型</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70198397"/>
                  </a:ext>
                </a:extLst>
              </a:tr>
              <a:tr h="190500">
                <a:tc>
                  <a:txBody>
                    <a:bodyPr/>
                    <a:lstStyle/>
                    <a:p>
                      <a:pPr algn="l" fontAlgn="ctr">
                        <a:buNone/>
                      </a:pPr>
                      <a:r>
                        <a:rPr lang="en-US" sz="2400" u="none" strike="noStrike">
                          <a:effectLst/>
                        </a:rPr>
                        <a:t>プログラムが待つもの</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ja-JP" altLang="en-US" sz="2400" b="0" i="0" u="none" strike="noStrike" dirty="0">
                          <a:solidFill>
                            <a:srgbClr val="000000"/>
                          </a:solidFill>
                          <a:effectLst/>
                          <a:latin typeface="Aptos Narrow" panose="020B0004020202020204" pitchFamily="34" charset="0"/>
                        </a:rPr>
                        <a:t>イベント</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コマンド</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8498539"/>
                  </a:ext>
                </a:extLst>
              </a:tr>
              <a:tr h="190500">
                <a:tc>
                  <a:txBody>
                    <a:bodyPr/>
                    <a:lstStyle/>
                    <a:p>
                      <a:pPr algn="l" fontAlgn="ctr">
                        <a:buNone/>
                      </a:pPr>
                      <a:r>
                        <a:rPr lang="en-US" sz="2400" u="none" strike="noStrike">
                          <a:effectLst/>
                        </a:rPr>
                        <a:t>例</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b="0" i="0" u="none" strike="noStrike" dirty="0" err="1">
                          <a:solidFill>
                            <a:srgbClr val="000000"/>
                          </a:solidFill>
                          <a:effectLst/>
                          <a:latin typeface="Aptos Narrow" panose="020B0004020202020204" pitchFamily="34" charset="0"/>
                        </a:rPr>
                        <a:t>Tkinter</a:t>
                      </a:r>
                      <a:r>
                        <a:rPr lang="ja-JP" altLang="en-US" sz="2400" b="0" i="0" u="none" strike="noStrike" dirty="0">
                          <a:solidFill>
                            <a:srgbClr val="000000"/>
                          </a:solidFill>
                          <a:effectLst/>
                          <a:latin typeface="Aptos Narrow" panose="020B0004020202020204" pitchFamily="34" charset="0"/>
                        </a:rPr>
                        <a:t>、</a:t>
                      </a:r>
                      <a:r>
                        <a:rPr lang="en-US" altLang="ja-JP" sz="2400" b="0" i="0" u="none" strike="noStrike" dirty="0">
                          <a:solidFill>
                            <a:srgbClr val="000000"/>
                          </a:solidFill>
                          <a:effectLst/>
                          <a:latin typeface="Aptos Narrow" panose="020B0004020202020204" pitchFamily="34" charset="0"/>
                        </a:rPr>
                        <a:t>Qt</a:t>
                      </a:r>
                      <a:r>
                        <a:rPr lang="ja-JP" altLang="en-US" sz="2400" b="0" i="0" u="none" strike="noStrike" dirty="0">
                          <a:solidFill>
                            <a:srgbClr val="000000"/>
                          </a:solidFill>
                          <a:effectLst/>
                          <a:latin typeface="Aptos Narrow" panose="020B0004020202020204" pitchFamily="34" charset="0"/>
                        </a:rPr>
                        <a:t>、</a:t>
                      </a:r>
                      <a:r>
                        <a:rPr lang="en-US" altLang="ja-JP" sz="2400" b="0" i="0" u="none" strike="noStrike" dirty="0">
                          <a:solidFill>
                            <a:srgbClr val="000000"/>
                          </a:solidFill>
                          <a:effectLst/>
                          <a:latin typeface="Aptos Narrow" panose="020B0004020202020204" pitchFamily="34" charset="0"/>
                        </a:rPr>
                        <a:t>Flet</a:t>
                      </a:r>
                      <a:r>
                        <a:rPr lang="ja-JP" altLang="en-US" sz="2400" b="0" i="0" u="none" strike="noStrike" dirty="0">
                          <a:solidFill>
                            <a:srgbClr val="000000"/>
                          </a:solidFill>
                          <a:effectLst/>
                          <a:latin typeface="Aptos Narrow" panose="020B0004020202020204" pitchFamily="34" charset="0"/>
                        </a:rPr>
                        <a:t>等</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b="0" i="0" u="none" strike="noStrike" dirty="0">
                          <a:solidFill>
                            <a:srgbClr val="000000"/>
                          </a:solidFill>
                          <a:effectLst/>
                          <a:latin typeface="Arial Unicode MS"/>
                        </a:rPr>
                        <a:t>input() </a:t>
                      </a:r>
                      <a:r>
                        <a:rPr lang="ja-JP" altLang="en-US" sz="2400" b="0" i="0" u="none" strike="noStrike" dirty="0">
                          <a:solidFill>
                            <a:srgbClr val="000000"/>
                          </a:solidFill>
                          <a:effectLst/>
                          <a:latin typeface="Arial Unicode MS"/>
                        </a:rPr>
                        <a:t>ループ</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1380518"/>
                  </a:ext>
                </a:extLst>
              </a:tr>
            </a:tbl>
          </a:graphicData>
        </a:graphic>
      </p:graphicFrame>
    </p:spTree>
    <p:extLst>
      <p:ext uri="{BB962C8B-B14F-4D97-AF65-F5344CB8AC3E}">
        <p14:creationId xmlns:p14="http://schemas.microsoft.com/office/powerpoint/2010/main" val="2752715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751B4C7-AE63-90CB-1AAF-D2CBB781109C}"/>
              </a:ext>
            </a:extLst>
          </p:cNvPr>
          <p:cNvSpPr>
            <a:spLocks noGrp="1"/>
          </p:cNvSpPr>
          <p:nvPr>
            <p:ph type="body" sz="quarter" idx="11"/>
          </p:nvPr>
        </p:nvSpPr>
        <p:spPr/>
        <p:txBody>
          <a:bodyPr/>
          <a:lstStyle/>
          <a:p>
            <a:r>
              <a:rPr lang="en-US" dirty="0"/>
              <a:t>2-1</a:t>
            </a:r>
            <a:r>
              <a:rPr lang="ja-JP" altLang="en-US" dirty="0"/>
              <a:t>　</a:t>
            </a:r>
            <a:r>
              <a:rPr lang="en-US" dirty="0" err="1"/>
              <a:t>Tkinter</a:t>
            </a:r>
            <a:r>
              <a:rPr lang="ja-JP" altLang="en-US" dirty="0"/>
              <a:t>とは</a:t>
            </a:r>
            <a:endParaRPr lang="en-US" dirty="0"/>
          </a:p>
        </p:txBody>
      </p:sp>
      <p:sp>
        <p:nvSpPr>
          <p:cNvPr id="5" name="Title 4">
            <a:extLst>
              <a:ext uri="{FF2B5EF4-FFF2-40B4-BE49-F238E27FC236}">
                <a16:creationId xmlns:a16="http://schemas.microsoft.com/office/drawing/2014/main" id="{B9DD6A49-2CE2-7F6B-64E0-E054735A20AD}"/>
              </a:ext>
            </a:extLst>
          </p:cNvPr>
          <p:cNvSpPr>
            <a:spLocks noGrp="1"/>
          </p:cNvSpPr>
          <p:nvPr>
            <p:ph type="title"/>
          </p:nvPr>
        </p:nvSpPr>
        <p:spPr/>
        <p:txBody>
          <a:bodyPr/>
          <a:lstStyle/>
          <a:p>
            <a:r>
              <a:rPr lang="en-US" dirty="0"/>
              <a:t>2 </a:t>
            </a:r>
            <a:r>
              <a:rPr lang="en-US" altLang="ja-JP" dirty="0" err="1"/>
              <a:t>Tkinter</a:t>
            </a:r>
            <a:r>
              <a:rPr lang="ja-JP" altLang="en-US" dirty="0"/>
              <a:t>の基礎</a:t>
            </a:r>
            <a:endParaRPr lang="en-US" dirty="0"/>
          </a:p>
        </p:txBody>
      </p:sp>
      <p:sp>
        <p:nvSpPr>
          <p:cNvPr id="7" name="Text Placeholder 6">
            <a:extLst>
              <a:ext uri="{FF2B5EF4-FFF2-40B4-BE49-F238E27FC236}">
                <a16:creationId xmlns:a16="http://schemas.microsoft.com/office/drawing/2014/main" id="{5EB5B0F5-5ED1-DF5C-29E3-B4AE8859C032}"/>
              </a:ext>
            </a:extLst>
          </p:cNvPr>
          <p:cNvSpPr>
            <a:spLocks noGrp="1"/>
          </p:cNvSpPr>
          <p:nvPr>
            <p:ph type="body" sz="quarter" idx="13"/>
          </p:nvPr>
        </p:nvSpPr>
        <p:spPr>
          <a:xfrm>
            <a:off x="114445" y="1724025"/>
            <a:ext cx="4965555" cy="4686300"/>
          </a:xfrm>
        </p:spPr>
        <p:txBody>
          <a:bodyPr>
            <a:normAutofit/>
          </a:bodyPr>
          <a:lstStyle/>
          <a:p>
            <a:pPr algn="just"/>
            <a:r>
              <a:rPr lang="en-US" altLang="ja-JP" dirty="0" err="1"/>
              <a:t>Tkinter</a:t>
            </a:r>
            <a:r>
              <a:rPr lang="ja-JP" altLang="en-US" dirty="0"/>
              <a:t>（ティーキンター）は、</a:t>
            </a:r>
            <a:r>
              <a:rPr lang="en-US" altLang="ja-JP" dirty="0"/>
              <a:t>Python</a:t>
            </a:r>
            <a:r>
              <a:rPr lang="ja-JP" altLang="en-US" dirty="0"/>
              <a:t>で</a:t>
            </a:r>
            <a:r>
              <a:rPr lang="en-US" altLang="ja-JP" dirty="0">
                <a:solidFill>
                  <a:srgbClr val="D67D61"/>
                </a:solidFill>
              </a:rPr>
              <a:t>GUI</a:t>
            </a:r>
            <a:r>
              <a:rPr lang="ja-JP" altLang="en-US" dirty="0">
                <a:solidFill>
                  <a:srgbClr val="D67D61"/>
                </a:solidFill>
              </a:rPr>
              <a:t>を作成するための標準ライブラリ</a:t>
            </a:r>
            <a:r>
              <a:rPr lang="ja-JP" altLang="en-US" dirty="0"/>
              <a:t>である。ボタン、テキストボックス、メニュー、ウィンドウなどを簡単に作成できる。</a:t>
            </a:r>
            <a:endParaRPr lang="en-US" altLang="ja-JP" dirty="0"/>
          </a:p>
          <a:p>
            <a:pPr algn="just"/>
            <a:r>
              <a:rPr lang="en-US" altLang="ja-JP" dirty="0"/>
              <a:t>Python</a:t>
            </a:r>
            <a:r>
              <a:rPr lang="ja-JP" altLang="en-US" dirty="0"/>
              <a:t>に標準で含まれているため、基本的には追加のインストールなしで利用できる。</a:t>
            </a:r>
            <a:endParaRPr lang="en-US" altLang="ja-JP" dirty="0"/>
          </a:p>
          <a:p>
            <a:pPr algn="just"/>
            <a:endParaRPr lang="en-US" dirty="0"/>
          </a:p>
          <a:p>
            <a:pPr marL="0" indent="0" algn="just">
              <a:buNone/>
            </a:pPr>
            <a:endParaRPr lang="en-US" sz="2000" dirty="0"/>
          </a:p>
          <a:p>
            <a:pPr marL="0" indent="0" algn="just">
              <a:buNone/>
            </a:pPr>
            <a:r>
              <a:rPr lang="en-US" altLang="ja-JP" sz="2000" dirty="0"/>
              <a:t>※ </a:t>
            </a:r>
            <a:r>
              <a:rPr lang="ja-JP" altLang="en-US" sz="2000" dirty="0"/>
              <a:t>この講義では、</a:t>
            </a:r>
            <a:r>
              <a:rPr lang="en-US" altLang="ja-JP" sz="2000" dirty="0"/>
              <a:t>Python</a:t>
            </a:r>
            <a:r>
              <a:rPr lang="ja-JP" altLang="en-US" sz="2000" dirty="0"/>
              <a:t>の詳細な内容については扱わない。必要に応じて</a:t>
            </a:r>
            <a:r>
              <a:rPr lang="ja-JP" altLang="en-US" sz="2000" dirty="0">
                <a:solidFill>
                  <a:srgbClr val="FF0000"/>
                </a:solidFill>
              </a:rPr>
              <a:t>各自で復習</a:t>
            </a:r>
            <a:r>
              <a:rPr lang="ja-JP" altLang="en-US" sz="2000" dirty="0"/>
              <a:t>すること。</a:t>
            </a:r>
            <a:endParaRPr lang="en-US" sz="2000" dirty="0"/>
          </a:p>
        </p:txBody>
      </p:sp>
      <p:sp>
        <p:nvSpPr>
          <p:cNvPr id="4" name="Slide Number Placeholder 3">
            <a:extLst>
              <a:ext uri="{FF2B5EF4-FFF2-40B4-BE49-F238E27FC236}">
                <a16:creationId xmlns:a16="http://schemas.microsoft.com/office/drawing/2014/main" id="{AE96BED5-54F7-FEDB-1562-2A6FA642F95B}"/>
              </a:ext>
            </a:extLst>
          </p:cNvPr>
          <p:cNvSpPr>
            <a:spLocks noGrp="1"/>
          </p:cNvSpPr>
          <p:nvPr>
            <p:ph type="sldNum" sz="quarter" idx="15"/>
          </p:nvPr>
        </p:nvSpPr>
        <p:spPr/>
        <p:txBody>
          <a:bodyPr/>
          <a:lstStyle/>
          <a:p>
            <a:fld id="{CBD12358-51D2-46B3-9BDE-DF29528B9454}" type="slidenum">
              <a:rPr lang="en-US" smtClean="0"/>
              <a:pPr/>
              <a:t>8</a:t>
            </a:fld>
            <a:endParaRPr lang="en-US" dirty="0"/>
          </a:p>
        </p:txBody>
      </p:sp>
      <p:pic>
        <p:nvPicPr>
          <p:cNvPr id="11" name="Picture 10">
            <a:extLst>
              <a:ext uri="{FF2B5EF4-FFF2-40B4-BE49-F238E27FC236}">
                <a16:creationId xmlns:a16="http://schemas.microsoft.com/office/drawing/2014/main" id="{936766C7-9F92-DD0F-1645-8CB4019C7386}"/>
              </a:ext>
            </a:extLst>
          </p:cNvPr>
          <p:cNvPicPr>
            <a:picLocks noChangeAspect="1"/>
          </p:cNvPicPr>
          <p:nvPr/>
        </p:nvPicPr>
        <p:blipFill>
          <a:blip r:embed="rId2"/>
          <a:stretch>
            <a:fillRect/>
          </a:stretch>
        </p:blipFill>
        <p:spPr>
          <a:xfrm>
            <a:off x="5392211" y="1797886"/>
            <a:ext cx="6456890" cy="4600432"/>
          </a:xfrm>
          <a:prstGeom prst="rect">
            <a:avLst/>
          </a:prstGeom>
          <a:ln>
            <a:solidFill>
              <a:srgbClr val="D67D61"/>
            </a:solidFill>
          </a:ln>
        </p:spPr>
      </p:pic>
    </p:spTree>
    <p:extLst>
      <p:ext uri="{BB962C8B-B14F-4D97-AF65-F5344CB8AC3E}">
        <p14:creationId xmlns:p14="http://schemas.microsoft.com/office/powerpoint/2010/main" val="522099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20DCBE6-596C-A0FC-E508-484365FED820}"/>
              </a:ext>
            </a:extLst>
          </p:cNvPr>
          <p:cNvSpPr>
            <a:spLocks noGrp="1"/>
          </p:cNvSpPr>
          <p:nvPr>
            <p:ph type="body" sz="quarter" idx="11"/>
          </p:nvPr>
        </p:nvSpPr>
        <p:spPr/>
        <p:txBody>
          <a:bodyPr/>
          <a:lstStyle/>
          <a:p>
            <a:r>
              <a:rPr lang="en-US" dirty="0"/>
              <a:t>2-2</a:t>
            </a:r>
            <a:r>
              <a:rPr lang="ja-JP" altLang="en-US" dirty="0"/>
              <a:t>　</a:t>
            </a:r>
            <a:r>
              <a:rPr lang="en-US" dirty="0"/>
              <a:t>1</a:t>
            </a:r>
            <a:r>
              <a:rPr lang="ja-JP" altLang="en-US" dirty="0"/>
              <a:t>枚のウィンドウを表示するアプリ ①</a:t>
            </a:r>
            <a:endParaRPr lang="en-US" dirty="0"/>
          </a:p>
        </p:txBody>
      </p:sp>
      <p:sp>
        <p:nvSpPr>
          <p:cNvPr id="7" name="Text Placeholder 6">
            <a:extLst>
              <a:ext uri="{FF2B5EF4-FFF2-40B4-BE49-F238E27FC236}">
                <a16:creationId xmlns:a16="http://schemas.microsoft.com/office/drawing/2014/main" id="{009A89FE-5850-1FE8-C5AF-13058B3EFE32}"/>
              </a:ext>
            </a:extLst>
          </p:cNvPr>
          <p:cNvSpPr>
            <a:spLocks noGrp="1"/>
          </p:cNvSpPr>
          <p:nvPr>
            <p:ph type="body" sz="quarter" idx="13"/>
          </p:nvPr>
        </p:nvSpPr>
        <p:spPr>
          <a:xfrm>
            <a:off x="114443" y="1133475"/>
            <a:ext cx="5981557" cy="4645025"/>
          </a:xfrm>
        </p:spPr>
        <p:txBody>
          <a:bodyPr>
            <a:normAutofit/>
          </a:bodyPr>
          <a:lstStyle/>
          <a:p>
            <a:pPr algn="just"/>
            <a:r>
              <a:rPr lang="en-US" altLang="ja-JP" dirty="0"/>
              <a:t>Windows</a:t>
            </a:r>
            <a:r>
              <a:rPr lang="ja-JP" altLang="en-US" dirty="0"/>
              <a:t>デスクトップにある</a:t>
            </a:r>
            <a:r>
              <a:rPr lang="en-US" altLang="ja-JP" dirty="0"/>
              <a:t>VS Code</a:t>
            </a:r>
            <a:r>
              <a:rPr lang="ja-JP" altLang="en-US" dirty="0"/>
              <a:t>を立ち上げて、右側に書いてあるコードを書いてみよ。</a:t>
            </a:r>
            <a:endParaRPr lang="en-US" altLang="ja-JP" dirty="0"/>
          </a:p>
          <a:p>
            <a:pPr algn="just"/>
            <a:r>
              <a:rPr lang="ja-JP" altLang="en-US" dirty="0"/>
              <a:t>書いた後、</a:t>
            </a:r>
            <a:r>
              <a:rPr lang="en-US" altLang="ja-JP" dirty="0"/>
              <a:t>VS Code</a:t>
            </a:r>
            <a:r>
              <a:rPr lang="ja-JP" altLang="en-US" dirty="0"/>
              <a:t>の「</a:t>
            </a:r>
            <a:r>
              <a:rPr lang="en-US" altLang="ja-JP" dirty="0"/>
              <a:t>Run</a:t>
            </a:r>
            <a:r>
              <a:rPr lang="ja-JP" altLang="en-US" dirty="0"/>
              <a:t>」→「</a:t>
            </a:r>
            <a:r>
              <a:rPr lang="en-US" altLang="ja-JP" dirty="0"/>
              <a:t>Run Without Debugging</a:t>
            </a:r>
            <a:r>
              <a:rPr lang="ja-JP" altLang="en-US" dirty="0"/>
              <a:t>」のメニューをクリックして、実行してみよ。</a:t>
            </a:r>
            <a:endParaRPr lang="en-US" altLang="ja-JP" dirty="0"/>
          </a:p>
          <a:p>
            <a:pPr algn="just"/>
            <a:r>
              <a:rPr lang="ja-JP" altLang="en-US" dirty="0"/>
              <a:t>確認後、ウィンドウ右上の「</a:t>
            </a:r>
            <a:r>
              <a:rPr lang="en-US" altLang="ja-JP" dirty="0"/>
              <a:t>×</a:t>
            </a:r>
            <a:r>
              <a:rPr lang="ja-JP" altLang="en-US" dirty="0"/>
              <a:t>」を押して終了してみよう。</a:t>
            </a:r>
            <a:endParaRPr lang="en-US" altLang="ja-JP" dirty="0"/>
          </a:p>
          <a:p>
            <a:pPr algn="just"/>
            <a:r>
              <a:rPr lang="ja-JP" altLang="en-US" dirty="0"/>
              <a:t>結果を観察して、</a:t>
            </a:r>
            <a:r>
              <a:rPr lang="en-US" altLang="ja-JP" dirty="0"/>
              <a:t>title</a:t>
            </a:r>
            <a:r>
              <a:rPr lang="ja-JP" altLang="en-US" dirty="0"/>
              <a:t>で表示したテキストと</a:t>
            </a:r>
            <a:r>
              <a:rPr lang="en-US" altLang="ja-JP" dirty="0"/>
              <a:t>geometry</a:t>
            </a:r>
            <a:r>
              <a:rPr lang="ja-JP" altLang="en-US" dirty="0"/>
              <a:t>でのウィンドウサイズを調整してみよ。</a:t>
            </a:r>
            <a:endParaRPr lang="en-US" altLang="ja-JP" dirty="0"/>
          </a:p>
        </p:txBody>
      </p:sp>
      <p:sp>
        <p:nvSpPr>
          <p:cNvPr id="5" name="Slide Number Placeholder 4">
            <a:extLst>
              <a:ext uri="{FF2B5EF4-FFF2-40B4-BE49-F238E27FC236}">
                <a16:creationId xmlns:a16="http://schemas.microsoft.com/office/drawing/2014/main" id="{16B7C7D2-C7F8-2266-9403-4706CB882428}"/>
              </a:ext>
            </a:extLst>
          </p:cNvPr>
          <p:cNvSpPr>
            <a:spLocks noGrp="1"/>
          </p:cNvSpPr>
          <p:nvPr>
            <p:ph type="sldNum" sz="quarter" idx="15"/>
          </p:nvPr>
        </p:nvSpPr>
        <p:spPr/>
        <p:txBody>
          <a:bodyPr/>
          <a:lstStyle/>
          <a:p>
            <a:fld id="{CBD12358-51D2-46B3-9BDE-DF29528B9454}" type="slidenum">
              <a:rPr lang="en-US" smtClean="0"/>
              <a:pPr/>
              <a:t>9</a:t>
            </a:fld>
            <a:endParaRPr lang="en-US" dirty="0"/>
          </a:p>
        </p:txBody>
      </p:sp>
      <p:sp>
        <p:nvSpPr>
          <p:cNvPr id="8" name="TextBox 7">
            <a:extLst>
              <a:ext uri="{FF2B5EF4-FFF2-40B4-BE49-F238E27FC236}">
                <a16:creationId xmlns:a16="http://schemas.microsoft.com/office/drawing/2014/main" id="{A6921993-5E7D-F3E9-6304-D4E9B8639492}"/>
              </a:ext>
            </a:extLst>
          </p:cNvPr>
          <p:cNvSpPr txBox="1"/>
          <p:nvPr/>
        </p:nvSpPr>
        <p:spPr>
          <a:xfrm>
            <a:off x="114444" y="6190218"/>
            <a:ext cx="6240747" cy="369332"/>
          </a:xfrm>
          <a:prstGeom prst="rect">
            <a:avLst/>
          </a:prstGeom>
          <a:noFill/>
        </p:spPr>
        <p:txBody>
          <a:bodyPr wrap="none" rtlCol="0">
            <a:spAutoFit/>
          </a:bodyPr>
          <a:lstStyle/>
          <a:p>
            <a:r>
              <a:rPr lang="en-US" altLang="ja-JP" dirty="0"/>
              <a:t>『</a:t>
            </a:r>
            <a:r>
              <a:rPr lang="en-US"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部、第</a:t>
            </a:r>
            <a:r>
              <a:rPr lang="en-US" altLang="ja-JP" dirty="0"/>
              <a:t>2</a:t>
            </a:r>
            <a:r>
              <a:rPr lang="ja-JP" altLang="en-US" dirty="0"/>
              <a:t>章</a:t>
            </a:r>
            <a:endParaRPr lang="en-US" dirty="0"/>
          </a:p>
        </p:txBody>
      </p:sp>
      <p:sp>
        <p:nvSpPr>
          <p:cNvPr id="9" name="TextBox 8">
            <a:extLst>
              <a:ext uri="{FF2B5EF4-FFF2-40B4-BE49-F238E27FC236}">
                <a16:creationId xmlns:a16="http://schemas.microsoft.com/office/drawing/2014/main" id="{632FAFCA-2E56-9BAB-4948-8F70B76F4445}"/>
              </a:ext>
            </a:extLst>
          </p:cNvPr>
          <p:cNvSpPr txBox="1"/>
          <p:nvPr/>
        </p:nvSpPr>
        <p:spPr>
          <a:xfrm>
            <a:off x="6898101" y="1305341"/>
            <a:ext cx="4121641" cy="3539430"/>
          </a:xfrm>
          <a:prstGeom prst="rect">
            <a:avLst/>
          </a:prstGeom>
          <a:noFill/>
          <a:ln>
            <a:solidFill>
              <a:schemeClr val="tx1"/>
            </a:solidFill>
          </a:ln>
        </p:spPr>
        <p:txBody>
          <a:bodyPr wrap="none" rtlCol="0">
            <a:spAutoFit/>
          </a:bodyPr>
          <a:lstStyle/>
          <a:p>
            <a:r>
              <a:rPr lang="en-US" altLang="ja-JP" sz="1600" dirty="0">
                <a:latin typeface="Consolas" panose="020B0609020204030204" pitchFamily="49" charset="0"/>
              </a:rPr>
              <a:t># </a:t>
            </a:r>
            <a:r>
              <a:rPr lang="en-US" altLang="ja-JP" sz="1600" dirty="0" err="1">
                <a:latin typeface="Consolas" panose="020B0609020204030204" pitchFamily="49" charset="0"/>
              </a:rPr>
              <a:t>Tkinter</a:t>
            </a:r>
            <a:r>
              <a:rPr lang="ja-JP" altLang="en-US" sz="1600" dirty="0">
                <a:latin typeface="Consolas" panose="020B0609020204030204" pitchFamily="49" charset="0"/>
              </a:rPr>
              <a:t>ライブラリのインポート</a:t>
            </a:r>
          </a:p>
          <a:p>
            <a:r>
              <a:rPr lang="en-US" altLang="ja-JP" sz="1600" dirty="0">
                <a:latin typeface="Consolas" panose="020B0609020204030204" pitchFamily="49" charset="0"/>
              </a:rPr>
              <a:t>import </a:t>
            </a:r>
            <a:r>
              <a:rPr lang="en-US" altLang="ja-JP" sz="1600" dirty="0" err="1">
                <a:latin typeface="Consolas" panose="020B0609020204030204" pitchFamily="49" charset="0"/>
              </a:rPr>
              <a:t>tkinter</a:t>
            </a:r>
            <a:r>
              <a:rPr lang="en-US" altLang="ja-JP" sz="1600" dirty="0">
                <a:latin typeface="Consolas" panose="020B0609020204030204" pitchFamily="49" charset="0"/>
              </a:rPr>
              <a:t> as </a:t>
            </a:r>
            <a:r>
              <a:rPr lang="en-US" altLang="ja-JP" sz="1600" dirty="0" err="1">
                <a:latin typeface="Consolas" panose="020B0609020204030204" pitchFamily="49" charset="0"/>
              </a:rPr>
              <a:t>tk</a:t>
            </a:r>
            <a:endParaRPr lang="en-US" altLang="ja-JP" sz="1600" dirty="0">
              <a:latin typeface="Consolas" panose="020B0609020204030204" pitchFamily="49" charset="0"/>
            </a:endParaRPr>
          </a:p>
          <a:p>
            <a:endParaRPr lang="en-US" altLang="ja-JP" sz="1600" dirty="0">
              <a:latin typeface="Consolas" panose="020B0609020204030204" pitchFamily="49" charset="0"/>
            </a:endParaRPr>
          </a:p>
          <a:p>
            <a:r>
              <a:rPr lang="en-US" altLang="ja-JP" sz="1600" dirty="0">
                <a:latin typeface="Consolas" panose="020B0609020204030204" pitchFamily="49" charset="0"/>
              </a:rPr>
              <a:t># Tk</a:t>
            </a:r>
            <a:r>
              <a:rPr lang="ja-JP" altLang="en-US" sz="1600" dirty="0">
                <a:latin typeface="Consolas" panose="020B0609020204030204" pitchFamily="49" charset="0"/>
              </a:rPr>
              <a:t>オブジェクトの生成（トップレベル）</a:t>
            </a:r>
          </a:p>
          <a:p>
            <a:r>
              <a:rPr lang="en-US" altLang="ja-JP" sz="1600" dirty="0">
                <a:latin typeface="Consolas" panose="020B0609020204030204" pitchFamily="49" charset="0"/>
              </a:rPr>
              <a:t>root = </a:t>
            </a:r>
            <a:r>
              <a:rPr lang="en-US" altLang="ja-JP" sz="1600" dirty="0" err="1">
                <a:latin typeface="Consolas" panose="020B0609020204030204" pitchFamily="49" charset="0"/>
              </a:rPr>
              <a:t>tk.Tk</a:t>
            </a:r>
            <a:r>
              <a:rPr lang="en-US" altLang="ja-JP" sz="1600" dirty="0">
                <a:latin typeface="Consolas" panose="020B0609020204030204" pitchFamily="49" charset="0"/>
              </a:rPr>
              <a:t>()</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ウインドウのタイトルの設定</a:t>
            </a:r>
          </a:p>
          <a:p>
            <a:r>
              <a:rPr lang="en-US" altLang="ja-JP" sz="1600" dirty="0" err="1">
                <a:latin typeface="Consolas" panose="020B0609020204030204" pitchFamily="49" charset="0"/>
              </a:rPr>
              <a:t>root.title</a:t>
            </a:r>
            <a:r>
              <a:rPr lang="en-US" altLang="ja-JP" sz="1600" dirty="0">
                <a:latin typeface="Consolas" panose="020B0609020204030204" pitchFamily="49" charset="0"/>
              </a:rPr>
              <a:t>(“Hello</a:t>
            </a:r>
            <a:r>
              <a:rPr lang="ja-JP" altLang="en-US" sz="1600" dirty="0">
                <a:latin typeface="Consolas" panose="020B0609020204030204" pitchFamily="49" charset="0"/>
              </a:rPr>
              <a:t> </a:t>
            </a:r>
            <a:r>
              <a:rPr lang="en-US" altLang="ja-JP" sz="1600" dirty="0">
                <a:latin typeface="Consolas" panose="020B0609020204030204" pitchFamily="49" charset="0"/>
              </a:rPr>
              <a:t>World″)</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ウインドウサイズの設定（文字列</a:t>
            </a:r>
            <a:r>
              <a:rPr lang="en-US" altLang="ja-JP" sz="1600" dirty="0">
                <a:latin typeface="Consolas" panose="020B0609020204030204" pitchFamily="49" charset="0"/>
              </a:rPr>
              <a:t>x</a:t>
            </a:r>
            <a:r>
              <a:rPr lang="ja-JP" altLang="en-US" sz="1600" dirty="0">
                <a:latin typeface="Consolas" panose="020B0609020204030204" pitchFamily="49" charset="0"/>
              </a:rPr>
              <a:t>と</a:t>
            </a:r>
            <a:r>
              <a:rPr lang="en-US" altLang="ja-JP" sz="1600" dirty="0">
                <a:latin typeface="Consolas" panose="020B0609020204030204" pitchFamily="49" charset="0"/>
              </a:rPr>
              <a:t>y</a:t>
            </a:r>
            <a:r>
              <a:rPr lang="ja-JP" altLang="en-US" sz="1600" dirty="0">
                <a:latin typeface="Consolas" panose="020B0609020204030204" pitchFamily="49" charset="0"/>
              </a:rPr>
              <a:t>）</a:t>
            </a:r>
            <a:endParaRPr lang="en-US" altLang="ja-JP" sz="1600" dirty="0">
              <a:latin typeface="Consolas" panose="020B0609020204030204" pitchFamily="49" charset="0"/>
            </a:endParaRPr>
          </a:p>
          <a:p>
            <a:r>
              <a:rPr lang="en-US" altLang="ja-JP" sz="1600" dirty="0" err="1">
                <a:latin typeface="Consolas" panose="020B0609020204030204" pitchFamily="49" charset="0"/>
              </a:rPr>
              <a:t>root.geometry</a:t>
            </a:r>
            <a:r>
              <a:rPr lang="en-US" altLang="ja-JP" sz="1600" dirty="0">
                <a:latin typeface="Consolas" panose="020B0609020204030204" pitchFamily="49" charset="0"/>
              </a:rPr>
              <a:t>(“300x100”)</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トップレベルウインドウの表示</a:t>
            </a:r>
          </a:p>
          <a:p>
            <a:r>
              <a:rPr lang="en-US" altLang="ja-JP" sz="1600" dirty="0" err="1">
                <a:latin typeface="Consolas" panose="020B0609020204030204" pitchFamily="49" charset="0"/>
              </a:rPr>
              <a:t>root.mainloop</a:t>
            </a:r>
            <a:r>
              <a:rPr lang="en-US" altLang="ja-JP" sz="1600" dirty="0">
                <a:latin typeface="Consolas" panose="020B0609020204030204" pitchFamily="49" charset="0"/>
              </a:rPr>
              <a:t>()</a:t>
            </a:r>
            <a:endParaRPr lang="en-US" sz="1600" dirty="0">
              <a:latin typeface="Consolas" panose="020B0609020204030204" pitchFamily="49" charset="0"/>
            </a:endParaRPr>
          </a:p>
        </p:txBody>
      </p:sp>
      <p:pic>
        <p:nvPicPr>
          <p:cNvPr id="11" name="Picture 10">
            <a:extLst>
              <a:ext uri="{FF2B5EF4-FFF2-40B4-BE49-F238E27FC236}">
                <a16:creationId xmlns:a16="http://schemas.microsoft.com/office/drawing/2014/main" id="{5E0DDBB6-684D-2802-40CF-B13F9553C542}"/>
              </a:ext>
            </a:extLst>
          </p:cNvPr>
          <p:cNvPicPr>
            <a:picLocks noChangeAspect="1"/>
          </p:cNvPicPr>
          <p:nvPr/>
        </p:nvPicPr>
        <p:blipFill>
          <a:blip r:embed="rId2"/>
          <a:stretch>
            <a:fillRect/>
          </a:stretch>
        </p:blipFill>
        <p:spPr>
          <a:xfrm>
            <a:off x="7939993" y="5063619"/>
            <a:ext cx="2876951" cy="1257475"/>
          </a:xfrm>
          <a:prstGeom prst="rect">
            <a:avLst/>
          </a:prstGeom>
        </p:spPr>
      </p:pic>
      <p:sp>
        <p:nvSpPr>
          <p:cNvPr id="2" name="TextBox 1">
            <a:extLst>
              <a:ext uri="{FF2B5EF4-FFF2-40B4-BE49-F238E27FC236}">
                <a16:creationId xmlns:a16="http://schemas.microsoft.com/office/drawing/2014/main" id="{3C3544FC-FA4E-6334-4508-8460E82BEC5D}"/>
              </a:ext>
            </a:extLst>
          </p:cNvPr>
          <p:cNvSpPr txBox="1"/>
          <p:nvPr/>
        </p:nvSpPr>
        <p:spPr>
          <a:xfrm>
            <a:off x="7062830" y="5540044"/>
            <a:ext cx="877163" cy="369332"/>
          </a:xfrm>
          <a:prstGeom prst="rect">
            <a:avLst/>
          </a:prstGeom>
          <a:noFill/>
        </p:spPr>
        <p:txBody>
          <a:bodyPr wrap="none" rtlCol="0">
            <a:spAutoFit/>
          </a:bodyPr>
          <a:lstStyle/>
          <a:p>
            <a:r>
              <a:rPr lang="ja-JP" altLang="en-US" dirty="0"/>
              <a:t>デモ→</a:t>
            </a:r>
            <a:endParaRPr lang="en-US" dirty="0"/>
          </a:p>
        </p:txBody>
      </p:sp>
    </p:spTree>
    <p:extLst>
      <p:ext uri="{BB962C8B-B14F-4D97-AF65-F5344CB8AC3E}">
        <p14:creationId xmlns:p14="http://schemas.microsoft.com/office/powerpoint/2010/main" val="4287166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313906C-8FB8-487C-7D58-A97FC4941898}"/>
              </a:ext>
            </a:extLst>
          </p:cNvPr>
          <p:cNvPicPr>
            <a:picLocks noChangeAspect="1"/>
          </p:cNvPicPr>
          <p:nvPr/>
        </p:nvPicPr>
        <p:blipFill>
          <a:blip r:embed="rId2"/>
          <a:stretch>
            <a:fillRect/>
          </a:stretch>
        </p:blipFill>
        <p:spPr>
          <a:xfrm>
            <a:off x="672303" y="4091659"/>
            <a:ext cx="4810328" cy="2102527"/>
          </a:xfrm>
          <a:prstGeom prst="rect">
            <a:avLst/>
          </a:prstGeom>
          <a:effectLst>
            <a:glow rad="228600">
              <a:schemeClr val="accent1">
                <a:satMod val="175000"/>
                <a:alpha val="40000"/>
              </a:schemeClr>
            </a:glow>
          </a:effectLst>
        </p:spPr>
      </p:pic>
      <p:sp>
        <p:nvSpPr>
          <p:cNvPr id="2" name="Text Placeholder 1">
            <a:extLst>
              <a:ext uri="{FF2B5EF4-FFF2-40B4-BE49-F238E27FC236}">
                <a16:creationId xmlns:a16="http://schemas.microsoft.com/office/drawing/2014/main" id="{B16AD39A-B939-6FEC-F3D2-A2E1EEAD372C}"/>
              </a:ext>
            </a:extLst>
          </p:cNvPr>
          <p:cNvSpPr>
            <a:spLocks noGrp="1"/>
          </p:cNvSpPr>
          <p:nvPr>
            <p:ph type="body" sz="quarter" idx="11"/>
          </p:nvPr>
        </p:nvSpPr>
        <p:spPr/>
        <p:txBody>
          <a:bodyPr/>
          <a:lstStyle/>
          <a:p>
            <a:r>
              <a:rPr lang="en-US" dirty="0"/>
              <a:t>2-2</a:t>
            </a:r>
            <a:r>
              <a:rPr lang="ja-JP" altLang="en-US" dirty="0"/>
              <a:t>　</a:t>
            </a:r>
            <a:r>
              <a:rPr lang="en-US" dirty="0"/>
              <a:t>1</a:t>
            </a:r>
            <a:r>
              <a:rPr lang="ja-JP" altLang="en-US" dirty="0"/>
              <a:t>枚のウィンドウを表示するアプリ ②</a:t>
            </a:r>
            <a:endParaRPr lang="en-US" dirty="0"/>
          </a:p>
        </p:txBody>
      </p:sp>
      <p:sp>
        <p:nvSpPr>
          <p:cNvPr id="3" name="Text Placeholder 2">
            <a:extLst>
              <a:ext uri="{FF2B5EF4-FFF2-40B4-BE49-F238E27FC236}">
                <a16:creationId xmlns:a16="http://schemas.microsoft.com/office/drawing/2014/main" id="{2591B108-4439-0181-AD40-988A680703E7}"/>
              </a:ext>
            </a:extLst>
          </p:cNvPr>
          <p:cNvSpPr>
            <a:spLocks noGrp="1"/>
          </p:cNvSpPr>
          <p:nvPr>
            <p:ph type="body" sz="quarter" idx="13"/>
          </p:nvPr>
        </p:nvSpPr>
        <p:spPr/>
        <p:txBody>
          <a:bodyPr/>
          <a:lstStyle/>
          <a:p>
            <a:pPr marL="0" indent="0">
              <a:buNone/>
            </a:pPr>
            <a:r>
              <a:rPr lang="ja-JP" altLang="en-US" dirty="0"/>
              <a:t>ポイント</a:t>
            </a:r>
            <a:endParaRPr lang="en-US" altLang="ja-JP" dirty="0"/>
          </a:p>
          <a:p>
            <a:r>
              <a:rPr lang="en-US" altLang="ja-JP" dirty="0" err="1"/>
              <a:t>tk.Tk</a:t>
            </a:r>
            <a:r>
              <a:rPr lang="en-US" altLang="ja-JP" dirty="0"/>
              <a:t>()</a:t>
            </a:r>
            <a:r>
              <a:rPr lang="ja-JP" altLang="en-US" dirty="0"/>
              <a:t>：ウィンドウを作る</a:t>
            </a:r>
            <a:endParaRPr lang="en-US" altLang="ja-JP" dirty="0"/>
          </a:p>
          <a:p>
            <a:r>
              <a:rPr lang="en-US" altLang="ja-JP" dirty="0"/>
              <a:t>title()</a:t>
            </a:r>
            <a:r>
              <a:rPr lang="ja-JP" altLang="en-US" dirty="0"/>
              <a:t>：タイトルを設定する</a:t>
            </a:r>
            <a:endParaRPr lang="en-US" altLang="ja-JP" dirty="0"/>
          </a:p>
          <a:p>
            <a:r>
              <a:rPr lang="en-US" altLang="ja-JP" dirty="0"/>
              <a:t>geometry()</a:t>
            </a:r>
            <a:r>
              <a:rPr lang="ja-JP" altLang="en-US" dirty="0"/>
              <a:t>：ウィンドウサイズを設定する</a:t>
            </a:r>
            <a:endParaRPr lang="en-US" altLang="ja-JP" dirty="0"/>
          </a:p>
          <a:p>
            <a:r>
              <a:rPr lang="en-US" altLang="ja-JP" dirty="0" err="1"/>
              <a:t>mainloop</a:t>
            </a:r>
            <a:r>
              <a:rPr lang="en-US" altLang="ja-JP" dirty="0"/>
              <a:t>()</a:t>
            </a:r>
            <a:r>
              <a:rPr lang="ja-JP" altLang="en-US" dirty="0"/>
              <a:t>：ウィンドウを表示し続ける</a:t>
            </a:r>
            <a:endParaRPr lang="en-US" altLang="ja-JP"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682D439-A2CC-037A-6FFC-D8A947A7E0C7}"/>
              </a:ext>
            </a:extLst>
          </p:cNvPr>
          <p:cNvSpPr>
            <a:spLocks noGrp="1"/>
          </p:cNvSpPr>
          <p:nvPr>
            <p:ph type="sldNum" sz="quarter" idx="15"/>
          </p:nvPr>
        </p:nvSpPr>
        <p:spPr/>
        <p:txBody>
          <a:bodyPr/>
          <a:lstStyle/>
          <a:p>
            <a:fld id="{CBD12358-51D2-46B3-9BDE-DF29528B9454}" type="slidenum">
              <a:rPr lang="en-US" smtClean="0"/>
              <a:pPr/>
              <a:t>10</a:t>
            </a:fld>
            <a:endParaRPr lang="en-US" dirty="0"/>
          </a:p>
        </p:txBody>
      </p:sp>
      <p:sp>
        <p:nvSpPr>
          <p:cNvPr id="6" name="TextBox 5">
            <a:extLst>
              <a:ext uri="{FF2B5EF4-FFF2-40B4-BE49-F238E27FC236}">
                <a16:creationId xmlns:a16="http://schemas.microsoft.com/office/drawing/2014/main" id="{9CAD6CCA-9747-A824-035E-E3EB788D2873}"/>
              </a:ext>
            </a:extLst>
          </p:cNvPr>
          <p:cNvSpPr txBox="1"/>
          <p:nvPr/>
        </p:nvSpPr>
        <p:spPr>
          <a:xfrm>
            <a:off x="7063201" y="2002185"/>
            <a:ext cx="4121641" cy="3539430"/>
          </a:xfrm>
          <a:prstGeom prst="rect">
            <a:avLst/>
          </a:prstGeom>
          <a:noFill/>
          <a:ln>
            <a:solidFill>
              <a:schemeClr val="tx1"/>
            </a:solidFill>
          </a:ln>
        </p:spPr>
        <p:txBody>
          <a:bodyPr wrap="none" rtlCol="0">
            <a:spAutoFit/>
          </a:bodyPr>
          <a:lstStyle/>
          <a:p>
            <a:r>
              <a:rPr lang="en-US" altLang="ja-JP" sz="1600" dirty="0">
                <a:latin typeface="Consolas" panose="020B0609020204030204" pitchFamily="49" charset="0"/>
              </a:rPr>
              <a:t># </a:t>
            </a:r>
            <a:r>
              <a:rPr lang="en-US" altLang="ja-JP" sz="1600" dirty="0" err="1">
                <a:latin typeface="Consolas" panose="020B0609020204030204" pitchFamily="49" charset="0"/>
              </a:rPr>
              <a:t>Tkinter</a:t>
            </a:r>
            <a:r>
              <a:rPr lang="ja-JP" altLang="en-US" sz="1600" dirty="0">
                <a:latin typeface="Consolas" panose="020B0609020204030204" pitchFamily="49" charset="0"/>
              </a:rPr>
              <a:t>ライブラリのインポート</a:t>
            </a:r>
          </a:p>
          <a:p>
            <a:r>
              <a:rPr lang="en-US" altLang="ja-JP" sz="1600" dirty="0">
                <a:latin typeface="Consolas" panose="020B0609020204030204" pitchFamily="49" charset="0"/>
              </a:rPr>
              <a:t>import </a:t>
            </a:r>
            <a:r>
              <a:rPr lang="en-US" altLang="ja-JP" sz="1600" dirty="0" err="1">
                <a:latin typeface="Consolas" panose="020B0609020204030204" pitchFamily="49" charset="0"/>
              </a:rPr>
              <a:t>tkinter</a:t>
            </a:r>
            <a:r>
              <a:rPr lang="en-US" altLang="ja-JP" sz="1600" dirty="0">
                <a:latin typeface="Consolas" panose="020B0609020204030204" pitchFamily="49" charset="0"/>
              </a:rPr>
              <a:t> as </a:t>
            </a:r>
            <a:r>
              <a:rPr lang="en-US" altLang="ja-JP" sz="1600" dirty="0" err="1">
                <a:latin typeface="Consolas" panose="020B0609020204030204" pitchFamily="49" charset="0"/>
              </a:rPr>
              <a:t>tk</a:t>
            </a:r>
            <a:endParaRPr lang="en-US" altLang="ja-JP" sz="1600" dirty="0">
              <a:latin typeface="Consolas" panose="020B0609020204030204" pitchFamily="49" charset="0"/>
            </a:endParaRPr>
          </a:p>
          <a:p>
            <a:endParaRPr lang="en-US" altLang="ja-JP" sz="1600" dirty="0">
              <a:latin typeface="Consolas" panose="020B0609020204030204" pitchFamily="49" charset="0"/>
            </a:endParaRPr>
          </a:p>
          <a:p>
            <a:r>
              <a:rPr lang="en-US" altLang="ja-JP" sz="1600" dirty="0">
                <a:latin typeface="Consolas" panose="020B0609020204030204" pitchFamily="49" charset="0"/>
              </a:rPr>
              <a:t># Tk</a:t>
            </a:r>
            <a:r>
              <a:rPr lang="ja-JP" altLang="en-US" sz="1600" dirty="0">
                <a:latin typeface="Consolas" panose="020B0609020204030204" pitchFamily="49" charset="0"/>
              </a:rPr>
              <a:t>オブジェクトの生成（トップレベル）</a:t>
            </a:r>
          </a:p>
          <a:p>
            <a:r>
              <a:rPr lang="en-US" altLang="ja-JP" sz="1600" dirty="0">
                <a:latin typeface="Consolas" panose="020B0609020204030204" pitchFamily="49" charset="0"/>
              </a:rPr>
              <a:t>root = </a:t>
            </a:r>
            <a:r>
              <a:rPr lang="en-US" altLang="ja-JP" sz="1600" dirty="0" err="1">
                <a:latin typeface="Consolas" panose="020B0609020204030204" pitchFamily="49" charset="0"/>
              </a:rPr>
              <a:t>tk.Tk</a:t>
            </a:r>
            <a:r>
              <a:rPr lang="en-US" altLang="ja-JP" sz="1600" dirty="0">
                <a:latin typeface="Consolas" panose="020B0609020204030204" pitchFamily="49" charset="0"/>
              </a:rPr>
              <a:t>()</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ウインドウのタイトルを設定</a:t>
            </a:r>
          </a:p>
          <a:p>
            <a:r>
              <a:rPr lang="en-US" altLang="ja-JP" sz="1600" dirty="0" err="1">
                <a:latin typeface="Consolas" panose="020B0609020204030204" pitchFamily="49" charset="0"/>
              </a:rPr>
              <a:t>root.title</a:t>
            </a:r>
            <a:r>
              <a:rPr lang="en-US" altLang="ja-JP" sz="1600" dirty="0">
                <a:latin typeface="Consolas" panose="020B0609020204030204" pitchFamily="49" charset="0"/>
              </a:rPr>
              <a:t>(“Hello World″)</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ウインドウサイズを設定（文字列</a:t>
            </a:r>
            <a:r>
              <a:rPr lang="en-US" altLang="ja-JP" sz="1600" dirty="0">
                <a:latin typeface="Consolas" panose="020B0609020204030204" pitchFamily="49" charset="0"/>
              </a:rPr>
              <a:t>x</a:t>
            </a:r>
            <a:r>
              <a:rPr lang="ja-JP" altLang="en-US" sz="1600" dirty="0">
                <a:latin typeface="Consolas" panose="020B0609020204030204" pitchFamily="49" charset="0"/>
              </a:rPr>
              <a:t>と</a:t>
            </a:r>
            <a:r>
              <a:rPr lang="en-US" altLang="ja-JP" sz="1600" dirty="0">
                <a:latin typeface="Consolas" panose="020B0609020204030204" pitchFamily="49" charset="0"/>
              </a:rPr>
              <a:t>y</a:t>
            </a:r>
            <a:r>
              <a:rPr lang="ja-JP" altLang="en-US" sz="1600" dirty="0">
                <a:latin typeface="Consolas" panose="020B0609020204030204" pitchFamily="49" charset="0"/>
              </a:rPr>
              <a:t>）</a:t>
            </a:r>
            <a:endParaRPr lang="en-US" altLang="ja-JP" sz="1600" dirty="0">
              <a:latin typeface="Consolas" panose="020B0609020204030204" pitchFamily="49" charset="0"/>
            </a:endParaRPr>
          </a:p>
          <a:p>
            <a:r>
              <a:rPr lang="en-US" altLang="ja-JP" sz="1600" dirty="0" err="1">
                <a:latin typeface="Consolas" panose="020B0609020204030204" pitchFamily="49" charset="0"/>
              </a:rPr>
              <a:t>root.geometry</a:t>
            </a:r>
            <a:r>
              <a:rPr lang="en-US" altLang="ja-JP" sz="1600" dirty="0">
                <a:latin typeface="Consolas" panose="020B0609020204030204" pitchFamily="49" charset="0"/>
              </a:rPr>
              <a:t>(“300x100”)</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トップレベルウインドウの表示</a:t>
            </a:r>
          </a:p>
          <a:p>
            <a:r>
              <a:rPr lang="en-US" altLang="ja-JP" sz="1600" dirty="0" err="1">
                <a:latin typeface="Consolas" panose="020B0609020204030204" pitchFamily="49" charset="0"/>
              </a:rPr>
              <a:t>root.mainloop</a:t>
            </a:r>
            <a:r>
              <a:rPr lang="en-US" altLang="ja-JP" sz="1600" dirty="0">
                <a:latin typeface="Consolas" panose="020B0609020204030204" pitchFamily="49" charset="0"/>
              </a:rPr>
              <a:t>()</a:t>
            </a:r>
            <a:endParaRPr lang="en-US" sz="1600" dirty="0">
              <a:latin typeface="Consolas" panose="020B0609020204030204" pitchFamily="49" charset="0"/>
            </a:endParaRPr>
          </a:p>
        </p:txBody>
      </p:sp>
      <p:pic>
        <p:nvPicPr>
          <p:cNvPr id="8" name="Picture 7">
            <a:extLst>
              <a:ext uri="{FF2B5EF4-FFF2-40B4-BE49-F238E27FC236}">
                <a16:creationId xmlns:a16="http://schemas.microsoft.com/office/drawing/2014/main" id="{519F74A4-80FA-C236-0CEB-887C9E147635}"/>
              </a:ext>
            </a:extLst>
          </p:cNvPr>
          <p:cNvPicPr>
            <a:picLocks noChangeAspect="1"/>
          </p:cNvPicPr>
          <p:nvPr/>
        </p:nvPicPr>
        <p:blipFill>
          <a:blip r:embed="rId2"/>
          <a:stretch>
            <a:fillRect/>
          </a:stretch>
        </p:blipFill>
        <p:spPr>
          <a:xfrm>
            <a:off x="672303" y="4093108"/>
            <a:ext cx="4810328" cy="2102527"/>
          </a:xfrm>
          <a:prstGeom prst="rect">
            <a:avLst/>
          </a:prstGeom>
          <a:effectLst/>
        </p:spPr>
      </p:pic>
      <p:cxnSp>
        <p:nvCxnSpPr>
          <p:cNvPr id="25" name="Straight Arrow Connector 24">
            <a:extLst>
              <a:ext uri="{FF2B5EF4-FFF2-40B4-BE49-F238E27FC236}">
                <a16:creationId xmlns:a16="http://schemas.microsoft.com/office/drawing/2014/main" id="{CE779659-E662-5C4B-0927-B1501263E45D}"/>
              </a:ext>
            </a:extLst>
          </p:cNvPr>
          <p:cNvCxnSpPr>
            <a:cxnSpLocks/>
          </p:cNvCxnSpPr>
          <p:nvPr/>
        </p:nvCxnSpPr>
        <p:spPr>
          <a:xfrm flipH="1">
            <a:off x="672303" y="5842829"/>
            <a:ext cx="4810328" cy="0"/>
          </a:xfrm>
          <a:prstGeom prst="straightConnector1">
            <a:avLst/>
          </a:prstGeom>
          <a:ln w="3810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C7654F96-F1B2-A819-E1B3-782BF0EF1CF6}"/>
              </a:ext>
            </a:extLst>
          </p:cNvPr>
          <p:cNvSpPr txBox="1"/>
          <p:nvPr/>
        </p:nvSpPr>
        <p:spPr>
          <a:xfrm>
            <a:off x="2785560" y="5658163"/>
            <a:ext cx="583814" cy="369332"/>
          </a:xfrm>
          <a:prstGeom prst="rect">
            <a:avLst/>
          </a:prstGeom>
          <a:solidFill>
            <a:srgbClr val="F0F0F0"/>
          </a:solidFill>
        </p:spPr>
        <p:txBody>
          <a:bodyPr wrap="none" rtlCol="0">
            <a:spAutoFit/>
          </a:bodyPr>
          <a:lstStyle/>
          <a:p>
            <a:r>
              <a:rPr lang="en-US" altLang="ja-JP" dirty="0"/>
              <a:t>300</a:t>
            </a:r>
            <a:endParaRPr lang="en-US" dirty="0"/>
          </a:p>
        </p:txBody>
      </p:sp>
      <p:cxnSp>
        <p:nvCxnSpPr>
          <p:cNvPr id="33" name="Straight Arrow Connector 32">
            <a:extLst>
              <a:ext uri="{FF2B5EF4-FFF2-40B4-BE49-F238E27FC236}">
                <a16:creationId xmlns:a16="http://schemas.microsoft.com/office/drawing/2014/main" id="{ED35DBD2-442B-238D-A4BF-8587DD0277F8}"/>
              </a:ext>
            </a:extLst>
          </p:cNvPr>
          <p:cNvCxnSpPr>
            <a:cxnSpLocks/>
          </p:cNvCxnSpPr>
          <p:nvPr/>
        </p:nvCxnSpPr>
        <p:spPr>
          <a:xfrm>
            <a:off x="5000234" y="4616457"/>
            <a:ext cx="0" cy="1579178"/>
          </a:xfrm>
          <a:prstGeom prst="straightConnector1">
            <a:avLst/>
          </a:prstGeom>
          <a:ln w="3810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ABD141A8-8B4E-00C1-54FE-D6DC43A64F32}"/>
              </a:ext>
            </a:extLst>
          </p:cNvPr>
          <p:cNvSpPr txBox="1"/>
          <p:nvPr/>
        </p:nvSpPr>
        <p:spPr>
          <a:xfrm>
            <a:off x="4708327" y="5036714"/>
            <a:ext cx="583814" cy="369332"/>
          </a:xfrm>
          <a:prstGeom prst="rect">
            <a:avLst/>
          </a:prstGeom>
          <a:solidFill>
            <a:srgbClr val="F0F0F0"/>
          </a:solidFill>
        </p:spPr>
        <p:txBody>
          <a:bodyPr wrap="none" rtlCol="0">
            <a:spAutoFit/>
          </a:bodyPr>
          <a:lstStyle/>
          <a:p>
            <a:r>
              <a:rPr lang="en-US" altLang="ja-JP" dirty="0"/>
              <a:t>100</a:t>
            </a:r>
            <a:endParaRPr lang="en-US" dirty="0"/>
          </a:p>
        </p:txBody>
      </p:sp>
      <p:sp>
        <p:nvSpPr>
          <p:cNvPr id="5" name="TextBox 4">
            <a:extLst>
              <a:ext uri="{FF2B5EF4-FFF2-40B4-BE49-F238E27FC236}">
                <a16:creationId xmlns:a16="http://schemas.microsoft.com/office/drawing/2014/main" id="{6E007810-233F-AE13-A175-0DB19E40C035}"/>
              </a:ext>
            </a:extLst>
          </p:cNvPr>
          <p:cNvSpPr txBox="1"/>
          <p:nvPr/>
        </p:nvSpPr>
        <p:spPr>
          <a:xfrm>
            <a:off x="1975081" y="3618156"/>
            <a:ext cx="835806" cy="369332"/>
          </a:xfrm>
          <a:prstGeom prst="rect">
            <a:avLst/>
          </a:prstGeom>
          <a:noFill/>
        </p:spPr>
        <p:txBody>
          <a:bodyPr wrap="none" rtlCol="0">
            <a:spAutoFit/>
          </a:bodyPr>
          <a:lstStyle/>
          <a:p>
            <a:r>
              <a:rPr lang="en-US" b="1" dirty="0" err="1"/>
              <a:t>Tk.Tk</a:t>
            </a:r>
            <a:r>
              <a:rPr lang="en-US" b="1" dirty="0"/>
              <a:t>()</a:t>
            </a:r>
          </a:p>
        </p:txBody>
      </p:sp>
      <p:pic>
        <p:nvPicPr>
          <p:cNvPr id="9" name="Picture 8">
            <a:extLst>
              <a:ext uri="{FF2B5EF4-FFF2-40B4-BE49-F238E27FC236}">
                <a16:creationId xmlns:a16="http://schemas.microsoft.com/office/drawing/2014/main" id="{C5C98A7A-628E-4AC3-364C-9E0ED1D99A33}"/>
              </a:ext>
            </a:extLst>
          </p:cNvPr>
          <p:cNvPicPr>
            <a:picLocks noChangeAspect="1"/>
          </p:cNvPicPr>
          <p:nvPr/>
        </p:nvPicPr>
        <p:blipFill>
          <a:blip r:embed="rId3"/>
          <a:stretch>
            <a:fillRect/>
          </a:stretch>
        </p:blipFill>
        <p:spPr>
          <a:xfrm>
            <a:off x="1143000" y="4135513"/>
            <a:ext cx="1642560" cy="369331"/>
          </a:xfrm>
          <a:prstGeom prst="rect">
            <a:avLst/>
          </a:prstGeom>
        </p:spPr>
      </p:pic>
      <p:sp>
        <p:nvSpPr>
          <p:cNvPr id="11" name="TextBox 10">
            <a:extLst>
              <a:ext uri="{FF2B5EF4-FFF2-40B4-BE49-F238E27FC236}">
                <a16:creationId xmlns:a16="http://schemas.microsoft.com/office/drawing/2014/main" id="{9228171D-8FCD-58F6-494D-3512616A5994}"/>
              </a:ext>
            </a:extLst>
          </p:cNvPr>
          <p:cNvSpPr txBox="1"/>
          <p:nvPr/>
        </p:nvSpPr>
        <p:spPr>
          <a:xfrm>
            <a:off x="1007158" y="4135512"/>
            <a:ext cx="710451" cy="369332"/>
          </a:xfrm>
          <a:prstGeom prst="rect">
            <a:avLst/>
          </a:prstGeom>
          <a:noFill/>
        </p:spPr>
        <p:txBody>
          <a:bodyPr wrap="none" rtlCol="0">
            <a:spAutoFit/>
          </a:bodyPr>
          <a:lstStyle/>
          <a:p>
            <a:r>
              <a:rPr lang="en-US" b="1" dirty="0"/>
              <a:t>title()</a:t>
            </a:r>
          </a:p>
        </p:txBody>
      </p:sp>
      <p:sp>
        <p:nvSpPr>
          <p:cNvPr id="15" name="TextBox 14">
            <a:extLst>
              <a:ext uri="{FF2B5EF4-FFF2-40B4-BE49-F238E27FC236}">
                <a16:creationId xmlns:a16="http://schemas.microsoft.com/office/drawing/2014/main" id="{581FE1DE-77DE-4788-C3B4-88180F2DCE6D}"/>
              </a:ext>
            </a:extLst>
          </p:cNvPr>
          <p:cNvSpPr txBox="1"/>
          <p:nvPr/>
        </p:nvSpPr>
        <p:spPr>
          <a:xfrm>
            <a:off x="2622781" y="3619605"/>
            <a:ext cx="1553630" cy="369332"/>
          </a:xfrm>
          <a:prstGeom prst="rect">
            <a:avLst/>
          </a:prstGeom>
          <a:noFill/>
        </p:spPr>
        <p:txBody>
          <a:bodyPr wrap="none" rtlCol="0">
            <a:spAutoFit/>
          </a:bodyPr>
          <a:lstStyle/>
          <a:p>
            <a:r>
              <a:rPr lang="ja-JP" altLang="en-US" b="1" dirty="0"/>
              <a:t>と</a:t>
            </a:r>
            <a:r>
              <a:rPr lang="en-US" altLang="ja-JP" b="1" dirty="0" err="1"/>
              <a:t>mainloop</a:t>
            </a:r>
            <a:r>
              <a:rPr lang="en-US" altLang="ja-JP" b="1" dirty="0"/>
              <a:t>()</a:t>
            </a:r>
            <a:endParaRPr lang="en-US" b="1" dirty="0"/>
          </a:p>
        </p:txBody>
      </p:sp>
    </p:spTree>
    <p:extLst>
      <p:ext uri="{BB962C8B-B14F-4D97-AF65-F5344CB8AC3E}">
        <p14:creationId xmlns:p14="http://schemas.microsoft.com/office/powerpoint/2010/main" val="145494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500"/>
                                        <p:tgtEl>
                                          <p:spTgt spid="3">
                                            <p:txEl>
                                              <p:pRg st="4" end="4"/>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8" grpId="0" animBg="1"/>
      <p:bldP spid="5" grpId="0"/>
      <p:bldP spid="11"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008603C-7995-87E6-6557-493528F3DD41}"/>
              </a:ext>
            </a:extLst>
          </p:cNvPr>
          <p:cNvSpPr/>
          <p:nvPr/>
        </p:nvSpPr>
        <p:spPr>
          <a:xfrm>
            <a:off x="4618952" y="4633409"/>
            <a:ext cx="4320654" cy="27143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48CCA0C9-67B4-D3FE-B6A8-6F698A524A1E}"/>
              </a:ext>
            </a:extLst>
          </p:cNvPr>
          <p:cNvSpPr>
            <a:spLocks noGrp="1"/>
          </p:cNvSpPr>
          <p:nvPr>
            <p:ph type="body" sz="quarter" idx="11"/>
          </p:nvPr>
        </p:nvSpPr>
        <p:spPr/>
        <p:txBody>
          <a:bodyPr/>
          <a:lstStyle/>
          <a:p>
            <a:r>
              <a:rPr lang="en-US" dirty="0"/>
              <a:t>2-3</a:t>
            </a:r>
            <a:r>
              <a:rPr lang="ja-JP" altLang="en-US" dirty="0"/>
              <a:t>　ウィジェット ①</a:t>
            </a:r>
            <a:endParaRPr lang="en-US" dirty="0"/>
          </a:p>
        </p:txBody>
      </p:sp>
      <p:sp>
        <p:nvSpPr>
          <p:cNvPr id="3" name="Text Placeholder 2">
            <a:extLst>
              <a:ext uri="{FF2B5EF4-FFF2-40B4-BE49-F238E27FC236}">
                <a16:creationId xmlns:a16="http://schemas.microsoft.com/office/drawing/2014/main" id="{D93F9143-78BF-3A5F-37AA-61B777D632D6}"/>
              </a:ext>
            </a:extLst>
          </p:cNvPr>
          <p:cNvSpPr>
            <a:spLocks noGrp="1"/>
          </p:cNvSpPr>
          <p:nvPr>
            <p:ph type="body" sz="quarter" idx="13"/>
          </p:nvPr>
        </p:nvSpPr>
        <p:spPr>
          <a:xfrm>
            <a:off x="114444" y="1114063"/>
            <a:ext cx="11963109" cy="1618379"/>
          </a:xfrm>
        </p:spPr>
        <p:txBody>
          <a:bodyPr/>
          <a:lstStyle/>
          <a:p>
            <a:pPr algn="just"/>
            <a:r>
              <a:rPr lang="ja-JP" altLang="en-US" dirty="0"/>
              <a:t>ウィジェットは、コンピューターアプリケーションの</a:t>
            </a:r>
            <a:r>
              <a:rPr lang="en-US" altLang="ja-JP" dirty="0"/>
              <a:t>GUI</a:t>
            </a:r>
            <a:r>
              <a:rPr lang="ja-JP" altLang="en-US" dirty="0"/>
              <a:t>を構成する部品の一つである。</a:t>
            </a:r>
            <a:endParaRPr lang="en-US" altLang="ja-JP" dirty="0"/>
          </a:p>
          <a:p>
            <a:pPr algn="just"/>
            <a:r>
              <a:rPr lang="en-US" altLang="ja-JP" dirty="0" err="1"/>
              <a:t>Tkinter</a:t>
            </a:r>
            <a:r>
              <a:rPr lang="ja-JP" altLang="en-US" dirty="0"/>
              <a:t>には、ボタンやテキストボックスなどのウィジェットがあらかじめ用意されており、それらを利用することで</a:t>
            </a:r>
            <a:r>
              <a:rPr lang="en-US" altLang="ja-JP" dirty="0">
                <a:solidFill>
                  <a:srgbClr val="D67D61"/>
                </a:solidFill>
              </a:rPr>
              <a:t>GUI</a:t>
            </a:r>
            <a:r>
              <a:rPr lang="ja-JP" altLang="en-US" dirty="0">
                <a:solidFill>
                  <a:srgbClr val="D67D61"/>
                </a:solidFill>
              </a:rPr>
              <a:t>の部品を簡単に追加する</a:t>
            </a:r>
            <a:r>
              <a:rPr lang="ja-JP" altLang="en-US" dirty="0"/>
              <a:t>ことができる。</a:t>
            </a:r>
            <a:endParaRPr lang="en-US" dirty="0"/>
          </a:p>
        </p:txBody>
      </p:sp>
      <p:sp>
        <p:nvSpPr>
          <p:cNvPr id="4" name="Slide Number Placeholder 3">
            <a:extLst>
              <a:ext uri="{FF2B5EF4-FFF2-40B4-BE49-F238E27FC236}">
                <a16:creationId xmlns:a16="http://schemas.microsoft.com/office/drawing/2014/main" id="{5B6FFB7D-D1FD-7A62-258F-0C4451606310}"/>
              </a:ext>
            </a:extLst>
          </p:cNvPr>
          <p:cNvSpPr>
            <a:spLocks noGrp="1"/>
          </p:cNvSpPr>
          <p:nvPr>
            <p:ph type="sldNum" sz="quarter" idx="15"/>
          </p:nvPr>
        </p:nvSpPr>
        <p:spPr/>
        <p:txBody>
          <a:bodyPr/>
          <a:lstStyle/>
          <a:p>
            <a:fld id="{CBD12358-51D2-46B3-9BDE-DF29528B9454}" type="slidenum">
              <a:rPr lang="en-US" smtClean="0"/>
              <a:pPr/>
              <a:t>11</a:t>
            </a:fld>
            <a:endParaRPr lang="en-US" dirty="0"/>
          </a:p>
        </p:txBody>
      </p:sp>
      <p:sp>
        <p:nvSpPr>
          <p:cNvPr id="7" name="TextBox 6">
            <a:extLst>
              <a:ext uri="{FF2B5EF4-FFF2-40B4-BE49-F238E27FC236}">
                <a16:creationId xmlns:a16="http://schemas.microsoft.com/office/drawing/2014/main" id="{BB339FA7-16CA-9177-AF6B-BD61930A83CA}"/>
              </a:ext>
            </a:extLst>
          </p:cNvPr>
          <p:cNvSpPr txBox="1"/>
          <p:nvPr/>
        </p:nvSpPr>
        <p:spPr>
          <a:xfrm>
            <a:off x="4131944" y="5173517"/>
            <a:ext cx="6634060" cy="307777"/>
          </a:xfrm>
          <a:prstGeom prst="rect">
            <a:avLst/>
          </a:prstGeom>
          <a:noFill/>
        </p:spPr>
        <p:txBody>
          <a:bodyPr wrap="none" rtlCol="0">
            <a:spAutoFit/>
          </a:bodyPr>
          <a:lstStyle/>
          <a:p>
            <a:r>
              <a:rPr lang="en-US" sz="1400" dirty="0"/>
              <a:t>(</a:t>
            </a:r>
            <a:r>
              <a:rPr lang="ja-JP" altLang="en-US" sz="1400" dirty="0"/>
              <a:t>参考</a:t>
            </a:r>
            <a:r>
              <a:rPr lang="en-US" sz="1400" dirty="0"/>
              <a:t>) </a:t>
            </a:r>
            <a:r>
              <a:rPr lang="en-US" sz="1400" dirty="0">
                <a:hlinkClick r:id="rId2"/>
              </a:rPr>
              <a:t>https://en.wiktionary.org/wiki/widget</a:t>
            </a:r>
            <a:r>
              <a:rPr lang="ja-JP" altLang="en-US" sz="1400" dirty="0"/>
              <a:t>、</a:t>
            </a:r>
            <a:r>
              <a:rPr lang="en-US" altLang="ja-JP" sz="1400" dirty="0"/>
              <a:t>Wiktionary, “widget,” CC BY-SA 4.0</a:t>
            </a:r>
            <a:endParaRPr lang="en-US" sz="1400" dirty="0"/>
          </a:p>
        </p:txBody>
      </p:sp>
      <p:sp>
        <p:nvSpPr>
          <p:cNvPr id="8" name="Rectangle 7">
            <a:extLst>
              <a:ext uri="{FF2B5EF4-FFF2-40B4-BE49-F238E27FC236}">
                <a16:creationId xmlns:a16="http://schemas.microsoft.com/office/drawing/2014/main" id="{424ED7C1-FA9A-DA55-9490-4BD401A1B09A}"/>
              </a:ext>
            </a:extLst>
          </p:cNvPr>
          <p:cNvSpPr/>
          <p:nvPr/>
        </p:nvSpPr>
        <p:spPr>
          <a:xfrm>
            <a:off x="4638674" y="3803274"/>
            <a:ext cx="5400675" cy="27143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A9DA35D-9D96-CE40-95AD-A5509973970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80518" y="3117603"/>
            <a:ext cx="9030960" cy="2067213"/>
          </a:xfrm>
          <a:prstGeom prst="rect">
            <a:avLst/>
          </a:prstGeom>
          <a:ln>
            <a:solidFill>
              <a:srgbClr val="D67D61"/>
            </a:solidFill>
          </a:ln>
        </p:spPr>
      </p:pic>
      <p:sp>
        <p:nvSpPr>
          <p:cNvPr id="14" name="TextBox 13">
            <a:extLst>
              <a:ext uri="{FF2B5EF4-FFF2-40B4-BE49-F238E27FC236}">
                <a16:creationId xmlns:a16="http://schemas.microsoft.com/office/drawing/2014/main" id="{D06D5C6A-AE92-199C-5350-8F6A1A181F4D}"/>
              </a:ext>
            </a:extLst>
          </p:cNvPr>
          <p:cNvSpPr txBox="1"/>
          <p:nvPr/>
        </p:nvSpPr>
        <p:spPr>
          <a:xfrm>
            <a:off x="114444" y="6190218"/>
            <a:ext cx="5836791" cy="369332"/>
          </a:xfrm>
          <a:prstGeom prst="rect">
            <a:avLst/>
          </a:prstGeom>
          <a:noFill/>
        </p:spPr>
        <p:txBody>
          <a:bodyPr wrap="none" rtlCol="0">
            <a:spAutoFit/>
          </a:bodyPr>
          <a:lstStyle/>
          <a:p>
            <a:r>
              <a:rPr lang="en-US" altLang="ja-JP" dirty="0"/>
              <a:t>『</a:t>
            </a:r>
            <a:r>
              <a:rPr lang="en-US"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a:t>
            </a:r>
            <a:r>
              <a:rPr lang="en-US" altLang="ja-JP" dirty="0"/>
              <a:t>3</a:t>
            </a:r>
            <a:r>
              <a:rPr lang="ja-JP" altLang="en-US" dirty="0"/>
              <a:t>章</a:t>
            </a:r>
            <a:endParaRPr lang="en-US" dirty="0"/>
          </a:p>
        </p:txBody>
      </p:sp>
    </p:spTree>
    <p:extLst>
      <p:ext uri="{BB962C8B-B14F-4D97-AF65-F5344CB8AC3E}">
        <p14:creationId xmlns:p14="http://schemas.microsoft.com/office/powerpoint/2010/main" val="3865166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615653-AE71-0AC8-B809-5CDD4709A939}"/>
              </a:ext>
            </a:extLst>
          </p:cNvPr>
          <p:cNvSpPr>
            <a:spLocks noGrp="1"/>
          </p:cNvSpPr>
          <p:nvPr>
            <p:ph type="body" sz="quarter" idx="11"/>
          </p:nvPr>
        </p:nvSpPr>
        <p:spPr/>
        <p:txBody>
          <a:bodyPr/>
          <a:lstStyle/>
          <a:p>
            <a:r>
              <a:rPr lang="en-US" dirty="0"/>
              <a:t>2-3</a:t>
            </a:r>
            <a:r>
              <a:rPr lang="ja-JP" altLang="en-US" dirty="0"/>
              <a:t>　ウィジェット ②</a:t>
            </a:r>
            <a:endParaRPr lang="en-US" dirty="0"/>
          </a:p>
        </p:txBody>
      </p:sp>
      <p:sp>
        <p:nvSpPr>
          <p:cNvPr id="3" name="Text Placeholder 2">
            <a:extLst>
              <a:ext uri="{FF2B5EF4-FFF2-40B4-BE49-F238E27FC236}">
                <a16:creationId xmlns:a16="http://schemas.microsoft.com/office/drawing/2014/main" id="{4C82E372-39EA-26BB-ED05-7194446A5857}"/>
              </a:ext>
            </a:extLst>
          </p:cNvPr>
          <p:cNvSpPr>
            <a:spLocks noGrp="1"/>
          </p:cNvSpPr>
          <p:nvPr>
            <p:ph type="body" sz="quarter" idx="13"/>
          </p:nvPr>
        </p:nvSpPr>
        <p:spPr>
          <a:xfrm>
            <a:off x="114444" y="1133475"/>
            <a:ext cx="11963109" cy="824417"/>
          </a:xfrm>
        </p:spPr>
        <p:txBody>
          <a:bodyPr/>
          <a:lstStyle/>
          <a:p>
            <a:pPr marL="0" indent="0">
              <a:buNone/>
            </a:pPr>
            <a:r>
              <a:rPr lang="ja-JP" altLang="en-US" dirty="0"/>
              <a:t>以下のウィジェットの組み合わせ（</a:t>
            </a:r>
            <a:r>
              <a:rPr lang="en-US" altLang="ja-JP" dirty="0"/>
              <a:t>『Python</a:t>
            </a:r>
            <a:r>
              <a:rPr lang="ja-JP" altLang="en-US" dirty="0"/>
              <a:t>でデスクトップアプリを作ろう</a:t>
            </a:r>
            <a:r>
              <a:rPr lang="en-US" altLang="ja-JP" dirty="0"/>
              <a:t>』p.26</a:t>
            </a:r>
            <a:r>
              <a:rPr lang="ja-JP" altLang="en-US" dirty="0"/>
              <a:t>）によって、適切なアプリを作ることができる。</a:t>
            </a:r>
            <a:endParaRPr lang="en-US" dirty="0"/>
          </a:p>
        </p:txBody>
      </p:sp>
      <p:sp>
        <p:nvSpPr>
          <p:cNvPr id="4" name="Slide Number Placeholder 3">
            <a:extLst>
              <a:ext uri="{FF2B5EF4-FFF2-40B4-BE49-F238E27FC236}">
                <a16:creationId xmlns:a16="http://schemas.microsoft.com/office/drawing/2014/main" id="{78B7A036-8FB9-1BA0-93C5-F34F50C11596}"/>
              </a:ext>
            </a:extLst>
          </p:cNvPr>
          <p:cNvSpPr>
            <a:spLocks noGrp="1"/>
          </p:cNvSpPr>
          <p:nvPr>
            <p:ph type="sldNum" sz="quarter" idx="15"/>
          </p:nvPr>
        </p:nvSpPr>
        <p:spPr/>
        <p:txBody>
          <a:bodyPr/>
          <a:lstStyle/>
          <a:p>
            <a:fld id="{CBD12358-51D2-46B3-9BDE-DF29528B9454}" type="slidenum">
              <a:rPr lang="en-US" smtClean="0"/>
              <a:pPr/>
              <a:t>12</a:t>
            </a:fld>
            <a:endParaRPr lang="en-US" dirty="0"/>
          </a:p>
        </p:txBody>
      </p:sp>
      <p:graphicFrame>
        <p:nvGraphicFramePr>
          <p:cNvPr id="6" name="Table 5">
            <a:extLst>
              <a:ext uri="{FF2B5EF4-FFF2-40B4-BE49-F238E27FC236}">
                <a16:creationId xmlns:a16="http://schemas.microsoft.com/office/drawing/2014/main" id="{358733F8-954D-2DB7-273E-3531643991AA}"/>
              </a:ext>
            </a:extLst>
          </p:cNvPr>
          <p:cNvGraphicFramePr>
            <a:graphicFrameLocks noGrp="1"/>
          </p:cNvGraphicFramePr>
          <p:nvPr>
            <p:extLst>
              <p:ext uri="{D42A27DB-BD31-4B8C-83A1-F6EECF244321}">
                <p14:modId xmlns:p14="http://schemas.microsoft.com/office/powerpoint/2010/main" val="1211017628"/>
              </p:ext>
            </p:extLst>
          </p:nvPr>
        </p:nvGraphicFramePr>
        <p:xfrm>
          <a:off x="291947" y="2248174"/>
          <a:ext cx="11608105" cy="3377565"/>
        </p:xfrm>
        <a:graphic>
          <a:graphicData uri="http://schemas.openxmlformats.org/drawingml/2006/table">
            <a:tbl>
              <a:tblPr>
                <a:tableStyleId>{72833802-FEF1-4C79-8D5D-14CF1EAF98D9}</a:tableStyleId>
              </a:tblPr>
              <a:tblGrid>
                <a:gridCol w="2705253">
                  <a:extLst>
                    <a:ext uri="{9D8B030D-6E8A-4147-A177-3AD203B41FA5}">
                      <a16:colId xmlns:a16="http://schemas.microsoft.com/office/drawing/2014/main" val="2893254907"/>
                    </a:ext>
                  </a:extLst>
                </a:gridCol>
                <a:gridCol w="8902852">
                  <a:extLst>
                    <a:ext uri="{9D8B030D-6E8A-4147-A177-3AD203B41FA5}">
                      <a16:colId xmlns:a16="http://schemas.microsoft.com/office/drawing/2014/main" val="3791815493"/>
                    </a:ext>
                  </a:extLst>
                </a:gridCol>
              </a:tblGrid>
              <a:tr h="190500">
                <a:tc>
                  <a:txBody>
                    <a:bodyPr/>
                    <a:lstStyle/>
                    <a:p>
                      <a:pPr algn="ctr" fontAlgn="b">
                        <a:buNone/>
                      </a:pPr>
                      <a:r>
                        <a:rPr lang="en-US" sz="2400" b="1" u="none" strike="noStrike" dirty="0" err="1">
                          <a:solidFill>
                            <a:schemeClr val="bg1"/>
                          </a:solidFill>
                          <a:effectLst/>
                        </a:rPr>
                        <a:t>ウィジェット名</a:t>
                      </a:r>
                      <a:endParaRPr lang="en-US" sz="2400" b="1" i="0" u="none" strike="noStrike" dirty="0">
                        <a:solidFill>
                          <a:schemeClr val="bg1"/>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91EF"/>
                    </a:solidFill>
                  </a:tcPr>
                </a:tc>
                <a:tc>
                  <a:txBody>
                    <a:bodyPr/>
                    <a:lstStyle/>
                    <a:p>
                      <a:pPr algn="ctr" fontAlgn="b">
                        <a:buNone/>
                      </a:pPr>
                      <a:r>
                        <a:rPr lang="en-US" sz="2400" b="1" u="none" strike="noStrike" dirty="0" err="1">
                          <a:solidFill>
                            <a:schemeClr val="bg1"/>
                          </a:solidFill>
                          <a:effectLst/>
                        </a:rPr>
                        <a:t>說明（tkinter版</a:t>
                      </a:r>
                      <a:r>
                        <a:rPr lang="en-US" sz="2400" b="1" u="none" strike="noStrike" dirty="0">
                          <a:solidFill>
                            <a:schemeClr val="bg1"/>
                          </a:solidFill>
                          <a:effectLst/>
                        </a:rPr>
                        <a:t>）</a:t>
                      </a:r>
                      <a:endParaRPr lang="en-US" sz="2400" b="1" i="0" u="none" strike="noStrike" dirty="0">
                        <a:solidFill>
                          <a:schemeClr val="bg1"/>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91EF"/>
                    </a:solidFill>
                  </a:tcPr>
                </a:tc>
                <a:extLst>
                  <a:ext uri="{0D108BD9-81ED-4DB2-BD59-A6C34878D82A}">
                    <a16:rowId xmlns:a16="http://schemas.microsoft.com/office/drawing/2014/main" val="480704267"/>
                  </a:ext>
                </a:extLst>
              </a:tr>
              <a:tr h="190500">
                <a:tc>
                  <a:txBody>
                    <a:bodyPr/>
                    <a:lstStyle/>
                    <a:p>
                      <a:pPr algn="l" fontAlgn="b">
                        <a:buNone/>
                      </a:pPr>
                      <a:r>
                        <a:rPr lang="en-US" sz="2400" u="none" strike="noStrike">
                          <a:effectLst/>
                        </a:rPr>
                        <a:t>Button</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ボタン</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7563171"/>
                  </a:ext>
                </a:extLst>
              </a:tr>
              <a:tr h="190500">
                <a:tc>
                  <a:txBody>
                    <a:bodyPr/>
                    <a:lstStyle/>
                    <a:p>
                      <a:pPr algn="l" fontAlgn="b">
                        <a:buNone/>
                      </a:pPr>
                      <a:r>
                        <a:rPr lang="en-US" sz="2400" u="none" strike="noStrike" dirty="0">
                          <a:effectLst/>
                        </a:rPr>
                        <a:t>Canvas</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描画領域</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994394"/>
                  </a:ext>
                </a:extLst>
              </a:tr>
              <a:tr h="190500">
                <a:tc>
                  <a:txBody>
                    <a:bodyPr/>
                    <a:lstStyle/>
                    <a:p>
                      <a:pPr algn="l" fontAlgn="b">
                        <a:buNone/>
                      </a:pPr>
                      <a:r>
                        <a:rPr lang="en-US" sz="2400" u="none" strike="noStrike">
                          <a:effectLst/>
                        </a:rPr>
                        <a:t>Entry</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a:effectLst/>
                        </a:rPr>
                        <a:t>テキストフィールド（1行入力できる）</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884433"/>
                  </a:ext>
                </a:extLst>
              </a:tr>
              <a:tr h="190500">
                <a:tc>
                  <a:txBody>
                    <a:bodyPr/>
                    <a:lstStyle/>
                    <a:p>
                      <a:pPr algn="l" fontAlgn="b">
                        <a:buNone/>
                      </a:pPr>
                      <a:r>
                        <a:rPr lang="en-US" sz="2400" u="none" strike="noStrike" dirty="0">
                          <a:effectLst/>
                        </a:rPr>
                        <a:t>Label</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a:effectLst/>
                        </a:rPr>
                        <a:t>ラベル（1行テキストの表示）</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2433009"/>
                  </a:ext>
                </a:extLst>
              </a:tr>
              <a:tr h="190500">
                <a:tc>
                  <a:txBody>
                    <a:bodyPr/>
                    <a:lstStyle/>
                    <a:p>
                      <a:pPr algn="l" fontAlgn="b">
                        <a:buNone/>
                      </a:pPr>
                      <a:r>
                        <a:rPr lang="en-US" sz="2400" u="none" strike="noStrike">
                          <a:effectLst/>
                        </a:rPr>
                        <a:t>Checkbutton</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チェックボックス（ON</a:t>
                      </a:r>
                      <a:r>
                        <a:rPr lang="en-US" sz="2400" u="none" strike="noStrike" dirty="0">
                          <a:effectLst/>
                        </a:rPr>
                        <a:t>/</a:t>
                      </a:r>
                      <a:r>
                        <a:rPr lang="en-US" sz="2400" u="none" strike="noStrike" dirty="0" err="1">
                          <a:effectLst/>
                        </a:rPr>
                        <a:t>OFF切り替えOK</a:t>
                      </a:r>
                      <a:r>
                        <a:rPr lang="en-US" sz="2400" u="none" strike="noStrike" dirty="0">
                          <a:effectLst/>
                        </a:rPr>
                        <a:t>）</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999775"/>
                  </a:ext>
                </a:extLst>
              </a:tr>
              <a:tr h="190500">
                <a:tc>
                  <a:txBody>
                    <a:bodyPr/>
                    <a:lstStyle/>
                    <a:p>
                      <a:pPr algn="l" fontAlgn="b">
                        <a:buNone/>
                      </a:pPr>
                      <a:r>
                        <a:rPr lang="en-US" sz="2400" u="none" strike="noStrike">
                          <a:effectLst/>
                        </a:rPr>
                        <a:t>Combobox</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コンポボックス（Entryとドロップダウンリスト組み合わせOK</a:t>
                      </a:r>
                      <a:r>
                        <a:rPr lang="en-US" sz="2400" u="none" strike="noStrike" dirty="0">
                          <a:effectLst/>
                        </a:rPr>
                        <a:t>）</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4668651"/>
                  </a:ext>
                </a:extLst>
              </a:tr>
              <a:tr h="190500">
                <a:tc>
                  <a:txBody>
                    <a:bodyPr/>
                    <a:lstStyle/>
                    <a:p>
                      <a:pPr algn="l" fontAlgn="b">
                        <a:buNone/>
                      </a:pPr>
                      <a:r>
                        <a:rPr lang="en-US" sz="2400" u="none" strike="noStrike" dirty="0">
                          <a:effectLst/>
                        </a:rPr>
                        <a:t>Frame</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フレーム（長方形のコンテナ</a:t>
                      </a:r>
                      <a:r>
                        <a:rPr lang="en-US" sz="2400" u="none" strike="noStrike" dirty="0">
                          <a:effectLst/>
                        </a:rPr>
                        <a:t>）</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1053537"/>
                  </a:ext>
                </a:extLst>
              </a:tr>
              <a:tr h="190500">
                <a:tc>
                  <a:txBody>
                    <a:bodyPr/>
                    <a:lstStyle/>
                    <a:p>
                      <a:pPr algn="ctr" fontAlgn="b">
                        <a:buNone/>
                      </a:pPr>
                      <a:r>
                        <a:rPr lang="en-US" sz="2400" u="none" strike="noStrike">
                          <a:effectLst/>
                        </a:rPr>
                        <a:t>⋮</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213957"/>
                  </a:ext>
                </a:extLst>
              </a:tr>
            </a:tbl>
          </a:graphicData>
        </a:graphic>
      </p:graphicFrame>
      <p:sp>
        <p:nvSpPr>
          <p:cNvPr id="7" name="TextBox 6">
            <a:extLst>
              <a:ext uri="{FF2B5EF4-FFF2-40B4-BE49-F238E27FC236}">
                <a16:creationId xmlns:a16="http://schemas.microsoft.com/office/drawing/2014/main" id="{A12B02A0-38BC-3063-DB51-2D6D4E34CA05}"/>
              </a:ext>
            </a:extLst>
          </p:cNvPr>
          <p:cNvSpPr txBox="1"/>
          <p:nvPr/>
        </p:nvSpPr>
        <p:spPr>
          <a:xfrm>
            <a:off x="228447" y="6190218"/>
            <a:ext cx="3036793" cy="369332"/>
          </a:xfrm>
          <a:prstGeom prst="rect">
            <a:avLst/>
          </a:prstGeom>
          <a:noFill/>
        </p:spPr>
        <p:txBody>
          <a:bodyPr wrap="none" rtlCol="0">
            <a:spAutoFit/>
          </a:bodyPr>
          <a:lstStyle/>
          <a:p>
            <a:pPr algn="r"/>
            <a:r>
              <a:rPr lang="en-US" altLang="ja-JP" dirty="0"/>
              <a:t>※ </a:t>
            </a:r>
            <a:r>
              <a:rPr lang="ja-JP" altLang="en-US" dirty="0"/>
              <a:t>本講義では</a:t>
            </a:r>
            <a:r>
              <a:rPr lang="en-US" altLang="ja-JP" dirty="0" err="1"/>
              <a:t>ttk</a:t>
            </a:r>
            <a:r>
              <a:rPr lang="ja-JP" altLang="en-US" dirty="0"/>
              <a:t>を使わない</a:t>
            </a:r>
            <a:endParaRPr lang="en-US" dirty="0"/>
          </a:p>
        </p:txBody>
      </p:sp>
      <p:sp>
        <p:nvSpPr>
          <p:cNvPr id="8" name="TextBox 7">
            <a:extLst>
              <a:ext uri="{FF2B5EF4-FFF2-40B4-BE49-F238E27FC236}">
                <a16:creationId xmlns:a16="http://schemas.microsoft.com/office/drawing/2014/main" id="{6C4A9732-545F-544B-FA57-A3BF46DD27BC}"/>
              </a:ext>
            </a:extLst>
          </p:cNvPr>
          <p:cNvSpPr txBox="1"/>
          <p:nvPr/>
        </p:nvSpPr>
        <p:spPr>
          <a:xfrm>
            <a:off x="11196076" y="5623592"/>
            <a:ext cx="703975" cy="369332"/>
          </a:xfrm>
          <a:prstGeom prst="rect">
            <a:avLst/>
          </a:prstGeom>
          <a:noFill/>
        </p:spPr>
        <p:txBody>
          <a:bodyPr wrap="none" rtlCol="0">
            <a:spAutoFit/>
          </a:bodyPr>
          <a:lstStyle/>
          <a:p>
            <a:pPr algn="r"/>
            <a:r>
              <a:rPr lang="en-US" altLang="ja-JP" dirty="0"/>
              <a:t>p. 26</a:t>
            </a:r>
          </a:p>
        </p:txBody>
      </p:sp>
    </p:spTree>
    <p:extLst>
      <p:ext uri="{BB962C8B-B14F-4D97-AF65-F5344CB8AC3E}">
        <p14:creationId xmlns:p14="http://schemas.microsoft.com/office/powerpoint/2010/main" val="2240122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Connector: Elbow 51">
            <a:extLst>
              <a:ext uri="{FF2B5EF4-FFF2-40B4-BE49-F238E27FC236}">
                <a16:creationId xmlns:a16="http://schemas.microsoft.com/office/drawing/2014/main" id="{17915E72-40AB-520B-8F7A-DC3C2897459B}"/>
              </a:ext>
            </a:extLst>
          </p:cNvPr>
          <p:cNvCxnSpPr>
            <a:stCxn id="6" idx="3"/>
            <a:endCxn id="46" idx="1"/>
          </p:cNvCxnSpPr>
          <p:nvPr/>
        </p:nvCxnSpPr>
        <p:spPr>
          <a:xfrm>
            <a:off x="3378196" y="2896452"/>
            <a:ext cx="5176841" cy="478574"/>
          </a:xfrm>
          <a:prstGeom prst="bentConnector4">
            <a:avLst>
              <a:gd name="adj1" fmla="val -12270"/>
              <a:gd name="adj2" fmla="val -2757"/>
            </a:avLst>
          </a:prstGeom>
          <a:ln w="28575">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2" name="Text Placeholder 1">
            <a:extLst>
              <a:ext uri="{FF2B5EF4-FFF2-40B4-BE49-F238E27FC236}">
                <a16:creationId xmlns:a16="http://schemas.microsoft.com/office/drawing/2014/main" id="{236732BC-ED7C-758E-043A-5C593FC963C5}"/>
              </a:ext>
            </a:extLst>
          </p:cNvPr>
          <p:cNvSpPr>
            <a:spLocks noGrp="1"/>
          </p:cNvSpPr>
          <p:nvPr>
            <p:ph type="body" sz="quarter" idx="11"/>
          </p:nvPr>
        </p:nvSpPr>
        <p:spPr/>
        <p:txBody>
          <a:bodyPr/>
          <a:lstStyle/>
          <a:p>
            <a:r>
              <a:rPr lang="en-US" dirty="0"/>
              <a:t>2-4</a:t>
            </a:r>
            <a:r>
              <a:rPr lang="ja-JP" altLang="en-US" dirty="0"/>
              <a:t>　階層構成の配置 ①</a:t>
            </a:r>
            <a:endParaRPr lang="en-US" dirty="0"/>
          </a:p>
        </p:txBody>
      </p:sp>
      <p:sp>
        <p:nvSpPr>
          <p:cNvPr id="3" name="Text Placeholder 2">
            <a:extLst>
              <a:ext uri="{FF2B5EF4-FFF2-40B4-BE49-F238E27FC236}">
                <a16:creationId xmlns:a16="http://schemas.microsoft.com/office/drawing/2014/main" id="{D03E6D8E-D1E6-A3B0-1451-D6A08D923A0E}"/>
              </a:ext>
            </a:extLst>
          </p:cNvPr>
          <p:cNvSpPr>
            <a:spLocks noGrp="1"/>
          </p:cNvSpPr>
          <p:nvPr>
            <p:ph type="body" sz="quarter" idx="13"/>
          </p:nvPr>
        </p:nvSpPr>
        <p:spPr>
          <a:xfrm>
            <a:off x="114444" y="1133475"/>
            <a:ext cx="11963109" cy="2104577"/>
          </a:xfrm>
        </p:spPr>
        <p:txBody>
          <a:bodyPr/>
          <a:lstStyle/>
          <a:p>
            <a:pPr algn="just"/>
            <a:r>
              <a:rPr lang="ja-JP" altLang="en-US" spc="-60" dirty="0"/>
              <a:t>コンテナは、ウィジェットを入れて</a:t>
            </a:r>
            <a:r>
              <a:rPr lang="ja-JP" altLang="en-US" spc="-60" dirty="0">
                <a:solidFill>
                  <a:srgbClr val="D67D61"/>
                </a:solidFill>
              </a:rPr>
              <a:t>整理するための領域</a:t>
            </a:r>
            <a:r>
              <a:rPr lang="ja-JP" altLang="en-US" spc="-60" dirty="0"/>
              <a:t>である（例：</a:t>
            </a:r>
            <a:r>
              <a:rPr lang="en-US" altLang="ja-JP" spc="-60" dirty="0"/>
              <a:t>Window</a:t>
            </a:r>
            <a:r>
              <a:rPr lang="ja-JP" altLang="en-US" spc="-60" dirty="0"/>
              <a:t>、</a:t>
            </a:r>
            <a:r>
              <a:rPr lang="en-US" altLang="ja-JP" spc="-60" dirty="0"/>
              <a:t>Frame</a:t>
            </a:r>
            <a:r>
              <a:rPr lang="ja-JP" altLang="en-US" spc="-60" dirty="0"/>
              <a:t>）</a:t>
            </a:r>
            <a:r>
              <a:rPr lang="ja-JP" altLang="en-US" dirty="0"/>
              <a:t>。</a:t>
            </a:r>
            <a:endParaRPr lang="en-US" altLang="ja-JP" dirty="0"/>
          </a:p>
          <a:p>
            <a:pPr algn="just"/>
            <a:r>
              <a:rPr lang="en-US" altLang="ja-JP" dirty="0"/>
              <a:t>Window</a:t>
            </a:r>
            <a:r>
              <a:rPr lang="ja-JP" altLang="en-US" dirty="0"/>
              <a:t>：</a:t>
            </a:r>
            <a:r>
              <a:rPr lang="en-US" altLang="ja-JP" dirty="0"/>
              <a:t>GUI</a:t>
            </a:r>
            <a:r>
              <a:rPr lang="ja-JP" altLang="en-US" dirty="0"/>
              <a:t>の基本となる最上位のコンテナである。</a:t>
            </a:r>
            <a:endParaRPr lang="en-US" altLang="ja-JP" dirty="0"/>
          </a:p>
          <a:p>
            <a:pPr algn="just"/>
            <a:r>
              <a:rPr lang="en-US" altLang="ja-JP" dirty="0"/>
              <a:t>Frame</a:t>
            </a:r>
            <a:r>
              <a:rPr lang="ja-JP" altLang="en-US" dirty="0"/>
              <a:t>： </a:t>
            </a:r>
            <a:r>
              <a:rPr lang="en-US" altLang="ja-JP" dirty="0"/>
              <a:t>Label</a:t>
            </a:r>
            <a:r>
              <a:rPr lang="ja-JP" altLang="en-US" dirty="0"/>
              <a:t>、</a:t>
            </a:r>
            <a:r>
              <a:rPr lang="en-US" altLang="ja-JP" dirty="0"/>
              <a:t>Entry</a:t>
            </a:r>
            <a:r>
              <a:rPr lang="ja-JP" altLang="en-US" dirty="0"/>
              <a:t>などのウィジェットをまとめて配置するためのコンテナである。</a:t>
            </a:r>
          </a:p>
        </p:txBody>
      </p:sp>
      <p:sp>
        <p:nvSpPr>
          <p:cNvPr id="4" name="Slide Number Placeholder 3">
            <a:extLst>
              <a:ext uri="{FF2B5EF4-FFF2-40B4-BE49-F238E27FC236}">
                <a16:creationId xmlns:a16="http://schemas.microsoft.com/office/drawing/2014/main" id="{A843C9B7-F65F-B657-4767-E492490EABFC}"/>
              </a:ext>
            </a:extLst>
          </p:cNvPr>
          <p:cNvSpPr>
            <a:spLocks noGrp="1"/>
          </p:cNvSpPr>
          <p:nvPr>
            <p:ph type="sldNum" sz="quarter" idx="15"/>
          </p:nvPr>
        </p:nvSpPr>
        <p:spPr/>
        <p:txBody>
          <a:bodyPr/>
          <a:lstStyle/>
          <a:p>
            <a:fld id="{CBD12358-51D2-46B3-9BDE-DF29528B9454}" type="slidenum">
              <a:rPr lang="en-US" smtClean="0"/>
              <a:pPr/>
              <a:t>13</a:t>
            </a:fld>
            <a:endParaRPr lang="en-US" dirty="0"/>
          </a:p>
        </p:txBody>
      </p:sp>
      <p:sp>
        <p:nvSpPr>
          <p:cNvPr id="6" name="Rectangle 5">
            <a:extLst>
              <a:ext uri="{FF2B5EF4-FFF2-40B4-BE49-F238E27FC236}">
                <a16:creationId xmlns:a16="http://schemas.microsoft.com/office/drawing/2014/main" id="{D24CD757-347D-3B4C-9111-193546C31E8B}"/>
              </a:ext>
            </a:extLst>
          </p:cNvPr>
          <p:cNvSpPr/>
          <p:nvPr/>
        </p:nvSpPr>
        <p:spPr>
          <a:xfrm>
            <a:off x="1323484" y="2711786"/>
            <a:ext cx="2054712" cy="369332"/>
          </a:xfrm>
          <a:prstGeom prst="rect">
            <a:avLst/>
          </a:prstGeom>
          <a:solidFill>
            <a:srgbClr val="D67D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Top level window</a:t>
            </a:r>
            <a:endParaRPr lang="en-US" dirty="0"/>
          </a:p>
        </p:txBody>
      </p:sp>
      <p:sp>
        <p:nvSpPr>
          <p:cNvPr id="8" name="Rectangle 7">
            <a:extLst>
              <a:ext uri="{FF2B5EF4-FFF2-40B4-BE49-F238E27FC236}">
                <a16:creationId xmlns:a16="http://schemas.microsoft.com/office/drawing/2014/main" id="{8DCAEF92-E7C0-F2F9-5E38-483AD8FC52CA}"/>
              </a:ext>
            </a:extLst>
          </p:cNvPr>
          <p:cNvSpPr/>
          <p:nvPr/>
        </p:nvSpPr>
        <p:spPr>
          <a:xfrm>
            <a:off x="2634126" y="3672743"/>
            <a:ext cx="90185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Label</a:t>
            </a:r>
            <a:endParaRPr lang="en-US" dirty="0"/>
          </a:p>
        </p:txBody>
      </p:sp>
      <p:sp>
        <p:nvSpPr>
          <p:cNvPr id="10" name="Rectangle 9">
            <a:extLst>
              <a:ext uri="{FF2B5EF4-FFF2-40B4-BE49-F238E27FC236}">
                <a16:creationId xmlns:a16="http://schemas.microsoft.com/office/drawing/2014/main" id="{F5D0BB5E-C1CC-4DEC-CE75-A83450394E70}"/>
              </a:ext>
            </a:extLst>
          </p:cNvPr>
          <p:cNvSpPr/>
          <p:nvPr/>
        </p:nvSpPr>
        <p:spPr>
          <a:xfrm>
            <a:off x="2634126" y="4188942"/>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sp>
        <p:nvSpPr>
          <p:cNvPr id="12" name="Rectangle 11">
            <a:extLst>
              <a:ext uri="{FF2B5EF4-FFF2-40B4-BE49-F238E27FC236}">
                <a16:creationId xmlns:a16="http://schemas.microsoft.com/office/drawing/2014/main" id="{9416CCDF-0F46-3206-A872-AE527F460161}"/>
              </a:ext>
            </a:extLst>
          </p:cNvPr>
          <p:cNvSpPr/>
          <p:nvPr/>
        </p:nvSpPr>
        <p:spPr>
          <a:xfrm>
            <a:off x="3378196" y="4705148"/>
            <a:ext cx="1496211"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err="1"/>
              <a:t>Radiobutton</a:t>
            </a:r>
            <a:endParaRPr lang="en-US" dirty="0"/>
          </a:p>
        </p:txBody>
      </p:sp>
      <p:sp>
        <p:nvSpPr>
          <p:cNvPr id="14" name="Rectangle 13">
            <a:extLst>
              <a:ext uri="{FF2B5EF4-FFF2-40B4-BE49-F238E27FC236}">
                <a16:creationId xmlns:a16="http://schemas.microsoft.com/office/drawing/2014/main" id="{51C41ED6-8420-86D6-8467-D0C4726D0392}"/>
              </a:ext>
            </a:extLst>
          </p:cNvPr>
          <p:cNvSpPr/>
          <p:nvPr/>
        </p:nvSpPr>
        <p:spPr>
          <a:xfrm>
            <a:off x="3378196" y="5221347"/>
            <a:ext cx="1496211"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err="1"/>
              <a:t>Radiobutton</a:t>
            </a:r>
            <a:endParaRPr lang="en-US" dirty="0"/>
          </a:p>
        </p:txBody>
      </p:sp>
      <p:sp>
        <p:nvSpPr>
          <p:cNvPr id="16" name="Rectangle 15">
            <a:extLst>
              <a:ext uri="{FF2B5EF4-FFF2-40B4-BE49-F238E27FC236}">
                <a16:creationId xmlns:a16="http://schemas.microsoft.com/office/drawing/2014/main" id="{4419A067-80C1-EF7F-8342-9B3BADBC1352}"/>
              </a:ext>
            </a:extLst>
          </p:cNvPr>
          <p:cNvSpPr/>
          <p:nvPr/>
        </p:nvSpPr>
        <p:spPr>
          <a:xfrm>
            <a:off x="2634126" y="5737546"/>
            <a:ext cx="74407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Entry</a:t>
            </a:r>
          </a:p>
        </p:txBody>
      </p:sp>
      <p:cxnSp>
        <p:nvCxnSpPr>
          <p:cNvPr id="18" name="Connector: Elbow 17">
            <a:extLst>
              <a:ext uri="{FF2B5EF4-FFF2-40B4-BE49-F238E27FC236}">
                <a16:creationId xmlns:a16="http://schemas.microsoft.com/office/drawing/2014/main" id="{A9A44F2A-0BBA-045C-0A88-372D6279CE8E}"/>
              </a:ext>
            </a:extLst>
          </p:cNvPr>
          <p:cNvCxnSpPr>
            <a:cxnSpLocks/>
            <a:stCxn id="6" idx="2"/>
            <a:endCxn id="8" idx="1"/>
          </p:cNvCxnSpPr>
          <p:nvPr/>
        </p:nvCxnSpPr>
        <p:spPr>
          <a:xfrm rot="16200000" flipH="1">
            <a:off x="2104338" y="3327620"/>
            <a:ext cx="776291"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9" name="Connector: Elbow 18">
            <a:extLst>
              <a:ext uri="{FF2B5EF4-FFF2-40B4-BE49-F238E27FC236}">
                <a16:creationId xmlns:a16="http://schemas.microsoft.com/office/drawing/2014/main" id="{74682D7B-F768-708A-DA41-89434AAEF4E8}"/>
              </a:ext>
            </a:extLst>
          </p:cNvPr>
          <p:cNvCxnSpPr>
            <a:cxnSpLocks/>
            <a:stCxn id="6" idx="2"/>
            <a:endCxn id="10" idx="1"/>
          </p:cNvCxnSpPr>
          <p:nvPr/>
        </p:nvCxnSpPr>
        <p:spPr>
          <a:xfrm rot="16200000" flipH="1">
            <a:off x="1846238" y="3585720"/>
            <a:ext cx="1292490"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22" name="Connector: Elbow 21">
            <a:extLst>
              <a:ext uri="{FF2B5EF4-FFF2-40B4-BE49-F238E27FC236}">
                <a16:creationId xmlns:a16="http://schemas.microsoft.com/office/drawing/2014/main" id="{05FAEE35-26E7-5B07-7FF7-EAACFBBF635B}"/>
              </a:ext>
            </a:extLst>
          </p:cNvPr>
          <p:cNvCxnSpPr>
            <a:cxnSpLocks/>
            <a:stCxn id="6" idx="2"/>
            <a:endCxn id="16" idx="1"/>
          </p:cNvCxnSpPr>
          <p:nvPr/>
        </p:nvCxnSpPr>
        <p:spPr>
          <a:xfrm rot="16200000" flipH="1">
            <a:off x="1071936" y="4360022"/>
            <a:ext cx="2841094"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25" name="Connector: Elbow 24">
            <a:extLst>
              <a:ext uri="{FF2B5EF4-FFF2-40B4-BE49-F238E27FC236}">
                <a16:creationId xmlns:a16="http://schemas.microsoft.com/office/drawing/2014/main" id="{64E40991-FCCC-B14B-3D7E-E395B3717613}"/>
              </a:ext>
            </a:extLst>
          </p:cNvPr>
          <p:cNvCxnSpPr>
            <a:cxnSpLocks/>
            <a:stCxn id="10" idx="2"/>
            <a:endCxn id="14" idx="1"/>
          </p:cNvCxnSpPr>
          <p:nvPr/>
        </p:nvCxnSpPr>
        <p:spPr>
          <a:xfrm rot="16200000" flipH="1">
            <a:off x="2807754" y="4835570"/>
            <a:ext cx="847739" cy="293145"/>
          </a:xfrm>
          <a:prstGeom prst="bentConnector2">
            <a:avLst/>
          </a:prstGeom>
        </p:spPr>
        <p:style>
          <a:lnRef idx="2">
            <a:schemeClr val="dk1"/>
          </a:lnRef>
          <a:fillRef idx="0">
            <a:schemeClr val="dk1"/>
          </a:fillRef>
          <a:effectRef idx="1">
            <a:schemeClr val="dk1"/>
          </a:effectRef>
          <a:fontRef idx="minor">
            <a:schemeClr val="tx1"/>
          </a:fontRef>
        </p:style>
      </p:cxnSp>
      <p:cxnSp>
        <p:nvCxnSpPr>
          <p:cNvPr id="28" name="Connector: Elbow 27">
            <a:extLst>
              <a:ext uri="{FF2B5EF4-FFF2-40B4-BE49-F238E27FC236}">
                <a16:creationId xmlns:a16="http://schemas.microsoft.com/office/drawing/2014/main" id="{1CB132A4-2759-0B28-FE6C-4E0549778005}"/>
              </a:ext>
            </a:extLst>
          </p:cNvPr>
          <p:cNvCxnSpPr>
            <a:cxnSpLocks/>
            <a:stCxn id="10" idx="2"/>
            <a:endCxn id="12" idx="1"/>
          </p:cNvCxnSpPr>
          <p:nvPr/>
        </p:nvCxnSpPr>
        <p:spPr>
          <a:xfrm rot="16200000" flipH="1">
            <a:off x="3065853" y="4577471"/>
            <a:ext cx="331540" cy="293145"/>
          </a:xfrm>
          <a:prstGeom prst="bentConnector2">
            <a:avLst/>
          </a:prstGeom>
        </p:spPr>
        <p:style>
          <a:lnRef idx="2">
            <a:schemeClr val="dk1"/>
          </a:lnRef>
          <a:fillRef idx="0">
            <a:schemeClr val="dk1"/>
          </a:fillRef>
          <a:effectRef idx="1">
            <a:schemeClr val="dk1"/>
          </a:effectRef>
          <a:fontRef idx="minor">
            <a:schemeClr val="tx1"/>
          </a:fontRef>
        </p:style>
      </p:cxnSp>
      <p:pic>
        <p:nvPicPr>
          <p:cNvPr id="43" name="Picture 42">
            <a:extLst>
              <a:ext uri="{FF2B5EF4-FFF2-40B4-BE49-F238E27FC236}">
                <a16:creationId xmlns:a16="http://schemas.microsoft.com/office/drawing/2014/main" id="{EA5F0F31-314F-2060-A4BC-15CBF992DA96}"/>
              </a:ext>
            </a:extLst>
          </p:cNvPr>
          <p:cNvPicPr>
            <a:picLocks noChangeAspect="1"/>
          </p:cNvPicPr>
          <p:nvPr/>
        </p:nvPicPr>
        <p:blipFill>
          <a:blip r:embed="rId2"/>
          <a:srcRect l="2152" t="1329" r="2471" b="2082"/>
          <a:stretch>
            <a:fillRect/>
          </a:stretch>
        </p:blipFill>
        <p:spPr>
          <a:xfrm>
            <a:off x="6492875" y="3744818"/>
            <a:ext cx="4124325" cy="1825625"/>
          </a:xfrm>
          <a:prstGeom prst="rect">
            <a:avLst/>
          </a:prstGeom>
          <a:ln w="28575">
            <a:noFill/>
          </a:ln>
        </p:spPr>
      </p:pic>
      <p:sp>
        <p:nvSpPr>
          <p:cNvPr id="46" name="Left Brace 45">
            <a:extLst>
              <a:ext uri="{FF2B5EF4-FFF2-40B4-BE49-F238E27FC236}">
                <a16:creationId xmlns:a16="http://schemas.microsoft.com/office/drawing/2014/main" id="{86CD565C-1811-D5AB-085D-C7BA95FFA6F7}"/>
              </a:ext>
            </a:extLst>
          </p:cNvPr>
          <p:cNvSpPr/>
          <p:nvPr/>
        </p:nvSpPr>
        <p:spPr>
          <a:xfrm rot="5400000">
            <a:off x="8413393" y="1454506"/>
            <a:ext cx="283287" cy="4124326"/>
          </a:xfrm>
          <a:prstGeom prst="leftBrace">
            <a:avLst/>
          </a:prstGeom>
          <a:ln w="28575">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5" name="Rectangle 54">
            <a:extLst>
              <a:ext uri="{FF2B5EF4-FFF2-40B4-BE49-F238E27FC236}">
                <a16:creationId xmlns:a16="http://schemas.microsoft.com/office/drawing/2014/main" id="{B726654C-5549-4C23-3911-D8F609997C78}"/>
              </a:ext>
            </a:extLst>
          </p:cNvPr>
          <p:cNvSpPr/>
          <p:nvPr/>
        </p:nvSpPr>
        <p:spPr>
          <a:xfrm>
            <a:off x="7821781" y="4219789"/>
            <a:ext cx="1447800" cy="211325"/>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Connector: Elbow 55">
            <a:extLst>
              <a:ext uri="{FF2B5EF4-FFF2-40B4-BE49-F238E27FC236}">
                <a16:creationId xmlns:a16="http://schemas.microsoft.com/office/drawing/2014/main" id="{CCD33E0E-5A71-F166-450C-4BA2DA0DDCB1}"/>
              </a:ext>
            </a:extLst>
          </p:cNvPr>
          <p:cNvCxnSpPr>
            <a:cxnSpLocks/>
            <a:stCxn id="8" idx="3"/>
            <a:endCxn id="55" idx="0"/>
          </p:cNvCxnSpPr>
          <p:nvPr/>
        </p:nvCxnSpPr>
        <p:spPr>
          <a:xfrm>
            <a:off x="3535976" y="3857409"/>
            <a:ext cx="5009705" cy="362380"/>
          </a:xfrm>
          <a:prstGeom prst="bentConnector2">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61" name="Rectangle 60">
            <a:extLst>
              <a:ext uri="{FF2B5EF4-FFF2-40B4-BE49-F238E27FC236}">
                <a16:creationId xmlns:a16="http://schemas.microsoft.com/office/drawing/2014/main" id="{ABAF134F-7A53-6A66-90F2-9DBDF7D8B7FF}"/>
              </a:ext>
            </a:extLst>
          </p:cNvPr>
          <p:cNvSpPr/>
          <p:nvPr/>
        </p:nvSpPr>
        <p:spPr>
          <a:xfrm>
            <a:off x="7831136" y="4472466"/>
            <a:ext cx="1447800" cy="67897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436CC46-5F16-23CB-46F5-AA8D861D9303}"/>
              </a:ext>
            </a:extLst>
          </p:cNvPr>
          <p:cNvSpPr/>
          <p:nvPr/>
        </p:nvSpPr>
        <p:spPr>
          <a:xfrm>
            <a:off x="8065689" y="4528512"/>
            <a:ext cx="998936" cy="2466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6F07DBCF-2F4E-2171-3EEA-635643F02F5C}"/>
              </a:ext>
            </a:extLst>
          </p:cNvPr>
          <p:cNvSpPr/>
          <p:nvPr/>
        </p:nvSpPr>
        <p:spPr>
          <a:xfrm>
            <a:off x="8065689" y="4877849"/>
            <a:ext cx="998936" cy="2466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6" name="Connector: Elbow 65">
            <a:extLst>
              <a:ext uri="{FF2B5EF4-FFF2-40B4-BE49-F238E27FC236}">
                <a16:creationId xmlns:a16="http://schemas.microsoft.com/office/drawing/2014/main" id="{28ED0734-6778-8F70-855B-CD3309C3E921}"/>
              </a:ext>
            </a:extLst>
          </p:cNvPr>
          <p:cNvCxnSpPr>
            <a:cxnSpLocks/>
            <a:stCxn id="10" idx="3"/>
          </p:cNvCxnSpPr>
          <p:nvPr/>
        </p:nvCxnSpPr>
        <p:spPr>
          <a:xfrm>
            <a:off x="3535976" y="4373608"/>
            <a:ext cx="4295160" cy="401591"/>
          </a:xfrm>
          <a:prstGeom prst="bentConnector3">
            <a:avLst>
              <a:gd name="adj1" fmla="val 92800"/>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70" name="Connector: Elbow 69">
            <a:extLst>
              <a:ext uri="{FF2B5EF4-FFF2-40B4-BE49-F238E27FC236}">
                <a16:creationId xmlns:a16="http://schemas.microsoft.com/office/drawing/2014/main" id="{3C6EFA8D-61B0-2D71-9679-800D4604191E}"/>
              </a:ext>
            </a:extLst>
          </p:cNvPr>
          <p:cNvCxnSpPr>
            <a:cxnSpLocks/>
            <a:stCxn id="12" idx="3"/>
          </p:cNvCxnSpPr>
          <p:nvPr/>
        </p:nvCxnSpPr>
        <p:spPr>
          <a:xfrm flipV="1">
            <a:off x="4874407" y="4643127"/>
            <a:ext cx="3191282" cy="246687"/>
          </a:xfrm>
          <a:prstGeom prst="bentConnector3">
            <a:avLst>
              <a:gd name="adj1" fmla="val 12990"/>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C50D6E14-56DC-F078-7BFD-758D509ECC36}"/>
              </a:ext>
            </a:extLst>
          </p:cNvPr>
          <p:cNvCxnSpPr>
            <a:cxnSpLocks/>
            <a:stCxn id="14" idx="3"/>
            <a:endCxn id="65" idx="1"/>
          </p:cNvCxnSpPr>
          <p:nvPr/>
        </p:nvCxnSpPr>
        <p:spPr>
          <a:xfrm flipV="1">
            <a:off x="4874407" y="5001193"/>
            <a:ext cx="3191282" cy="404820"/>
          </a:xfrm>
          <a:prstGeom prst="bentConnector3">
            <a:avLst>
              <a:gd name="adj1" fmla="val 13587"/>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0" name="Rectangle 79">
            <a:extLst>
              <a:ext uri="{FF2B5EF4-FFF2-40B4-BE49-F238E27FC236}">
                <a16:creationId xmlns:a16="http://schemas.microsoft.com/office/drawing/2014/main" id="{7B9CA26A-F9AA-FAB9-7EB8-DD09E038AECD}"/>
              </a:ext>
            </a:extLst>
          </p:cNvPr>
          <p:cNvSpPr/>
          <p:nvPr/>
        </p:nvSpPr>
        <p:spPr>
          <a:xfrm>
            <a:off x="7678906" y="5188749"/>
            <a:ext cx="1755854" cy="28177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Connector: Elbow 80">
            <a:extLst>
              <a:ext uri="{FF2B5EF4-FFF2-40B4-BE49-F238E27FC236}">
                <a16:creationId xmlns:a16="http://schemas.microsoft.com/office/drawing/2014/main" id="{F736897D-865D-F358-3734-B36C05A73B98}"/>
              </a:ext>
            </a:extLst>
          </p:cNvPr>
          <p:cNvCxnSpPr>
            <a:cxnSpLocks/>
            <a:stCxn id="16" idx="3"/>
            <a:endCxn id="80" idx="1"/>
          </p:cNvCxnSpPr>
          <p:nvPr/>
        </p:nvCxnSpPr>
        <p:spPr>
          <a:xfrm flipV="1">
            <a:off x="3378196" y="5329637"/>
            <a:ext cx="4300710" cy="592575"/>
          </a:xfrm>
          <a:prstGeom prst="bentConnector3">
            <a:avLst>
              <a:gd name="adj1" fmla="val 49114"/>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a:extLst>
              <a:ext uri="{FF2B5EF4-FFF2-40B4-BE49-F238E27FC236}">
                <a16:creationId xmlns:a16="http://schemas.microsoft.com/office/drawing/2014/main" id="{A6615505-436A-0C3D-CD3E-C1E363A9A919}"/>
              </a:ext>
            </a:extLst>
          </p:cNvPr>
          <p:cNvSpPr/>
          <p:nvPr/>
        </p:nvSpPr>
        <p:spPr>
          <a:xfrm>
            <a:off x="6492873" y="3744818"/>
            <a:ext cx="4124325" cy="1825625"/>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573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par>
                                <p:cTn id="11" presetID="10"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fade">
                                      <p:cBhvr>
                                        <p:cTn id="26" dur="500"/>
                                        <p:tgtEl>
                                          <p:spTgt spid="6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fade">
                                      <p:cBhvr>
                                        <p:cTn id="29" dur="500"/>
                                        <p:tgtEl>
                                          <p:spTgt spid="6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81"/>
                                        </p:tgtEl>
                                        <p:attrNameLst>
                                          <p:attrName>style.visibility</p:attrName>
                                        </p:attrNameLst>
                                      </p:cBhvr>
                                      <p:to>
                                        <p:strVal val="visible"/>
                                      </p:to>
                                    </p:set>
                                    <p:animEffect transition="in" filter="fade">
                                      <p:cBhvr>
                                        <p:cTn id="34" dur="500"/>
                                        <p:tgtEl>
                                          <p:spTgt spid="8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0"/>
                                        </p:tgtEl>
                                        <p:attrNameLst>
                                          <p:attrName>style.visibility</p:attrName>
                                        </p:attrNameLst>
                                      </p:cBhvr>
                                      <p:to>
                                        <p:strVal val="visible"/>
                                      </p:to>
                                    </p:set>
                                    <p:animEffect transition="in" filter="fade">
                                      <p:cBhvr>
                                        <p:cTn id="37" dur="500"/>
                                        <p:tgtEl>
                                          <p:spTgt spid="8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fade">
                                      <p:cBhvr>
                                        <p:cTn id="42" dur="500"/>
                                        <p:tgtEl>
                                          <p:spTgt spid="7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fade">
                                      <p:cBhvr>
                                        <p:cTn id="45" dur="500"/>
                                        <p:tgtEl>
                                          <p:spTgt spid="6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75"/>
                                        </p:tgtEl>
                                        <p:attrNameLst>
                                          <p:attrName>style.visibility</p:attrName>
                                        </p:attrNameLst>
                                      </p:cBhvr>
                                      <p:to>
                                        <p:strVal val="visible"/>
                                      </p:to>
                                    </p:set>
                                    <p:animEffect transition="in" filter="fade">
                                      <p:cBhvr>
                                        <p:cTn id="50" dur="500"/>
                                        <p:tgtEl>
                                          <p:spTgt spid="7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fade">
                                      <p:cBhvr>
                                        <p:cTn id="5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5" grpId="0" animBg="1"/>
      <p:bldP spid="61" grpId="0" animBg="1"/>
      <p:bldP spid="63" grpId="0" animBg="1"/>
      <p:bldP spid="65" grpId="0" animBg="1"/>
      <p:bldP spid="80" grpId="0" animBg="1"/>
      <p:bldP spid="8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56F5E-1753-647D-98BB-63C1B7D3F9C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F93348D-072D-1F56-1F73-59118B8360B1}"/>
              </a:ext>
            </a:extLst>
          </p:cNvPr>
          <p:cNvSpPr>
            <a:spLocks noGrp="1"/>
          </p:cNvSpPr>
          <p:nvPr>
            <p:ph type="body" sz="quarter" idx="11"/>
          </p:nvPr>
        </p:nvSpPr>
        <p:spPr/>
        <p:txBody>
          <a:bodyPr/>
          <a:lstStyle/>
          <a:p>
            <a:r>
              <a:rPr lang="en-US" dirty="0"/>
              <a:t>2-4</a:t>
            </a:r>
            <a:r>
              <a:rPr lang="ja-JP" altLang="en-US" dirty="0"/>
              <a:t>　階層構成の配置 ②</a:t>
            </a:r>
            <a:endParaRPr lang="en-US" dirty="0"/>
          </a:p>
        </p:txBody>
      </p:sp>
      <p:sp>
        <p:nvSpPr>
          <p:cNvPr id="3" name="Text Placeholder 2">
            <a:extLst>
              <a:ext uri="{FF2B5EF4-FFF2-40B4-BE49-F238E27FC236}">
                <a16:creationId xmlns:a16="http://schemas.microsoft.com/office/drawing/2014/main" id="{0D2A6248-8F98-6E59-2BB5-FB331B178737}"/>
              </a:ext>
            </a:extLst>
          </p:cNvPr>
          <p:cNvSpPr>
            <a:spLocks noGrp="1"/>
          </p:cNvSpPr>
          <p:nvPr>
            <p:ph type="body" sz="quarter" idx="13"/>
          </p:nvPr>
        </p:nvSpPr>
        <p:spPr>
          <a:xfrm>
            <a:off x="114444" y="1133475"/>
            <a:ext cx="11963109" cy="2397125"/>
          </a:xfrm>
        </p:spPr>
        <p:txBody>
          <a:bodyPr>
            <a:normAutofit/>
          </a:bodyPr>
          <a:lstStyle/>
          <a:p>
            <a:pPr algn="just"/>
            <a:r>
              <a:rPr lang="ja-JP" altLang="en-US" dirty="0"/>
              <a:t>配置は、</a:t>
            </a:r>
            <a:r>
              <a:rPr lang="ja-JP" altLang="en-US" dirty="0">
                <a:solidFill>
                  <a:srgbClr val="D67D61"/>
                </a:solidFill>
              </a:rPr>
              <a:t>コンテナの中で</a:t>
            </a:r>
            <a:r>
              <a:rPr lang="ja-JP" altLang="en-US" dirty="0"/>
              <a:t>ウィジェットの位置を決める方法である。</a:t>
            </a:r>
          </a:p>
          <a:p>
            <a:pPr marL="742950" lvl="1" indent="-400050" algn="just">
              <a:buFont typeface="Courier New" panose="02070309020205020404" pitchFamily="49" charset="0"/>
              <a:buChar char="o"/>
            </a:pPr>
            <a:r>
              <a:rPr lang="en-US" altLang="ja-JP" sz="2400" dirty="0">
                <a:latin typeface="+mj-lt"/>
              </a:rPr>
              <a:t>pack</a:t>
            </a:r>
            <a:r>
              <a:rPr lang="ja-JP" altLang="en-US" sz="2400" dirty="0">
                <a:latin typeface="+mj-lt"/>
              </a:rPr>
              <a:t>：上・下・左・右の順に並べる</a:t>
            </a:r>
          </a:p>
          <a:p>
            <a:pPr marL="742950" lvl="1" indent="-400050" algn="just">
              <a:buFont typeface="Courier New" panose="02070309020205020404" pitchFamily="49" charset="0"/>
              <a:buChar char="o"/>
            </a:pPr>
            <a:r>
              <a:rPr lang="en-US" altLang="ja-JP" sz="2400" dirty="0">
                <a:latin typeface="+mj-lt"/>
              </a:rPr>
              <a:t> </a:t>
            </a:r>
            <a:r>
              <a:rPr lang="en-US" altLang="ja-JP" sz="2400" dirty="0">
                <a:solidFill>
                  <a:srgbClr val="D67D61"/>
                </a:solidFill>
                <a:latin typeface="+mj-lt"/>
              </a:rPr>
              <a:t>grid</a:t>
            </a:r>
            <a:r>
              <a:rPr lang="ja-JP" altLang="en-US" sz="2400" dirty="0">
                <a:solidFill>
                  <a:srgbClr val="D67D61"/>
                </a:solidFill>
                <a:latin typeface="+mj-lt"/>
              </a:rPr>
              <a:t>：</a:t>
            </a:r>
            <a:r>
              <a:rPr lang="ja-JP" altLang="en-US" sz="2400" dirty="0">
                <a:latin typeface="+mj-lt"/>
              </a:rPr>
              <a:t>行と列の表形式で配置する</a:t>
            </a:r>
          </a:p>
          <a:p>
            <a:pPr marL="742950" lvl="1" indent="-400050" algn="just">
              <a:buFont typeface="Courier New" panose="02070309020205020404" pitchFamily="49" charset="0"/>
              <a:buChar char="o"/>
            </a:pPr>
            <a:r>
              <a:rPr lang="en-US" altLang="ja-JP" sz="2400" dirty="0">
                <a:latin typeface="+mj-lt"/>
              </a:rPr>
              <a:t>place</a:t>
            </a:r>
            <a:r>
              <a:rPr lang="ja-JP" altLang="en-US" sz="2400" dirty="0">
                <a:latin typeface="+mj-lt"/>
              </a:rPr>
              <a:t>：座標を指定して配置する</a:t>
            </a:r>
            <a:endParaRPr lang="en-US" altLang="ja-JP" sz="2400" dirty="0">
              <a:latin typeface="+mj-lt"/>
            </a:endParaRPr>
          </a:p>
          <a:p>
            <a:pPr algn="just"/>
            <a:r>
              <a:rPr lang="ja-JP" altLang="en-US" dirty="0"/>
              <a:t>ほとんどの</a:t>
            </a:r>
            <a:r>
              <a:rPr lang="en-US" altLang="ja-JP" dirty="0"/>
              <a:t>GUI</a:t>
            </a:r>
            <a:r>
              <a:rPr lang="ja-JP" altLang="en-US" dirty="0"/>
              <a:t>は、</a:t>
            </a:r>
            <a:r>
              <a:rPr lang="en-US" altLang="ja-JP" dirty="0">
                <a:solidFill>
                  <a:srgbClr val="D67D61"/>
                </a:solidFill>
              </a:rPr>
              <a:t>grid</a:t>
            </a:r>
            <a:r>
              <a:rPr lang="ja-JP" altLang="en-US" dirty="0"/>
              <a:t>を使ってウィジェットを上下または左右に並べることで構成できる。</a:t>
            </a:r>
            <a:endParaRPr lang="en-US" dirty="0"/>
          </a:p>
        </p:txBody>
      </p:sp>
      <p:sp>
        <p:nvSpPr>
          <p:cNvPr id="4" name="Slide Number Placeholder 3">
            <a:extLst>
              <a:ext uri="{FF2B5EF4-FFF2-40B4-BE49-F238E27FC236}">
                <a16:creationId xmlns:a16="http://schemas.microsoft.com/office/drawing/2014/main" id="{46124E42-60BE-971F-83B9-5E9887E6A333}"/>
              </a:ext>
            </a:extLst>
          </p:cNvPr>
          <p:cNvSpPr>
            <a:spLocks noGrp="1"/>
          </p:cNvSpPr>
          <p:nvPr>
            <p:ph type="sldNum" sz="quarter" idx="15"/>
          </p:nvPr>
        </p:nvSpPr>
        <p:spPr/>
        <p:txBody>
          <a:bodyPr/>
          <a:lstStyle/>
          <a:p>
            <a:fld id="{CBD12358-51D2-46B3-9BDE-DF29528B9454}" type="slidenum">
              <a:rPr lang="en-US" smtClean="0"/>
              <a:pPr/>
              <a:t>14</a:t>
            </a:fld>
            <a:endParaRPr lang="en-US" dirty="0"/>
          </a:p>
        </p:txBody>
      </p:sp>
      <p:sp>
        <p:nvSpPr>
          <p:cNvPr id="9" name="Rectangle 8">
            <a:extLst>
              <a:ext uri="{FF2B5EF4-FFF2-40B4-BE49-F238E27FC236}">
                <a16:creationId xmlns:a16="http://schemas.microsoft.com/office/drawing/2014/main" id="{F6CEDD61-E8F4-2781-A0FB-4A1017E041DD}"/>
              </a:ext>
            </a:extLst>
          </p:cNvPr>
          <p:cNvSpPr/>
          <p:nvPr/>
        </p:nvSpPr>
        <p:spPr>
          <a:xfrm>
            <a:off x="802868" y="4001798"/>
            <a:ext cx="2673406" cy="24019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CFEA2A5-83F5-3FF4-7372-4E9CE79CA7EB}"/>
              </a:ext>
            </a:extLst>
          </p:cNvPr>
          <p:cNvSpPr/>
          <p:nvPr/>
        </p:nvSpPr>
        <p:spPr>
          <a:xfrm>
            <a:off x="945202" y="4165098"/>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A195442-39BF-EF1C-29D8-04798E107ADE}"/>
              </a:ext>
            </a:extLst>
          </p:cNvPr>
          <p:cNvSpPr/>
          <p:nvPr/>
        </p:nvSpPr>
        <p:spPr>
          <a:xfrm>
            <a:off x="945202" y="4928885"/>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5635398-AD9B-8BDE-7FDD-09E312271C9C}"/>
              </a:ext>
            </a:extLst>
          </p:cNvPr>
          <p:cNvSpPr/>
          <p:nvPr/>
        </p:nvSpPr>
        <p:spPr>
          <a:xfrm>
            <a:off x="945202" y="5662814"/>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3730051-D4CC-FC46-443D-CD0779A49A40}"/>
              </a:ext>
            </a:extLst>
          </p:cNvPr>
          <p:cNvSpPr/>
          <p:nvPr/>
        </p:nvSpPr>
        <p:spPr>
          <a:xfrm>
            <a:off x="3884711" y="4001798"/>
            <a:ext cx="2673406" cy="24019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AFA6CF2F-A422-E514-6E01-33A7C508CC8A}"/>
              </a:ext>
            </a:extLst>
          </p:cNvPr>
          <p:cNvGrpSpPr/>
          <p:nvPr/>
        </p:nvGrpSpPr>
        <p:grpSpPr>
          <a:xfrm rot="5400000">
            <a:off x="4169620" y="4047161"/>
            <a:ext cx="2085023" cy="2322956"/>
            <a:chOff x="3689350" y="3894901"/>
            <a:chExt cx="2381250" cy="2383601"/>
          </a:xfrm>
        </p:grpSpPr>
        <p:sp>
          <p:nvSpPr>
            <p:cNvPr id="38" name="Rectangle 37">
              <a:extLst>
                <a:ext uri="{FF2B5EF4-FFF2-40B4-BE49-F238E27FC236}">
                  <a16:creationId xmlns:a16="http://schemas.microsoft.com/office/drawing/2014/main" id="{3870AFD8-C464-2202-6124-E1A423BD6ACD}"/>
                </a:ext>
              </a:extLst>
            </p:cNvPr>
            <p:cNvSpPr/>
            <p:nvPr/>
          </p:nvSpPr>
          <p:spPr>
            <a:xfrm>
              <a:off x="3689350" y="3894901"/>
              <a:ext cx="2381250" cy="6731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CE32B16-7A8A-F494-2581-5A81F820FE70}"/>
                </a:ext>
              </a:extLst>
            </p:cNvPr>
            <p:cNvSpPr/>
            <p:nvPr/>
          </p:nvSpPr>
          <p:spPr>
            <a:xfrm>
              <a:off x="3689350" y="4767202"/>
              <a:ext cx="2381250" cy="6731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7AD3E76-2EF1-980C-801F-00F887FE1E10}"/>
                </a:ext>
              </a:extLst>
            </p:cNvPr>
            <p:cNvSpPr/>
            <p:nvPr/>
          </p:nvSpPr>
          <p:spPr>
            <a:xfrm>
              <a:off x="3689350" y="5605402"/>
              <a:ext cx="2381250" cy="6731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Rectangle 44">
            <a:extLst>
              <a:ext uri="{FF2B5EF4-FFF2-40B4-BE49-F238E27FC236}">
                <a16:creationId xmlns:a16="http://schemas.microsoft.com/office/drawing/2014/main" id="{6E6FA9EC-5127-0638-75C1-13EDB0E278E1}"/>
              </a:ext>
            </a:extLst>
          </p:cNvPr>
          <p:cNvSpPr/>
          <p:nvPr/>
        </p:nvSpPr>
        <p:spPr>
          <a:xfrm>
            <a:off x="6992472" y="4001798"/>
            <a:ext cx="4192270" cy="24019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5AEA090-7D0C-594F-1AE7-6C20D98E3911}"/>
              </a:ext>
            </a:extLst>
          </p:cNvPr>
          <p:cNvSpPr/>
          <p:nvPr/>
        </p:nvSpPr>
        <p:spPr>
          <a:xfrm rot="5400000">
            <a:off x="6469963" y="4895581"/>
            <a:ext cx="2085023" cy="655975"/>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9765865-FD59-E923-B5AF-2AEBD2A69EA3}"/>
              </a:ext>
            </a:extLst>
          </p:cNvPr>
          <p:cNvSpPr/>
          <p:nvPr/>
        </p:nvSpPr>
        <p:spPr>
          <a:xfrm>
            <a:off x="1810206" y="4165098"/>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0783A36-104F-E356-C0BB-E690FCC6174F}"/>
              </a:ext>
            </a:extLst>
          </p:cNvPr>
          <p:cNvSpPr/>
          <p:nvPr/>
        </p:nvSpPr>
        <p:spPr>
          <a:xfrm>
            <a:off x="1810206" y="4928885"/>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54291431-9407-CD37-E4BF-2B22CE916650}"/>
              </a:ext>
            </a:extLst>
          </p:cNvPr>
          <p:cNvSpPr/>
          <p:nvPr/>
        </p:nvSpPr>
        <p:spPr>
          <a:xfrm>
            <a:off x="1810206" y="5662814"/>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36BFCD9-AE52-CC25-53C0-246C36520469}"/>
              </a:ext>
            </a:extLst>
          </p:cNvPr>
          <p:cNvSpPr/>
          <p:nvPr/>
        </p:nvSpPr>
        <p:spPr>
          <a:xfrm>
            <a:off x="2650456" y="4178999"/>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7308216-618B-BA3B-82FE-9F2805D71010}"/>
              </a:ext>
            </a:extLst>
          </p:cNvPr>
          <p:cNvSpPr/>
          <p:nvPr/>
        </p:nvSpPr>
        <p:spPr>
          <a:xfrm>
            <a:off x="2650456" y="4931665"/>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FA01A526-28C9-E203-139C-9A57AD92397C}"/>
              </a:ext>
            </a:extLst>
          </p:cNvPr>
          <p:cNvSpPr/>
          <p:nvPr/>
        </p:nvSpPr>
        <p:spPr>
          <a:xfrm>
            <a:off x="2650456" y="5665594"/>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9B7E9674-91C9-588C-D6BD-752D4FFC5274}"/>
              </a:ext>
            </a:extLst>
          </p:cNvPr>
          <p:cNvSpPr/>
          <p:nvPr/>
        </p:nvSpPr>
        <p:spPr>
          <a:xfrm rot="5400000">
            <a:off x="8493011" y="3716684"/>
            <a:ext cx="2085023" cy="301377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AEFA8D46-99F3-B360-E672-7E3CA58FE45D}"/>
              </a:ext>
            </a:extLst>
          </p:cNvPr>
          <p:cNvSpPr/>
          <p:nvPr/>
        </p:nvSpPr>
        <p:spPr>
          <a:xfrm rot="5400000">
            <a:off x="8799602" y="3736273"/>
            <a:ext cx="1490406" cy="2685783"/>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7B91271-4C8B-484A-40DC-DDDB132F6E3B}"/>
              </a:ext>
            </a:extLst>
          </p:cNvPr>
          <p:cNvSpPr/>
          <p:nvPr/>
        </p:nvSpPr>
        <p:spPr>
          <a:xfrm rot="5400000">
            <a:off x="9824190" y="5745303"/>
            <a:ext cx="223978" cy="572609"/>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TextBox 75">
            <a:extLst>
              <a:ext uri="{FF2B5EF4-FFF2-40B4-BE49-F238E27FC236}">
                <a16:creationId xmlns:a16="http://schemas.microsoft.com/office/drawing/2014/main" id="{5A742602-7646-251B-126A-B380BFC24B15}"/>
              </a:ext>
            </a:extLst>
          </p:cNvPr>
          <p:cNvSpPr txBox="1"/>
          <p:nvPr/>
        </p:nvSpPr>
        <p:spPr>
          <a:xfrm>
            <a:off x="1424742" y="3538819"/>
            <a:ext cx="1483098" cy="369332"/>
          </a:xfrm>
          <a:prstGeom prst="rect">
            <a:avLst/>
          </a:prstGeom>
          <a:noFill/>
        </p:spPr>
        <p:txBody>
          <a:bodyPr wrap="none" rtlCol="0">
            <a:spAutoFit/>
          </a:bodyPr>
          <a:lstStyle/>
          <a:p>
            <a:pPr algn="ctr"/>
            <a:r>
              <a:rPr lang="en-US" dirty="0"/>
              <a:t>3x3</a:t>
            </a:r>
            <a:r>
              <a:rPr lang="ja-JP" altLang="en-US" dirty="0"/>
              <a:t>グリッド</a:t>
            </a:r>
            <a:endParaRPr lang="en-US" dirty="0"/>
          </a:p>
        </p:txBody>
      </p:sp>
      <p:sp>
        <p:nvSpPr>
          <p:cNvPr id="78" name="TextBox 77">
            <a:extLst>
              <a:ext uri="{FF2B5EF4-FFF2-40B4-BE49-F238E27FC236}">
                <a16:creationId xmlns:a16="http://schemas.microsoft.com/office/drawing/2014/main" id="{96A594D0-2808-BB3D-907D-67A2AFC130A4}"/>
              </a:ext>
            </a:extLst>
          </p:cNvPr>
          <p:cNvSpPr txBox="1"/>
          <p:nvPr/>
        </p:nvSpPr>
        <p:spPr>
          <a:xfrm>
            <a:off x="4479865" y="3538819"/>
            <a:ext cx="1483098" cy="369332"/>
          </a:xfrm>
          <a:prstGeom prst="rect">
            <a:avLst/>
          </a:prstGeom>
          <a:noFill/>
        </p:spPr>
        <p:txBody>
          <a:bodyPr wrap="none" rtlCol="0">
            <a:spAutoFit/>
          </a:bodyPr>
          <a:lstStyle/>
          <a:p>
            <a:pPr algn="ctr"/>
            <a:r>
              <a:rPr lang="en-US" dirty="0"/>
              <a:t>1x3</a:t>
            </a:r>
            <a:r>
              <a:rPr lang="ja-JP" altLang="en-US" dirty="0"/>
              <a:t>グリッド</a:t>
            </a:r>
            <a:endParaRPr lang="en-US" dirty="0"/>
          </a:p>
        </p:txBody>
      </p:sp>
      <p:sp>
        <p:nvSpPr>
          <p:cNvPr id="80" name="TextBox 79">
            <a:extLst>
              <a:ext uri="{FF2B5EF4-FFF2-40B4-BE49-F238E27FC236}">
                <a16:creationId xmlns:a16="http://schemas.microsoft.com/office/drawing/2014/main" id="{87C21370-F386-1A7D-F57E-C81CE14FF636}"/>
              </a:ext>
            </a:extLst>
          </p:cNvPr>
          <p:cNvSpPr txBox="1"/>
          <p:nvPr/>
        </p:nvSpPr>
        <p:spPr>
          <a:xfrm>
            <a:off x="7957528" y="3541941"/>
            <a:ext cx="2262158" cy="369332"/>
          </a:xfrm>
          <a:prstGeom prst="rect">
            <a:avLst/>
          </a:prstGeom>
          <a:noFill/>
        </p:spPr>
        <p:txBody>
          <a:bodyPr wrap="none" rtlCol="0">
            <a:spAutoFit/>
          </a:bodyPr>
          <a:lstStyle/>
          <a:p>
            <a:pPr algn="ctr"/>
            <a:r>
              <a:rPr lang="ja-JP" altLang="en-US" dirty="0"/>
              <a:t>入れ子構造グリッド</a:t>
            </a:r>
            <a:endParaRPr lang="en-US" dirty="0"/>
          </a:p>
        </p:txBody>
      </p:sp>
      <p:sp>
        <p:nvSpPr>
          <p:cNvPr id="6" name="Rectangle 5">
            <a:extLst>
              <a:ext uri="{FF2B5EF4-FFF2-40B4-BE49-F238E27FC236}">
                <a16:creationId xmlns:a16="http://schemas.microsoft.com/office/drawing/2014/main" id="{625AEA81-1381-19A4-139A-B4F20EDB6DBD}"/>
              </a:ext>
            </a:extLst>
          </p:cNvPr>
          <p:cNvSpPr/>
          <p:nvPr/>
        </p:nvSpPr>
        <p:spPr>
          <a:xfrm rot="5400000">
            <a:off x="10490887" y="5745303"/>
            <a:ext cx="223978" cy="572609"/>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4742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5D2C52-ED1F-BE34-F58F-817663040C17}"/>
              </a:ext>
            </a:extLst>
          </p:cNvPr>
          <p:cNvSpPr>
            <a:spLocks noGrp="1"/>
          </p:cNvSpPr>
          <p:nvPr>
            <p:ph type="body" sz="quarter" idx="11"/>
          </p:nvPr>
        </p:nvSpPr>
        <p:spPr/>
        <p:txBody>
          <a:bodyPr/>
          <a:lstStyle/>
          <a:p>
            <a:r>
              <a:rPr lang="en-US" altLang="ja-JP" dirty="0"/>
              <a:t>2-5</a:t>
            </a:r>
            <a:r>
              <a:rPr lang="ja-JP" altLang="en-US" dirty="0"/>
              <a:t>　</a:t>
            </a:r>
            <a:r>
              <a:rPr lang="en-US" altLang="ja-JP" dirty="0"/>
              <a:t>grid</a:t>
            </a:r>
            <a:r>
              <a:rPr lang="ja-JP" altLang="en-US" dirty="0"/>
              <a:t>関数の</a:t>
            </a:r>
            <a:r>
              <a:rPr lang="ja-JP" altLang="en-US" dirty="0">
                <a:solidFill>
                  <a:srgbClr val="00B050"/>
                </a:solidFill>
              </a:rPr>
              <a:t>初級</a:t>
            </a:r>
            <a:r>
              <a:rPr lang="ja-JP" altLang="en-US" dirty="0"/>
              <a:t>練習</a:t>
            </a:r>
          </a:p>
        </p:txBody>
      </p:sp>
      <p:sp>
        <p:nvSpPr>
          <p:cNvPr id="3" name="Text Placeholder 2">
            <a:extLst>
              <a:ext uri="{FF2B5EF4-FFF2-40B4-BE49-F238E27FC236}">
                <a16:creationId xmlns:a16="http://schemas.microsoft.com/office/drawing/2014/main" id="{019D6C4E-C404-63BE-B451-E6E9B7ADAA34}"/>
              </a:ext>
            </a:extLst>
          </p:cNvPr>
          <p:cNvSpPr>
            <a:spLocks noGrp="1"/>
          </p:cNvSpPr>
          <p:nvPr>
            <p:ph type="body" sz="quarter" idx="13"/>
          </p:nvPr>
        </p:nvSpPr>
        <p:spPr>
          <a:xfrm>
            <a:off x="114445" y="1133474"/>
            <a:ext cx="11963108" cy="2549799"/>
          </a:xfrm>
        </p:spPr>
        <p:txBody>
          <a:bodyPr>
            <a:normAutofit/>
          </a:bodyPr>
          <a:lstStyle/>
          <a:p>
            <a:pPr marL="0" indent="0">
              <a:buNone/>
            </a:pPr>
            <a:r>
              <a:rPr lang="en-US" altLang="ja-JP" dirty="0"/>
              <a:t>『</a:t>
            </a:r>
            <a:r>
              <a:rPr lang="en-US"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部、第</a:t>
            </a:r>
            <a:r>
              <a:rPr lang="en-US" altLang="ja-JP" dirty="0"/>
              <a:t>3</a:t>
            </a:r>
            <a:r>
              <a:rPr lang="ja-JP" altLang="en-US" dirty="0"/>
              <a:t>章に：</a:t>
            </a:r>
            <a:endParaRPr lang="en-US" altLang="ja-JP" dirty="0"/>
          </a:p>
          <a:p>
            <a:pPr marL="0" indent="0">
              <a:buNone/>
            </a:pPr>
            <a:r>
              <a:rPr lang="ja-JP" altLang="en-US" dirty="0"/>
              <a:t>練習</a:t>
            </a:r>
            <a:r>
              <a:rPr lang="en-US" altLang="ja-JP" dirty="0"/>
              <a:t>1</a:t>
            </a:r>
            <a:r>
              <a:rPr lang="ja-JP" altLang="en-US" dirty="0"/>
              <a:t>：リスト</a:t>
            </a:r>
            <a:r>
              <a:rPr lang="en-US" altLang="ja-JP" dirty="0"/>
              <a:t>3</a:t>
            </a:r>
            <a:r>
              <a:rPr lang="ja-JP" altLang="en-US" dirty="0"/>
              <a:t>（</a:t>
            </a:r>
            <a:r>
              <a:rPr lang="en-US" altLang="ja-JP" dirty="0"/>
              <a:t>p. 38</a:t>
            </a:r>
            <a:r>
              <a:rPr lang="ja-JP" altLang="en-US" dirty="0"/>
              <a:t>）をコピーして、ラベルが上下に重ねるような</a:t>
            </a:r>
            <a:r>
              <a:rPr lang="en-US" altLang="ja-JP" dirty="0"/>
              <a:t>GUI</a:t>
            </a:r>
            <a:r>
              <a:rPr lang="ja-JP" altLang="en-US" dirty="0"/>
              <a:t>を作成せよ。</a:t>
            </a:r>
            <a:endParaRPr lang="en-US" altLang="ja-JP" dirty="0"/>
          </a:p>
          <a:p>
            <a:pPr marL="0" indent="0">
              <a:buNone/>
            </a:pPr>
            <a:r>
              <a:rPr lang="ja-JP" altLang="en-US" dirty="0"/>
              <a:t>練習</a:t>
            </a:r>
            <a:r>
              <a:rPr lang="en-US" altLang="ja-JP" dirty="0"/>
              <a:t>2</a:t>
            </a:r>
            <a:r>
              <a:rPr lang="ja-JP" altLang="en-US" dirty="0"/>
              <a:t>：リスト</a:t>
            </a:r>
            <a:r>
              <a:rPr lang="en-US" altLang="ja-JP" dirty="0"/>
              <a:t>4</a:t>
            </a:r>
            <a:r>
              <a:rPr lang="ja-JP" altLang="en-US" dirty="0"/>
              <a:t>（</a:t>
            </a:r>
            <a:r>
              <a:rPr lang="en-US" altLang="ja-JP" dirty="0"/>
              <a:t>p. 39</a:t>
            </a:r>
            <a:r>
              <a:rPr lang="ja-JP" altLang="en-US" dirty="0"/>
              <a:t>）を参照して、ラベルが左右に並べるような</a:t>
            </a:r>
            <a:r>
              <a:rPr lang="en-US" altLang="ja-JP" dirty="0"/>
              <a:t>GUI</a:t>
            </a:r>
            <a:r>
              <a:rPr lang="ja-JP" altLang="en-US" dirty="0"/>
              <a:t>を作成せよ。</a:t>
            </a:r>
            <a:endParaRPr lang="en-US" altLang="ja-JP" dirty="0"/>
          </a:p>
          <a:p>
            <a:pPr marL="0" indent="0">
              <a:buNone/>
            </a:pPr>
            <a:r>
              <a:rPr lang="ja-JP" altLang="en-US" dirty="0"/>
              <a:t>練習</a:t>
            </a:r>
            <a:r>
              <a:rPr lang="en-US" altLang="ja-JP" dirty="0"/>
              <a:t>3</a:t>
            </a:r>
            <a:r>
              <a:rPr lang="ja-JP" altLang="en-US" dirty="0"/>
              <a:t>：リスト</a:t>
            </a:r>
            <a:r>
              <a:rPr lang="en-US" altLang="ja-JP" dirty="0"/>
              <a:t>3</a:t>
            </a:r>
            <a:r>
              <a:rPr lang="ja-JP" altLang="en-US" dirty="0"/>
              <a:t>に「</a:t>
            </a:r>
            <a:r>
              <a:rPr lang="en-US" dirty="0"/>
              <a:t>WIDGET_MAX=9</a:t>
            </a:r>
            <a:r>
              <a:rPr lang="ja-JP" altLang="en-US" dirty="0"/>
              <a:t>」の場合、</a:t>
            </a:r>
            <a:r>
              <a:rPr lang="en-US" altLang="ja-JP" dirty="0"/>
              <a:t>3x3</a:t>
            </a:r>
            <a:r>
              <a:rPr lang="ja-JP" altLang="en-US" dirty="0"/>
              <a:t>のグリッドを作成せよ。</a:t>
            </a:r>
            <a:endParaRPr lang="en-US" altLang="ja-JP" dirty="0"/>
          </a:p>
          <a:p>
            <a:pPr marL="457200" indent="-457200">
              <a:buFont typeface="+mj-lt"/>
              <a:buAutoNum type="arabicPeriod"/>
            </a:pPr>
            <a:endParaRPr lang="en-US" dirty="0"/>
          </a:p>
          <a:p>
            <a:pPr marL="0" indent="0">
              <a:buNone/>
            </a:pPr>
            <a:r>
              <a:rPr lang="en-US" altLang="ja-JP" sz="2000" dirty="0"/>
              <a:t>※</a:t>
            </a:r>
            <a:r>
              <a:rPr lang="ja-JP" altLang="en-US" sz="2000" dirty="0"/>
              <a:t> ヒント：</a:t>
            </a:r>
            <a:r>
              <a:rPr lang="en-US" altLang="ja-JP" sz="2000" dirty="0"/>
              <a:t>__.grid(column=</a:t>
            </a:r>
            <a:r>
              <a:rPr lang="ja-JP" altLang="en-US" sz="2000" dirty="0"/>
              <a:t>〇</a:t>
            </a:r>
            <a:r>
              <a:rPr lang="en-US" altLang="ja-JP" sz="2000" dirty="0"/>
              <a:t>, row=</a:t>
            </a:r>
            <a:r>
              <a:rPr lang="ja-JP" altLang="en-US" sz="2000" dirty="0"/>
              <a:t>▢</a:t>
            </a:r>
            <a:r>
              <a:rPr lang="en-US" altLang="ja-JP" sz="2000" dirty="0"/>
              <a:t>)</a:t>
            </a:r>
            <a:r>
              <a:rPr lang="ja-JP" altLang="en-US" sz="2000" dirty="0"/>
              <a:t>、〇と□は</a:t>
            </a:r>
            <a:r>
              <a:rPr lang="en-US" altLang="ja-JP" sz="2000" dirty="0"/>
              <a:t>int</a:t>
            </a:r>
            <a:r>
              <a:rPr lang="ja-JP" altLang="en-US" sz="2000" dirty="0"/>
              <a:t>型の数字</a:t>
            </a:r>
            <a:endParaRPr lang="en-US" sz="2000" dirty="0"/>
          </a:p>
        </p:txBody>
      </p:sp>
      <p:sp>
        <p:nvSpPr>
          <p:cNvPr id="4" name="Slide Number Placeholder 3">
            <a:extLst>
              <a:ext uri="{FF2B5EF4-FFF2-40B4-BE49-F238E27FC236}">
                <a16:creationId xmlns:a16="http://schemas.microsoft.com/office/drawing/2014/main" id="{553ED5BF-1E90-7DCC-794D-50855FF00520}"/>
              </a:ext>
            </a:extLst>
          </p:cNvPr>
          <p:cNvSpPr>
            <a:spLocks noGrp="1"/>
          </p:cNvSpPr>
          <p:nvPr>
            <p:ph type="sldNum" sz="quarter" idx="15"/>
          </p:nvPr>
        </p:nvSpPr>
        <p:spPr/>
        <p:txBody>
          <a:bodyPr/>
          <a:lstStyle/>
          <a:p>
            <a:fld id="{CBD12358-51D2-46B3-9BDE-DF29528B9454}" type="slidenum">
              <a:rPr lang="en-US" smtClean="0"/>
              <a:pPr/>
              <a:t>15</a:t>
            </a:fld>
            <a:endParaRPr lang="en-US" dirty="0"/>
          </a:p>
        </p:txBody>
      </p:sp>
      <p:pic>
        <p:nvPicPr>
          <p:cNvPr id="10" name="Picture 9">
            <a:extLst>
              <a:ext uri="{FF2B5EF4-FFF2-40B4-BE49-F238E27FC236}">
                <a16:creationId xmlns:a16="http://schemas.microsoft.com/office/drawing/2014/main" id="{322F8559-C72F-3867-15F2-BE7689BC4F1B}"/>
              </a:ext>
            </a:extLst>
          </p:cNvPr>
          <p:cNvPicPr>
            <a:picLocks noChangeAspect="1"/>
          </p:cNvPicPr>
          <p:nvPr/>
        </p:nvPicPr>
        <p:blipFill>
          <a:blip r:embed="rId2"/>
          <a:stretch>
            <a:fillRect/>
          </a:stretch>
        </p:blipFill>
        <p:spPr>
          <a:xfrm>
            <a:off x="4728969" y="4216246"/>
            <a:ext cx="2734057" cy="2210108"/>
          </a:xfrm>
          <a:prstGeom prst="rect">
            <a:avLst/>
          </a:prstGeom>
        </p:spPr>
      </p:pic>
      <p:pic>
        <p:nvPicPr>
          <p:cNvPr id="12" name="Picture 11">
            <a:extLst>
              <a:ext uri="{FF2B5EF4-FFF2-40B4-BE49-F238E27FC236}">
                <a16:creationId xmlns:a16="http://schemas.microsoft.com/office/drawing/2014/main" id="{98D12073-F560-889B-B9F7-B19F0E140641}"/>
              </a:ext>
            </a:extLst>
          </p:cNvPr>
          <p:cNvPicPr>
            <a:picLocks noChangeAspect="1"/>
          </p:cNvPicPr>
          <p:nvPr/>
        </p:nvPicPr>
        <p:blipFill>
          <a:blip r:embed="rId3"/>
          <a:stretch>
            <a:fillRect/>
          </a:stretch>
        </p:blipFill>
        <p:spPr>
          <a:xfrm>
            <a:off x="1295384" y="4216246"/>
            <a:ext cx="2400635" cy="2210108"/>
          </a:xfrm>
          <a:prstGeom prst="rect">
            <a:avLst/>
          </a:prstGeom>
        </p:spPr>
      </p:pic>
      <p:pic>
        <p:nvPicPr>
          <p:cNvPr id="16" name="Picture 15">
            <a:extLst>
              <a:ext uri="{FF2B5EF4-FFF2-40B4-BE49-F238E27FC236}">
                <a16:creationId xmlns:a16="http://schemas.microsoft.com/office/drawing/2014/main" id="{3956C270-0A46-47B3-A118-437C41DC69A0}"/>
              </a:ext>
            </a:extLst>
          </p:cNvPr>
          <p:cNvPicPr>
            <a:picLocks noChangeAspect="1"/>
          </p:cNvPicPr>
          <p:nvPr/>
        </p:nvPicPr>
        <p:blipFill>
          <a:blip r:embed="rId4"/>
          <a:stretch>
            <a:fillRect/>
          </a:stretch>
        </p:blipFill>
        <p:spPr>
          <a:xfrm>
            <a:off x="8495976" y="4216246"/>
            <a:ext cx="2324424" cy="2210108"/>
          </a:xfrm>
          <a:prstGeom prst="rect">
            <a:avLst/>
          </a:prstGeom>
        </p:spPr>
      </p:pic>
      <p:sp>
        <p:nvSpPr>
          <p:cNvPr id="19" name="TextBox 18">
            <a:extLst>
              <a:ext uri="{FF2B5EF4-FFF2-40B4-BE49-F238E27FC236}">
                <a16:creationId xmlns:a16="http://schemas.microsoft.com/office/drawing/2014/main" id="{698815B4-27D6-47AD-25CB-3BBA38353BA4}"/>
              </a:ext>
            </a:extLst>
          </p:cNvPr>
          <p:cNvSpPr txBox="1"/>
          <p:nvPr/>
        </p:nvSpPr>
        <p:spPr>
          <a:xfrm>
            <a:off x="2106010" y="3840222"/>
            <a:ext cx="779381" cy="369332"/>
          </a:xfrm>
          <a:prstGeom prst="rect">
            <a:avLst/>
          </a:prstGeom>
          <a:noFill/>
        </p:spPr>
        <p:txBody>
          <a:bodyPr wrap="none" rtlCol="0">
            <a:spAutoFit/>
          </a:bodyPr>
          <a:lstStyle/>
          <a:p>
            <a:r>
              <a:rPr lang="ja-JP" altLang="en-US" dirty="0"/>
              <a:t>演習</a:t>
            </a:r>
            <a:r>
              <a:rPr lang="en-US" altLang="ja-JP" dirty="0"/>
              <a:t>1</a:t>
            </a:r>
            <a:endParaRPr lang="en-US" dirty="0"/>
          </a:p>
        </p:txBody>
      </p:sp>
      <p:sp>
        <p:nvSpPr>
          <p:cNvPr id="21" name="TextBox 20">
            <a:extLst>
              <a:ext uri="{FF2B5EF4-FFF2-40B4-BE49-F238E27FC236}">
                <a16:creationId xmlns:a16="http://schemas.microsoft.com/office/drawing/2014/main" id="{66C024EE-1404-92A5-2403-F2507F88F547}"/>
              </a:ext>
            </a:extLst>
          </p:cNvPr>
          <p:cNvSpPr txBox="1"/>
          <p:nvPr/>
        </p:nvSpPr>
        <p:spPr>
          <a:xfrm>
            <a:off x="5706306" y="3846914"/>
            <a:ext cx="779381" cy="369332"/>
          </a:xfrm>
          <a:prstGeom prst="rect">
            <a:avLst/>
          </a:prstGeom>
          <a:noFill/>
        </p:spPr>
        <p:txBody>
          <a:bodyPr wrap="none" rtlCol="0">
            <a:spAutoFit/>
          </a:bodyPr>
          <a:lstStyle/>
          <a:p>
            <a:r>
              <a:rPr lang="ja-JP" altLang="en-US" dirty="0"/>
              <a:t>演習</a:t>
            </a:r>
            <a:r>
              <a:rPr lang="en-US" altLang="ja-JP" dirty="0"/>
              <a:t>2</a:t>
            </a:r>
            <a:endParaRPr lang="en-US" dirty="0"/>
          </a:p>
        </p:txBody>
      </p:sp>
      <p:sp>
        <p:nvSpPr>
          <p:cNvPr id="23" name="TextBox 22">
            <a:extLst>
              <a:ext uri="{FF2B5EF4-FFF2-40B4-BE49-F238E27FC236}">
                <a16:creationId xmlns:a16="http://schemas.microsoft.com/office/drawing/2014/main" id="{F95E2EA7-FAF4-4212-5196-3AF8CEF6C59B}"/>
              </a:ext>
            </a:extLst>
          </p:cNvPr>
          <p:cNvSpPr txBox="1"/>
          <p:nvPr/>
        </p:nvSpPr>
        <p:spPr>
          <a:xfrm>
            <a:off x="9306609" y="3846914"/>
            <a:ext cx="779381" cy="369332"/>
          </a:xfrm>
          <a:prstGeom prst="rect">
            <a:avLst/>
          </a:prstGeom>
          <a:noFill/>
        </p:spPr>
        <p:txBody>
          <a:bodyPr wrap="none" rtlCol="0">
            <a:spAutoFit/>
          </a:bodyPr>
          <a:lstStyle/>
          <a:p>
            <a:r>
              <a:rPr lang="ja-JP" altLang="en-US" dirty="0"/>
              <a:t>演習</a:t>
            </a:r>
            <a:r>
              <a:rPr lang="en-US" altLang="ja-JP" dirty="0"/>
              <a:t>3</a:t>
            </a:r>
            <a:endParaRPr lang="en-US" dirty="0"/>
          </a:p>
        </p:txBody>
      </p:sp>
    </p:spTree>
    <p:extLst>
      <p:ext uri="{BB962C8B-B14F-4D97-AF65-F5344CB8AC3E}">
        <p14:creationId xmlns:p14="http://schemas.microsoft.com/office/powerpoint/2010/main" val="966194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E404B1-762F-2A98-7C55-644A1E344CBD}"/>
              </a:ext>
            </a:extLst>
          </p:cNvPr>
          <p:cNvSpPr>
            <a:spLocks noGrp="1"/>
          </p:cNvSpPr>
          <p:nvPr>
            <p:ph type="body" sz="quarter" idx="11"/>
          </p:nvPr>
        </p:nvSpPr>
        <p:spPr/>
        <p:txBody>
          <a:bodyPr>
            <a:normAutofit/>
          </a:bodyPr>
          <a:lstStyle/>
          <a:p>
            <a:r>
              <a:rPr lang="en-US" altLang="ja-JP" dirty="0"/>
              <a:t>2-5</a:t>
            </a:r>
            <a:r>
              <a:rPr lang="ja-JP" altLang="en-US" dirty="0"/>
              <a:t>　</a:t>
            </a:r>
            <a:r>
              <a:rPr lang="en-US" altLang="ja-JP" dirty="0"/>
              <a:t>grid</a:t>
            </a:r>
            <a:r>
              <a:rPr lang="ja-JP" altLang="en-US" dirty="0"/>
              <a:t>関数の</a:t>
            </a:r>
            <a:r>
              <a:rPr lang="ja-JP" altLang="en-US" dirty="0">
                <a:solidFill>
                  <a:srgbClr val="00B050"/>
                </a:solidFill>
              </a:rPr>
              <a:t>初級</a:t>
            </a:r>
            <a:r>
              <a:rPr lang="ja-JP" altLang="en-US" dirty="0"/>
              <a:t>練習（解答</a:t>
            </a:r>
            <a:r>
              <a:rPr lang="en-US" altLang="ja-JP" dirty="0"/>
              <a:t>1</a:t>
            </a:r>
            <a:r>
              <a:rPr lang="ja-JP" altLang="en-US" dirty="0"/>
              <a:t>、</a:t>
            </a:r>
            <a:r>
              <a:rPr lang="en-US" altLang="ja-JP" dirty="0"/>
              <a:t>2</a:t>
            </a:r>
            <a:r>
              <a:rPr lang="ja-JP" altLang="en-US" dirty="0"/>
              <a:t>、</a:t>
            </a:r>
            <a:r>
              <a:rPr lang="en-US" altLang="ja-JP" dirty="0"/>
              <a:t>3</a:t>
            </a:r>
            <a:r>
              <a:rPr lang="ja-JP" altLang="en-US" dirty="0"/>
              <a:t>）</a:t>
            </a:r>
            <a:endParaRPr lang="en-US" altLang="ja-JP" dirty="0"/>
          </a:p>
        </p:txBody>
      </p:sp>
      <p:sp>
        <p:nvSpPr>
          <p:cNvPr id="3" name="Text Placeholder 2">
            <a:extLst>
              <a:ext uri="{FF2B5EF4-FFF2-40B4-BE49-F238E27FC236}">
                <a16:creationId xmlns:a16="http://schemas.microsoft.com/office/drawing/2014/main" id="{DF9DD294-E18B-B790-8382-BA6C0AB6B96C}"/>
              </a:ext>
            </a:extLst>
          </p:cNvPr>
          <p:cNvSpPr>
            <a:spLocks noGrp="1"/>
          </p:cNvSpPr>
          <p:nvPr>
            <p:ph type="body" sz="quarter" idx="13"/>
          </p:nvPr>
        </p:nvSpPr>
        <p:spPr/>
        <p:txBody>
          <a:bodyPr/>
          <a:lstStyle/>
          <a:p>
            <a:pPr marL="0" indent="0">
              <a:buNone/>
            </a:pPr>
            <a:r>
              <a:rPr lang="ja-JP" altLang="en-US" dirty="0"/>
              <a:t>解答</a:t>
            </a:r>
            <a:r>
              <a:rPr lang="en-US" altLang="ja-JP" dirty="0"/>
              <a:t>1</a:t>
            </a:r>
            <a:r>
              <a:rPr lang="ja-JP" altLang="en-US" dirty="0"/>
              <a:t>：引数を指定しない場合、</a:t>
            </a:r>
            <a:r>
              <a:rPr lang="en-US" altLang="ja-JP" dirty="0" err="1"/>
              <a:t>Tkinter</a:t>
            </a:r>
            <a:r>
              <a:rPr lang="ja-JP" altLang="en-US" dirty="0"/>
              <a:t>はウィジェットを上下に並べて配置する。</a:t>
            </a:r>
            <a:endParaRPr lang="en-US" altLang="ja-JP" dirty="0"/>
          </a:p>
          <a:p>
            <a:pPr marL="0" indent="0">
              <a:buNone/>
            </a:pPr>
            <a:r>
              <a:rPr lang="ja-JP" altLang="en-US" spc="-20" dirty="0"/>
              <a:t>解答</a:t>
            </a:r>
            <a:r>
              <a:rPr lang="en-US" altLang="ja-JP" spc="-20" dirty="0"/>
              <a:t>2</a:t>
            </a:r>
            <a:r>
              <a:rPr lang="ja-JP" altLang="en-US" spc="-20" dirty="0"/>
              <a:t>：</a:t>
            </a:r>
            <a:r>
              <a:rPr lang="en-US" altLang="ja-JP" spc="-20" dirty="0"/>
              <a:t>column</a:t>
            </a:r>
            <a:r>
              <a:rPr lang="ja-JP" altLang="en-US" spc="-20" dirty="0"/>
              <a:t>の値を</a:t>
            </a:r>
            <a:r>
              <a:rPr lang="en-US" altLang="ja-JP" spc="-20" dirty="0"/>
              <a:t>for</a:t>
            </a:r>
            <a:r>
              <a:rPr lang="ja-JP" altLang="en-US" spc="-20" dirty="0"/>
              <a:t>ループの</a:t>
            </a:r>
            <a:r>
              <a:rPr lang="en-US" altLang="ja-JP" spc="-20" dirty="0"/>
              <a:t>num</a:t>
            </a:r>
            <a:r>
              <a:rPr lang="ja-JP" altLang="en-US" spc="-20" dirty="0"/>
              <a:t>に合わせると、左右に並べて配置できる。</a:t>
            </a:r>
            <a:endParaRPr lang="en-US" altLang="ja-JP" spc="-20" dirty="0"/>
          </a:p>
          <a:p>
            <a:pPr marL="0" indent="0">
              <a:buNone/>
            </a:pPr>
            <a:r>
              <a:rPr lang="ja-JP" altLang="en-US" spc="-20" dirty="0"/>
              <a:t>解答</a:t>
            </a:r>
            <a:r>
              <a:rPr lang="en-US" altLang="ja-JP" spc="-20" dirty="0"/>
              <a:t>3</a:t>
            </a:r>
            <a:r>
              <a:rPr lang="ja-JP" altLang="en-US" spc="-20" dirty="0"/>
              <a:t>：</a:t>
            </a:r>
            <a:r>
              <a:rPr lang="en-US" altLang="ja-JP" dirty="0"/>
              <a:t>column</a:t>
            </a:r>
            <a:r>
              <a:rPr lang="ja-JP" altLang="en-US" dirty="0"/>
              <a:t>と</a:t>
            </a:r>
            <a:r>
              <a:rPr lang="en-US" altLang="ja-JP" dirty="0"/>
              <a:t>row</a:t>
            </a:r>
            <a:r>
              <a:rPr lang="ja-JP" altLang="en-US" dirty="0"/>
              <a:t>を調整することで、</a:t>
            </a:r>
            <a:r>
              <a:rPr lang="en-US" altLang="ja-JP" dirty="0"/>
              <a:t>3×3</a:t>
            </a:r>
            <a:r>
              <a:rPr lang="ja-JP" altLang="en-US" dirty="0"/>
              <a:t>のグリッド状に配置できる。</a:t>
            </a:r>
            <a:endParaRPr lang="en-US" dirty="0"/>
          </a:p>
        </p:txBody>
      </p:sp>
      <p:sp>
        <p:nvSpPr>
          <p:cNvPr id="4" name="Slide Number Placeholder 3">
            <a:extLst>
              <a:ext uri="{FF2B5EF4-FFF2-40B4-BE49-F238E27FC236}">
                <a16:creationId xmlns:a16="http://schemas.microsoft.com/office/drawing/2014/main" id="{6FE548F2-D849-66C7-18F1-48C1DB68C719}"/>
              </a:ext>
            </a:extLst>
          </p:cNvPr>
          <p:cNvSpPr>
            <a:spLocks noGrp="1"/>
          </p:cNvSpPr>
          <p:nvPr>
            <p:ph type="sldNum" sz="quarter" idx="15"/>
          </p:nvPr>
        </p:nvSpPr>
        <p:spPr/>
        <p:txBody>
          <a:bodyPr/>
          <a:lstStyle/>
          <a:p>
            <a:fld id="{CBD12358-51D2-46B3-9BDE-DF29528B9454}" type="slidenum">
              <a:rPr lang="en-US" smtClean="0"/>
              <a:pPr/>
              <a:t>16</a:t>
            </a:fld>
            <a:endParaRPr lang="en-US" dirty="0"/>
          </a:p>
        </p:txBody>
      </p:sp>
      <p:sp>
        <p:nvSpPr>
          <p:cNvPr id="6" name="TextBox 5">
            <a:extLst>
              <a:ext uri="{FF2B5EF4-FFF2-40B4-BE49-F238E27FC236}">
                <a16:creationId xmlns:a16="http://schemas.microsoft.com/office/drawing/2014/main" id="{B5A5B3C7-07FB-4471-9408-099AF6448007}"/>
              </a:ext>
            </a:extLst>
          </p:cNvPr>
          <p:cNvSpPr txBox="1"/>
          <p:nvPr/>
        </p:nvSpPr>
        <p:spPr>
          <a:xfrm>
            <a:off x="3453730" y="2934561"/>
            <a:ext cx="3214341" cy="584775"/>
          </a:xfrm>
          <a:prstGeom prst="rect">
            <a:avLst/>
          </a:prstGeom>
          <a:noFill/>
          <a:ln>
            <a:solidFill>
              <a:schemeClr val="tx1"/>
            </a:solidFill>
          </a:ln>
        </p:spPr>
        <p:txBody>
          <a:bodyPr wrap="none" rtlCol="0">
            <a:spAutoFit/>
          </a:bodyPr>
          <a:lstStyle/>
          <a:p>
            <a:r>
              <a:rPr lang="en-US" altLang="ja-JP" sz="1600" dirty="0">
                <a:latin typeface="Consolas" panose="020B0609020204030204" pitchFamily="49" charset="0"/>
              </a:rPr>
              <a:t>for _ in range(WIDGET_MAX):</a:t>
            </a:r>
          </a:p>
          <a:p>
            <a:r>
              <a:rPr lang="en-US" altLang="ja-JP" sz="1600" dirty="0">
                <a:latin typeface="Consolas" panose="020B0609020204030204" pitchFamily="49" charset="0"/>
              </a:rPr>
              <a:t>    labels[num].grid()</a:t>
            </a:r>
          </a:p>
        </p:txBody>
      </p:sp>
      <p:sp>
        <p:nvSpPr>
          <p:cNvPr id="8" name="TextBox 7">
            <a:extLst>
              <a:ext uri="{FF2B5EF4-FFF2-40B4-BE49-F238E27FC236}">
                <a16:creationId xmlns:a16="http://schemas.microsoft.com/office/drawing/2014/main" id="{272C661B-5B70-F380-020F-2D9EF00FF9DB}"/>
              </a:ext>
            </a:extLst>
          </p:cNvPr>
          <p:cNvSpPr txBox="1"/>
          <p:nvPr/>
        </p:nvSpPr>
        <p:spPr>
          <a:xfrm>
            <a:off x="3453729" y="4073334"/>
            <a:ext cx="4560864" cy="584775"/>
          </a:xfrm>
          <a:prstGeom prst="rect">
            <a:avLst/>
          </a:prstGeom>
          <a:noFill/>
          <a:ln>
            <a:solidFill>
              <a:schemeClr val="tx1"/>
            </a:solidFill>
          </a:ln>
        </p:spPr>
        <p:txBody>
          <a:bodyPr wrap="none" rtlCol="0">
            <a:spAutoFit/>
          </a:bodyPr>
          <a:lstStyle/>
          <a:p>
            <a:r>
              <a:rPr lang="en-US" altLang="ja-JP" sz="1600" dirty="0">
                <a:latin typeface="Consolas" panose="020B0609020204030204" pitchFamily="49" charset="0"/>
              </a:rPr>
              <a:t>for num in range(WIDGET_MAX):</a:t>
            </a:r>
          </a:p>
          <a:p>
            <a:r>
              <a:rPr lang="en-US" altLang="ja-JP" sz="1600" dirty="0">
                <a:latin typeface="Consolas" panose="020B0609020204030204" pitchFamily="49" charset="0"/>
              </a:rPr>
              <a:t>    labels[num].grid(</a:t>
            </a:r>
            <a:r>
              <a:rPr lang="en-US" altLang="ja-JP" sz="1600" dirty="0">
                <a:highlight>
                  <a:srgbClr val="FFFF00"/>
                </a:highlight>
                <a:latin typeface="Consolas" panose="020B0609020204030204" pitchFamily="49" charset="0"/>
              </a:rPr>
              <a:t>column=num, row=0</a:t>
            </a:r>
            <a:r>
              <a:rPr lang="en-US" altLang="ja-JP" sz="1600" dirty="0">
                <a:latin typeface="Consolas" panose="020B0609020204030204" pitchFamily="49" charset="0"/>
              </a:rPr>
              <a:t>)</a:t>
            </a:r>
          </a:p>
        </p:txBody>
      </p:sp>
      <p:sp>
        <p:nvSpPr>
          <p:cNvPr id="10" name="TextBox 9">
            <a:extLst>
              <a:ext uri="{FF2B5EF4-FFF2-40B4-BE49-F238E27FC236}">
                <a16:creationId xmlns:a16="http://schemas.microsoft.com/office/drawing/2014/main" id="{884FCA67-34DC-BDFC-D310-851AF47155F0}"/>
              </a:ext>
            </a:extLst>
          </p:cNvPr>
          <p:cNvSpPr txBox="1"/>
          <p:nvPr/>
        </p:nvSpPr>
        <p:spPr>
          <a:xfrm>
            <a:off x="3453729" y="5234833"/>
            <a:ext cx="5121915" cy="1077218"/>
          </a:xfrm>
          <a:prstGeom prst="rect">
            <a:avLst/>
          </a:prstGeom>
          <a:noFill/>
          <a:ln>
            <a:solidFill>
              <a:schemeClr val="tx1"/>
            </a:solidFill>
          </a:ln>
        </p:spPr>
        <p:txBody>
          <a:bodyPr wrap="none" rtlCol="0">
            <a:spAutoFit/>
          </a:bodyPr>
          <a:lstStyle/>
          <a:p>
            <a:r>
              <a:rPr lang="en-US" altLang="ja-JP" sz="1600" dirty="0">
                <a:latin typeface="Consolas" panose="020B0609020204030204" pitchFamily="49" charset="0"/>
              </a:rPr>
              <a:t>for num in range(WIDGET_MAX):</a:t>
            </a:r>
          </a:p>
          <a:p>
            <a:r>
              <a:rPr lang="en-US" altLang="ja-JP" sz="1600" dirty="0">
                <a:latin typeface="Consolas" panose="020B0609020204030204" pitchFamily="49" charset="0"/>
              </a:rPr>
              <a:t>    </a:t>
            </a:r>
            <a:r>
              <a:rPr lang="en-US" altLang="ja-JP" sz="1600" dirty="0">
                <a:highlight>
                  <a:srgbClr val="FFFF00"/>
                </a:highlight>
                <a:latin typeface="Consolas" panose="020B0609020204030204" pitchFamily="49" charset="0"/>
              </a:rPr>
              <a:t>row = num // 3</a:t>
            </a:r>
          </a:p>
          <a:p>
            <a:r>
              <a:rPr lang="ja-JP" altLang="en-US" sz="1600" dirty="0">
                <a:latin typeface="Consolas" panose="020B0609020204030204" pitchFamily="49" charset="0"/>
              </a:rPr>
              <a:t>    </a:t>
            </a:r>
            <a:r>
              <a:rPr lang="en-US" altLang="ja-JP" sz="1600" dirty="0">
                <a:highlight>
                  <a:srgbClr val="FFFF00"/>
                </a:highlight>
                <a:latin typeface="Consolas" panose="020B0609020204030204" pitchFamily="49" charset="0"/>
              </a:rPr>
              <a:t>column = num % 3</a:t>
            </a:r>
          </a:p>
          <a:p>
            <a:r>
              <a:rPr lang="en-US" altLang="ja-JP" sz="1600" dirty="0">
                <a:latin typeface="Consolas" panose="020B0609020204030204" pitchFamily="49" charset="0"/>
              </a:rPr>
              <a:t>    labels[num].grid(</a:t>
            </a:r>
            <a:r>
              <a:rPr lang="en-US" altLang="ja-JP" sz="1600" dirty="0">
                <a:highlight>
                  <a:srgbClr val="FFFF00"/>
                </a:highlight>
                <a:latin typeface="Consolas" panose="020B0609020204030204" pitchFamily="49" charset="0"/>
              </a:rPr>
              <a:t>column=column, row=row</a:t>
            </a:r>
            <a:r>
              <a:rPr lang="en-US" altLang="ja-JP" sz="1600" dirty="0">
                <a:latin typeface="Consolas" panose="020B0609020204030204" pitchFamily="49" charset="0"/>
              </a:rPr>
              <a:t>)</a:t>
            </a:r>
          </a:p>
        </p:txBody>
      </p:sp>
      <p:sp>
        <p:nvSpPr>
          <p:cNvPr id="18" name="TextBox 17">
            <a:extLst>
              <a:ext uri="{FF2B5EF4-FFF2-40B4-BE49-F238E27FC236}">
                <a16:creationId xmlns:a16="http://schemas.microsoft.com/office/drawing/2014/main" id="{B770A76B-497D-B367-E3B9-9984B1229DED}"/>
              </a:ext>
            </a:extLst>
          </p:cNvPr>
          <p:cNvSpPr txBox="1"/>
          <p:nvPr/>
        </p:nvSpPr>
        <p:spPr>
          <a:xfrm>
            <a:off x="3453730" y="2565229"/>
            <a:ext cx="779381" cy="369332"/>
          </a:xfrm>
          <a:prstGeom prst="rect">
            <a:avLst/>
          </a:prstGeom>
          <a:noFill/>
        </p:spPr>
        <p:txBody>
          <a:bodyPr wrap="none" rtlCol="0">
            <a:spAutoFit/>
          </a:bodyPr>
          <a:lstStyle/>
          <a:p>
            <a:r>
              <a:rPr lang="ja-JP" altLang="en-US" dirty="0"/>
              <a:t>演習</a:t>
            </a:r>
            <a:r>
              <a:rPr lang="en-US" altLang="ja-JP" dirty="0"/>
              <a:t>1</a:t>
            </a:r>
            <a:endParaRPr lang="en-US" dirty="0"/>
          </a:p>
        </p:txBody>
      </p:sp>
      <p:sp>
        <p:nvSpPr>
          <p:cNvPr id="20" name="TextBox 19">
            <a:extLst>
              <a:ext uri="{FF2B5EF4-FFF2-40B4-BE49-F238E27FC236}">
                <a16:creationId xmlns:a16="http://schemas.microsoft.com/office/drawing/2014/main" id="{37D1A7BC-3299-987D-03F9-A65F0997CA71}"/>
              </a:ext>
            </a:extLst>
          </p:cNvPr>
          <p:cNvSpPr txBox="1"/>
          <p:nvPr/>
        </p:nvSpPr>
        <p:spPr>
          <a:xfrm>
            <a:off x="3453729" y="3704002"/>
            <a:ext cx="779381" cy="369332"/>
          </a:xfrm>
          <a:prstGeom prst="rect">
            <a:avLst/>
          </a:prstGeom>
          <a:noFill/>
        </p:spPr>
        <p:txBody>
          <a:bodyPr wrap="none" rtlCol="0">
            <a:spAutoFit/>
          </a:bodyPr>
          <a:lstStyle/>
          <a:p>
            <a:r>
              <a:rPr lang="ja-JP" altLang="en-US" dirty="0"/>
              <a:t>演習</a:t>
            </a:r>
            <a:r>
              <a:rPr lang="en-US" altLang="ja-JP" dirty="0"/>
              <a:t>2</a:t>
            </a:r>
            <a:endParaRPr lang="en-US" dirty="0"/>
          </a:p>
        </p:txBody>
      </p:sp>
      <p:sp>
        <p:nvSpPr>
          <p:cNvPr id="22" name="TextBox 21">
            <a:extLst>
              <a:ext uri="{FF2B5EF4-FFF2-40B4-BE49-F238E27FC236}">
                <a16:creationId xmlns:a16="http://schemas.microsoft.com/office/drawing/2014/main" id="{B62FC6C2-427F-17F9-3295-4B07270E0E61}"/>
              </a:ext>
            </a:extLst>
          </p:cNvPr>
          <p:cNvSpPr txBox="1"/>
          <p:nvPr/>
        </p:nvSpPr>
        <p:spPr>
          <a:xfrm>
            <a:off x="3453729" y="4842775"/>
            <a:ext cx="779381" cy="369332"/>
          </a:xfrm>
          <a:prstGeom prst="rect">
            <a:avLst/>
          </a:prstGeom>
          <a:noFill/>
        </p:spPr>
        <p:txBody>
          <a:bodyPr wrap="square" rtlCol="0">
            <a:spAutoFit/>
          </a:bodyPr>
          <a:lstStyle/>
          <a:p>
            <a:r>
              <a:rPr lang="ja-JP" altLang="en-US" dirty="0"/>
              <a:t>演習</a:t>
            </a:r>
            <a:r>
              <a:rPr lang="en-US" altLang="ja-JP" dirty="0"/>
              <a:t>3</a:t>
            </a:r>
            <a:endParaRPr lang="en-US" dirty="0"/>
          </a:p>
        </p:txBody>
      </p:sp>
    </p:spTree>
    <p:extLst>
      <p:ext uri="{BB962C8B-B14F-4D97-AF65-F5344CB8AC3E}">
        <p14:creationId xmlns:p14="http://schemas.microsoft.com/office/powerpoint/2010/main" val="39844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8" grpId="0"/>
      <p:bldP spid="20"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A22C51-B706-12D0-1A76-C20F3DE4A036}"/>
              </a:ext>
            </a:extLst>
          </p:cNvPr>
          <p:cNvSpPr>
            <a:spLocks noGrp="1"/>
          </p:cNvSpPr>
          <p:nvPr>
            <p:ph type="body" sz="quarter" idx="11"/>
          </p:nvPr>
        </p:nvSpPr>
        <p:spPr/>
        <p:txBody>
          <a:bodyPr/>
          <a:lstStyle/>
          <a:p>
            <a:r>
              <a:rPr lang="en-US" dirty="0"/>
              <a:t>2-6</a:t>
            </a:r>
            <a:r>
              <a:rPr lang="ja-JP" altLang="en-US" dirty="0"/>
              <a:t>　</a:t>
            </a:r>
            <a:r>
              <a:rPr lang="en-US" altLang="ja-JP" dirty="0"/>
              <a:t>grid</a:t>
            </a:r>
            <a:r>
              <a:rPr lang="ja-JP" altLang="en-US" dirty="0"/>
              <a:t>関数の</a:t>
            </a:r>
            <a:r>
              <a:rPr lang="ja-JP" altLang="en-US" dirty="0">
                <a:solidFill>
                  <a:srgbClr val="FFC000"/>
                </a:solidFill>
              </a:rPr>
              <a:t>中級</a:t>
            </a:r>
            <a:r>
              <a:rPr lang="ja-JP" altLang="en-US" dirty="0"/>
              <a:t>練習</a:t>
            </a:r>
            <a:endParaRPr lang="en-US" dirty="0"/>
          </a:p>
        </p:txBody>
      </p:sp>
      <p:sp>
        <p:nvSpPr>
          <p:cNvPr id="4" name="Slide Number Placeholder 3">
            <a:extLst>
              <a:ext uri="{FF2B5EF4-FFF2-40B4-BE49-F238E27FC236}">
                <a16:creationId xmlns:a16="http://schemas.microsoft.com/office/drawing/2014/main" id="{34E347B1-59AF-DA65-3FFE-E92A9B3B3F87}"/>
              </a:ext>
            </a:extLst>
          </p:cNvPr>
          <p:cNvSpPr>
            <a:spLocks noGrp="1"/>
          </p:cNvSpPr>
          <p:nvPr>
            <p:ph type="sldNum" sz="quarter" idx="15"/>
          </p:nvPr>
        </p:nvSpPr>
        <p:spPr/>
        <p:txBody>
          <a:bodyPr/>
          <a:lstStyle/>
          <a:p>
            <a:fld id="{CBD12358-51D2-46B3-9BDE-DF29528B9454}" type="slidenum">
              <a:rPr lang="en-US" smtClean="0"/>
              <a:pPr/>
              <a:t>17</a:t>
            </a:fld>
            <a:endParaRPr lang="en-US" dirty="0"/>
          </a:p>
        </p:txBody>
      </p:sp>
      <p:sp>
        <p:nvSpPr>
          <p:cNvPr id="5" name="Text Placeholder 2">
            <a:extLst>
              <a:ext uri="{FF2B5EF4-FFF2-40B4-BE49-F238E27FC236}">
                <a16:creationId xmlns:a16="http://schemas.microsoft.com/office/drawing/2014/main" id="{5CA37EBC-179E-9DC2-B12D-8AB7BD7E63B9}"/>
              </a:ext>
            </a:extLst>
          </p:cNvPr>
          <p:cNvSpPr txBox="1">
            <a:spLocks/>
          </p:cNvSpPr>
          <p:nvPr/>
        </p:nvSpPr>
        <p:spPr>
          <a:xfrm>
            <a:off x="114445" y="1133475"/>
            <a:ext cx="11963108" cy="304663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altLang="ja-JP" dirty="0"/>
              <a:t>『</a:t>
            </a:r>
            <a:r>
              <a:rPr lang="en-US"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a:t>
            </a:r>
            <a:r>
              <a:rPr lang="en-US" altLang="ja-JP" dirty="0"/>
              <a:t>3</a:t>
            </a:r>
            <a:r>
              <a:rPr lang="ja-JP" altLang="en-US" dirty="0"/>
              <a:t>章に：</a:t>
            </a:r>
            <a:endParaRPr lang="en-US" altLang="ja-JP" dirty="0"/>
          </a:p>
          <a:p>
            <a:pPr marL="0" indent="0">
              <a:buNone/>
            </a:pPr>
            <a:r>
              <a:rPr lang="ja-JP" altLang="en-US" dirty="0"/>
              <a:t>練習</a:t>
            </a:r>
            <a:r>
              <a:rPr lang="en-US" altLang="ja-JP" dirty="0"/>
              <a:t>4</a:t>
            </a:r>
            <a:r>
              <a:rPr lang="ja-JP" altLang="en-US" dirty="0"/>
              <a:t>：リスト</a:t>
            </a:r>
            <a:r>
              <a:rPr lang="en-US" altLang="ja-JP" dirty="0"/>
              <a:t>5</a:t>
            </a:r>
            <a:r>
              <a:rPr lang="ja-JP" altLang="en-US" dirty="0"/>
              <a:t>（</a:t>
            </a:r>
            <a:r>
              <a:rPr lang="en-US" altLang="ja-JP" dirty="0"/>
              <a:t>p. 41</a:t>
            </a:r>
            <a:r>
              <a:rPr lang="ja-JP" altLang="en-US" dirty="0"/>
              <a:t>）をコピーして、スペースありの</a:t>
            </a:r>
            <a:r>
              <a:rPr lang="en-US" altLang="ja-JP" dirty="0"/>
              <a:t>4x2</a:t>
            </a:r>
            <a:r>
              <a:rPr lang="ja-JP" altLang="en-US" dirty="0"/>
              <a:t>のグリッドを作成せよ。</a:t>
            </a:r>
            <a:endParaRPr lang="en-US" altLang="ja-JP" dirty="0"/>
          </a:p>
          <a:p>
            <a:pPr marL="0" indent="0">
              <a:buNone/>
            </a:pPr>
            <a:r>
              <a:rPr lang="ja-JP" altLang="en-US" dirty="0"/>
              <a:t>練習</a:t>
            </a:r>
            <a:r>
              <a:rPr lang="en-US" altLang="ja-JP" dirty="0"/>
              <a:t>5</a:t>
            </a:r>
            <a:r>
              <a:rPr lang="ja-JP" altLang="en-US" dirty="0"/>
              <a:t>：リスト</a:t>
            </a:r>
            <a:r>
              <a:rPr lang="en-US" altLang="ja-JP" dirty="0"/>
              <a:t>3</a:t>
            </a:r>
            <a:r>
              <a:rPr lang="ja-JP" altLang="en-US" dirty="0"/>
              <a:t>に「</a:t>
            </a:r>
            <a:r>
              <a:rPr lang="en-US" sz="2000" dirty="0"/>
              <a:t>WIDGET_MAX=9</a:t>
            </a:r>
            <a:r>
              <a:rPr lang="ja-JP" altLang="en-US" dirty="0"/>
              <a:t>」の場合、スペースありの</a:t>
            </a:r>
            <a:r>
              <a:rPr lang="en-US" altLang="ja-JP" dirty="0"/>
              <a:t>3x3</a:t>
            </a:r>
            <a:r>
              <a:rPr lang="ja-JP" altLang="en-US" dirty="0"/>
              <a:t>のグリッドを作成せよ。</a:t>
            </a:r>
            <a:endParaRPr lang="en-US" altLang="ja-JP" dirty="0"/>
          </a:p>
          <a:p>
            <a:pPr marL="0" indent="0">
              <a:buNone/>
            </a:pPr>
            <a:endParaRPr lang="en-US" altLang="ja-JP" sz="2000" dirty="0"/>
          </a:p>
          <a:p>
            <a:pPr marL="0" indent="0">
              <a:buNone/>
            </a:pPr>
            <a:r>
              <a:rPr lang="ja-JP" altLang="en-US" sz="2000" dirty="0"/>
              <a:t>ヒント</a:t>
            </a:r>
            <a:r>
              <a:rPr lang="en-US" altLang="ja-JP" sz="2000" dirty="0"/>
              <a:t>1</a:t>
            </a:r>
            <a:r>
              <a:rPr lang="ja-JP" altLang="en-US" sz="2000" dirty="0"/>
              <a:t>：演習</a:t>
            </a:r>
            <a:r>
              <a:rPr lang="en-US" altLang="ja-JP" sz="2000" dirty="0"/>
              <a:t>5</a:t>
            </a:r>
            <a:r>
              <a:rPr lang="ja-JP" altLang="en-US" sz="2000" dirty="0"/>
              <a:t>では、</a:t>
            </a:r>
            <a:r>
              <a:rPr lang="en-US" altLang="ja-JP" sz="2000" dirty="0" err="1"/>
              <a:t>padx</a:t>
            </a:r>
            <a:r>
              <a:rPr lang="ja-JP" altLang="en-US" sz="2000" dirty="0"/>
              <a:t>と</a:t>
            </a:r>
            <a:r>
              <a:rPr lang="en-US" altLang="ja-JP" sz="2000" dirty="0" err="1"/>
              <a:t>pady</a:t>
            </a:r>
            <a:r>
              <a:rPr lang="ja-JP" altLang="en-US" sz="2000" dirty="0"/>
              <a:t>の引数でスペースを調整できる。</a:t>
            </a:r>
            <a:endParaRPr lang="en-US" altLang="ja-JP" sz="2000" dirty="0"/>
          </a:p>
          <a:p>
            <a:pPr marL="0" indent="0">
              <a:buNone/>
            </a:pPr>
            <a:r>
              <a:rPr lang="ja-JP" altLang="en-US" sz="2000" dirty="0"/>
              <a:t>ヒント</a:t>
            </a:r>
            <a:r>
              <a:rPr lang="en-US" altLang="ja-JP" sz="2000" dirty="0"/>
              <a:t>2</a:t>
            </a:r>
            <a:r>
              <a:rPr lang="ja-JP" altLang="en-US" sz="2000" dirty="0"/>
              <a:t>：</a:t>
            </a:r>
            <a:r>
              <a:rPr lang="en-US" sz="2000" dirty="0" err="1"/>
              <a:t>columnconfigure</a:t>
            </a:r>
            <a:r>
              <a:rPr lang="ja-JP" altLang="en-US" sz="2000" dirty="0"/>
              <a:t>と</a:t>
            </a:r>
            <a:r>
              <a:rPr lang="en-US" sz="2000" dirty="0" err="1"/>
              <a:t>rowconfigure</a:t>
            </a:r>
            <a:r>
              <a:rPr lang="ja-JP" altLang="en-US" sz="2000" dirty="0"/>
              <a:t>の関数、グリッドの行と列の広がり方を調整できる。</a:t>
            </a:r>
            <a:endParaRPr lang="en-US" altLang="ja-JP" sz="2000" dirty="0"/>
          </a:p>
          <a:p>
            <a:pPr marL="0" indent="0">
              <a:buNone/>
            </a:pPr>
            <a:r>
              <a:rPr lang="ja-JP" altLang="en-US" sz="2000" dirty="0"/>
              <a:t>ヒント</a:t>
            </a:r>
            <a:r>
              <a:rPr lang="en-US" altLang="ja-JP" sz="2000" dirty="0"/>
              <a:t>3</a:t>
            </a:r>
            <a:r>
              <a:rPr lang="ja-JP" altLang="en-US" sz="2000" dirty="0"/>
              <a:t>：</a:t>
            </a:r>
            <a:r>
              <a:rPr lang="en-US" sz="2000" dirty="0"/>
              <a:t> sticky</a:t>
            </a:r>
            <a:r>
              <a:rPr lang="ja-JP" altLang="en-US" sz="2000" dirty="0"/>
              <a:t>の引数を使って、ウィジェットの広がり方を調整できる（ヒント</a:t>
            </a:r>
            <a:r>
              <a:rPr lang="en-US" altLang="ja-JP" sz="2000" dirty="0"/>
              <a:t>2</a:t>
            </a:r>
            <a:r>
              <a:rPr lang="ja-JP" altLang="en-US" sz="2000" dirty="0"/>
              <a:t>の適応が必要）。</a:t>
            </a:r>
            <a:endParaRPr lang="en-US" altLang="ja-JP" sz="2000" dirty="0"/>
          </a:p>
          <a:p>
            <a:pPr marL="0" indent="0">
              <a:buNone/>
            </a:pPr>
            <a:endParaRPr lang="en-US" sz="2000" dirty="0"/>
          </a:p>
        </p:txBody>
      </p:sp>
      <p:pic>
        <p:nvPicPr>
          <p:cNvPr id="7" name="Picture 6">
            <a:extLst>
              <a:ext uri="{FF2B5EF4-FFF2-40B4-BE49-F238E27FC236}">
                <a16:creationId xmlns:a16="http://schemas.microsoft.com/office/drawing/2014/main" id="{A17E989A-B2F5-CD40-B919-7D7467DFB638}"/>
              </a:ext>
            </a:extLst>
          </p:cNvPr>
          <p:cNvPicPr>
            <a:picLocks noChangeAspect="1"/>
          </p:cNvPicPr>
          <p:nvPr/>
        </p:nvPicPr>
        <p:blipFill>
          <a:blip r:embed="rId2"/>
          <a:stretch>
            <a:fillRect/>
          </a:stretch>
        </p:blipFill>
        <p:spPr>
          <a:xfrm>
            <a:off x="4019917" y="4030824"/>
            <a:ext cx="4152165" cy="2396274"/>
          </a:xfrm>
          <a:prstGeom prst="rect">
            <a:avLst/>
          </a:prstGeom>
        </p:spPr>
      </p:pic>
    </p:spTree>
    <p:extLst>
      <p:ext uri="{BB962C8B-B14F-4D97-AF65-F5344CB8AC3E}">
        <p14:creationId xmlns:p14="http://schemas.microsoft.com/office/powerpoint/2010/main" val="5203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68017-726B-0033-282B-7580133B72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F8B3011-D699-667F-EB94-75157BD97DDD}"/>
              </a:ext>
            </a:extLst>
          </p:cNvPr>
          <p:cNvSpPr>
            <a:spLocks noGrp="1"/>
          </p:cNvSpPr>
          <p:nvPr>
            <p:ph type="body" sz="quarter" idx="11"/>
          </p:nvPr>
        </p:nvSpPr>
        <p:spPr/>
        <p:txBody>
          <a:bodyPr>
            <a:normAutofit/>
          </a:bodyPr>
          <a:lstStyle/>
          <a:p>
            <a:r>
              <a:rPr lang="en-US" dirty="0"/>
              <a:t>2-6</a:t>
            </a:r>
            <a:r>
              <a:rPr lang="ja-JP" altLang="en-US" dirty="0"/>
              <a:t>　</a:t>
            </a:r>
            <a:r>
              <a:rPr lang="en-US" altLang="ja-JP" dirty="0"/>
              <a:t>grid</a:t>
            </a:r>
            <a:r>
              <a:rPr lang="ja-JP" altLang="en-US" dirty="0"/>
              <a:t>関数の</a:t>
            </a:r>
            <a:r>
              <a:rPr lang="ja-JP" altLang="en-US" dirty="0">
                <a:solidFill>
                  <a:srgbClr val="FFC000"/>
                </a:solidFill>
              </a:rPr>
              <a:t>中級</a:t>
            </a:r>
            <a:r>
              <a:rPr lang="ja-JP" altLang="en-US" dirty="0"/>
              <a:t>練習（解答</a:t>
            </a:r>
            <a:r>
              <a:rPr lang="en-US" altLang="ja-JP" dirty="0"/>
              <a:t>4</a:t>
            </a:r>
            <a:r>
              <a:rPr lang="ja-JP" altLang="en-US" dirty="0"/>
              <a:t>、</a:t>
            </a:r>
            <a:r>
              <a:rPr lang="en-US" altLang="ja-JP" dirty="0"/>
              <a:t>5</a:t>
            </a:r>
            <a:r>
              <a:rPr lang="ja-JP" altLang="en-US" dirty="0"/>
              <a:t>）</a:t>
            </a:r>
            <a:endParaRPr lang="en-US" dirty="0"/>
          </a:p>
        </p:txBody>
      </p:sp>
      <p:sp>
        <p:nvSpPr>
          <p:cNvPr id="4" name="Slide Number Placeholder 3">
            <a:extLst>
              <a:ext uri="{FF2B5EF4-FFF2-40B4-BE49-F238E27FC236}">
                <a16:creationId xmlns:a16="http://schemas.microsoft.com/office/drawing/2014/main" id="{80AC4F22-B645-D4D8-AB08-3CE40BD16D17}"/>
              </a:ext>
            </a:extLst>
          </p:cNvPr>
          <p:cNvSpPr>
            <a:spLocks noGrp="1"/>
          </p:cNvSpPr>
          <p:nvPr>
            <p:ph type="sldNum" sz="quarter" idx="15"/>
          </p:nvPr>
        </p:nvSpPr>
        <p:spPr/>
        <p:txBody>
          <a:bodyPr/>
          <a:lstStyle/>
          <a:p>
            <a:fld id="{CBD12358-51D2-46B3-9BDE-DF29528B9454}" type="slidenum">
              <a:rPr lang="en-US" smtClean="0"/>
              <a:pPr/>
              <a:t>18</a:t>
            </a:fld>
            <a:endParaRPr lang="en-US" dirty="0"/>
          </a:p>
        </p:txBody>
      </p:sp>
      <p:sp>
        <p:nvSpPr>
          <p:cNvPr id="3" name="TextBox 2">
            <a:extLst>
              <a:ext uri="{FF2B5EF4-FFF2-40B4-BE49-F238E27FC236}">
                <a16:creationId xmlns:a16="http://schemas.microsoft.com/office/drawing/2014/main" id="{60A4C03B-B1D3-A61E-134C-BB0A26A02979}"/>
              </a:ext>
            </a:extLst>
          </p:cNvPr>
          <p:cNvSpPr txBox="1"/>
          <p:nvPr/>
        </p:nvSpPr>
        <p:spPr>
          <a:xfrm>
            <a:off x="1878752" y="2396612"/>
            <a:ext cx="8520555" cy="2554545"/>
          </a:xfrm>
          <a:prstGeom prst="rect">
            <a:avLst/>
          </a:prstGeom>
          <a:noFill/>
          <a:ln>
            <a:solidFill>
              <a:schemeClr val="tx1"/>
            </a:solidFill>
          </a:ln>
        </p:spPr>
        <p:txBody>
          <a:bodyPr wrap="square" rtlCol="0">
            <a:spAutoFit/>
          </a:bodyPr>
          <a:lstStyle/>
          <a:p>
            <a:r>
              <a:rPr lang="en-US" altLang="ja-JP" sz="1600" dirty="0">
                <a:highlight>
                  <a:srgbClr val="FFFF00"/>
                </a:highlight>
                <a:latin typeface="Consolas" panose="020B0609020204030204" pitchFamily="49" charset="0"/>
              </a:rPr>
              <a:t>for </a:t>
            </a:r>
            <a:r>
              <a:rPr lang="en-US" altLang="ja-JP" sz="1600" dirty="0" err="1">
                <a:highlight>
                  <a:srgbClr val="FFFF00"/>
                </a:highlight>
                <a:latin typeface="Consolas" panose="020B0609020204030204" pitchFamily="49" charset="0"/>
              </a:rPr>
              <a:t>i</a:t>
            </a:r>
            <a:r>
              <a:rPr lang="en-US" altLang="ja-JP" sz="1600" dirty="0">
                <a:highlight>
                  <a:srgbClr val="FFFF00"/>
                </a:highlight>
                <a:latin typeface="Consolas" panose="020B0609020204030204" pitchFamily="49" charset="0"/>
              </a:rPr>
              <a:t> in range(3):</a:t>
            </a:r>
          </a:p>
          <a:p>
            <a:r>
              <a:rPr lang="en-US" altLang="ja-JP" sz="1600" dirty="0">
                <a:latin typeface="Consolas" panose="020B0609020204030204" pitchFamily="49" charset="0"/>
              </a:rPr>
              <a:t>    </a:t>
            </a:r>
            <a:r>
              <a:rPr lang="en-US" altLang="ja-JP" sz="1600" dirty="0" err="1">
                <a:highlight>
                  <a:srgbClr val="FFFF00"/>
                </a:highlight>
                <a:latin typeface="Consolas" panose="020B0609020204030204" pitchFamily="49" charset="0"/>
              </a:rPr>
              <a:t>root.columnconfigure</a:t>
            </a:r>
            <a:r>
              <a:rPr lang="en-US" altLang="ja-JP" sz="1600" dirty="0">
                <a:highlight>
                  <a:srgbClr val="FFFF00"/>
                </a:highlight>
                <a:latin typeface="Consolas" panose="020B0609020204030204" pitchFamily="49" charset="0"/>
              </a:rPr>
              <a:t>(</a:t>
            </a:r>
            <a:r>
              <a:rPr lang="en-US" altLang="ja-JP" sz="1600" dirty="0" err="1">
                <a:highlight>
                  <a:srgbClr val="FFFF00"/>
                </a:highlight>
                <a:latin typeface="Consolas" panose="020B0609020204030204" pitchFamily="49" charset="0"/>
              </a:rPr>
              <a:t>i</a:t>
            </a:r>
            <a:r>
              <a:rPr lang="en-US" altLang="ja-JP" sz="1600" dirty="0">
                <a:highlight>
                  <a:srgbClr val="FFFF00"/>
                </a:highlight>
                <a:latin typeface="Consolas" panose="020B0609020204030204" pitchFamily="49" charset="0"/>
              </a:rPr>
              <a:t>, weight=1, uniform="columns")</a:t>
            </a:r>
          </a:p>
          <a:p>
            <a:r>
              <a:rPr lang="en-US" altLang="ja-JP" sz="1600" dirty="0">
                <a:latin typeface="Consolas" panose="020B0609020204030204" pitchFamily="49" charset="0"/>
              </a:rPr>
              <a:t>    </a:t>
            </a:r>
            <a:r>
              <a:rPr lang="en-US" altLang="ja-JP" sz="1600" dirty="0" err="1">
                <a:highlight>
                  <a:srgbClr val="FFFF00"/>
                </a:highlight>
                <a:latin typeface="Consolas" panose="020B0609020204030204" pitchFamily="49" charset="0"/>
              </a:rPr>
              <a:t>root.rowconfigure</a:t>
            </a:r>
            <a:r>
              <a:rPr lang="en-US" altLang="ja-JP" sz="1600" dirty="0">
                <a:highlight>
                  <a:srgbClr val="FFFF00"/>
                </a:highlight>
                <a:latin typeface="Consolas" panose="020B0609020204030204" pitchFamily="49" charset="0"/>
              </a:rPr>
              <a:t>(</a:t>
            </a:r>
            <a:r>
              <a:rPr lang="en-US" altLang="ja-JP" sz="1600" dirty="0" err="1">
                <a:highlight>
                  <a:srgbClr val="FFFF00"/>
                </a:highlight>
                <a:latin typeface="Consolas" panose="020B0609020204030204" pitchFamily="49" charset="0"/>
              </a:rPr>
              <a:t>i</a:t>
            </a:r>
            <a:r>
              <a:rPr lang="en-US" altLang="ja-JP" sz="1600" dirty="0">
                <a:highlight>
                  <a:srgbClr val="FFFF00"/>
                </a:highlight>
                <a:latin typeface="Consolas" panose="020B0609020204030204" pitchFamily="49" charset="0"/>
              </a:rPr>
              <a:t>, weight=1, uniform="rows")</a:t>
            </a:r>
          </a:p>
          <a:p>
            <a:endParaRPr lang="en-US" altLang="ja-JP" sz="1600" dirty="0">
              <a:latin typeface="Consolas" panose="020B0609020204030204" pitchFamily="49" charset="0"/>
            </a:endParaRPr>
          </a:p>
          <a:p>
            <a:r>
              <a:rPr lang="en-US" altLang="ja-JP" sz="1600" dirty="0">
                <a:latin typeface="Consolas" panose="020B0609020204030204" pitchFamily="49" charset="0"/>
              </a:rPr>
              <a:t># grid</a:t>
            </a:r>
            <a:r>
              <a:rPr lang="ja-JP" altLang="en-US" sz="1600" dirty="0">
                <a:latin typeface="Consolas" panose="020B0609020204030204" pitchFamily="49" charset="0"/>
              </a:rPr>
              <a:t>関数で配置</a:t>
            </a:r>
          </a:p>
          <a:p>
            <a:r>
              <a:rPr lang="en-US" altLang="ja-JP" sz="1600" dirty="0">
                <a:latin typeface="Consolas" panose="020B0609020204030204" pitchFamily="49" charset="0"/>
              </a:rPr>
              <a:t># </a:t>
            </a:r>
            <a:r>
              <a:rPr lang="ja-JP" altLang="en-US" sz="1600" dirty="0">
                <a:latin typeface="Consolas" panose="020B0609020204030204" pitchFamily="49" charset="0"/>
              </a:rPr>
              <a:t>デフォルトでは、ウィジェットは左端に配置される</a:t>
            </a:r>
          </a:p>
          <a:p>
            <a:r>
              <a:rPr lang="en-US" altLang="ja-JP" sz="1600" dirty="0">
                <a:latin typeface="Consolas" panose="020B0609020204030204" pitchFamily="49" charset="0"/>
              </a:rPr>
              <a:t>for num in range(WIDGET_MAX):</a:t>
            </a:r>
          </a:p>
          <a:p>
            <a:r>
              <a:rPr lang="en-US" altLang="ja-JP" sz="1600" dirty="0">
                <a:latin typeface="Consolas" panose="020B0609020204030204" pitchFamily="49" charset="0"/>
              </a:rPr>
              <a:t>    </a:t>
            </a:r>
            <a:r>
              <a:rPr lang="en-US" altLang="ja-JP" sz="1600" dirty="0">
                <a:highlight>
                  <a:srgbClr val="FF00FF"/>
                </a:highlight>
                <a:latin typeface="Consolas" panose="020B0609020204030204" pitchFamily="49" charset="0"/>
              </a:rPr>
              <a:t>column = num % 3</a:t>
            </a:r>
          </a:p>
          <a:p>
            <a:r>
              <a:rPr lang="en-US" altLang="ja-JP" sz="1600" dirty="0">
                <a:latin typeface="Consolas" panose="020B0609020204030204" pitchFamily="49" charset="0"/>
              </a:rPr>
              <a:t>    </a:t>
            </a:r>
            <a:r>
              <a:rPr lang="en-US" altLang="ja-JP" sz="1600" dirty="0">
                <a:highlight>
                  <a:srgbClr val="FF00FF"/>
                </a:highlight>
                <a:latin typeface="Consolas" panose="020B0609020204030204" pitchFamily="49" charset="0"/>
              </a:rPr>
              <a:t>row = num // 3</a:t>
            </a:r>
          </a:p>
          <a:p>
            <a:r>
              <a:rPr lang="en-US" altLang="ja-JP" sz="1600" dirty="0">
                <a:latin typeface="Consolas" panose="020B0609020204030204" pitchFamily="49" charset="0"/>
              </a:rPr>
              <a:t>    labels[num].grid(</a:t>
            </a:r>
            <a:r>
              <a:rPr lang="en-US" altLang="ja-JP" sz="1600" dirty="0">
                <a:highlight>
                  <a:srgbClr val="FF00FF"/>
                </a:highlight>
                <a:latin typeface="Consolas" panose="020B0609020204030204" pitchFamily="49" charset="0"/>
              </a:rPr>
              <a:t>column=column, row=row</a:t>
            </a:r>
            <a:r>
              <a:rPr lang="en-US" altLang="ja-JP" sz="1600" dirty="0">
                <a:latin typeface="Consolas" panose="020B0609020204030204" pitchFamily="49" charset="0"/>
              </a:rPr>
              <a:t>, </a:t>
            </a:r>
            <a:r>
              <a:rPr lang="en-US" altLang="ja-JP" sz="1600" dirty="0" err="1">
                <a:highlight>
                  <a:srgbClr val="00FF00"/>
                </a:highlight>
                <a:latin typeface="Consolas" panose="020B0609020204030204" pitchFamily="49" charset="0"/>
              </a:rPr>
              <a:t>padx</a:t>
            </a:r>
            <a:r>
              <a:rPr lang="en-US" altLang="ja-JP" sz="1600" dirty="0">
                <a:highlight>
                  <a:srgbClr val="00FF00"/>
                </a:highlight>
                <a:latin typeface="Consolas" panose="020B0609020204030204" pitchFamily="49" charset="0"/>
              </a:rPr>
              <a:t>=5, </a:t>
            </a:r>
            <a:r>
              <a:rPr lang="en-US" altLang="ja-JP" sz="1600" dirty="0" err="1">
                <a:highlight>
                  <a:srgbClr val="00FF00"/>
                </a:highlight>
                <a:latin typeface="Consolas" panose="020B0609020204030204" pitchFamily="49" charset="0"/>
              </a:rPr>
              <a:t>pady</a:t>
            </a:r>
            <a:r>
              <a:rPr lang="en-US" altLang="ja-JP" sz="1600" dirty="0">
                <a:highlight>
                  <a:srgbClr val="00FF00"/>
                </a:highlight>
                <a:latin typeface="Consolas" panose="020B0609020204030204" pitchFamily="49" charset="0"/>
              </a:rPr>
              <a:t>=5</a:t>
            </a:r>
            <a:r>
              <a:rPr lang="en-US" altLang="ja-JP" sz="1600" dirty="0">
                <a:latin typeface="Consolas" panose="020B0609020204030204" pitchFamily="49" charset="0"/>
              </a:rPr>
              <a:t>, </a:t>
            </a:r>
            <a:r>
              <a:rPr lang="en-US" altLang="ja-JP" sz="1600" dirty="0">
                <a:highlight>
                  <a:srgbClr val="00FFFF"/>
                </a:highlight>
                <a:latin typeface="Consolas" panose="020B0609020204030204" pitchFamily="49" charset="0"/>
              </a:rPr>
              <a:t>sticky="</a:t>
            </a:r>
            <a:r>
              <a:rPr lang="en-US" altLang="ja-JP" sz="1600" dirty="0" err="1">
                <a:highlight>
                  <a:srgbClr val="00FFFF"/>
                </a:highlight>
                <a:latin typeface="Consolas" panose="020B0609020204030204" pitchFamily="49" charset="0"/>
              </a:rPr>
              <a:t>nsew</a:t>
            </a:r>
            <a:r>
              <a:rPr lang="en-US" altLang="ja-JP" sz="1600" dirty="0">
                <a:highlight>
                  <a:srgbClr val="00FFFF"/>
                </a:highlight>
                <a:latin typeface="Consolas" panose="020B0609020204030204" pitchFamily="49" charset="0"/>
              </a:rPr>
              <a:t>"</a:t>
            </a:r>
            <a:r>
              <a:rPr lang="en-US" altLang="ja-JP" sz="1600" dirty="0">
                <a:latin typeface="Consolas" panose="020B0609020204030204" pitchFamily="49" charset="0"/>
              </a:rPr>
              <a:t>)</a:t>
            </a:r>
          </a:p>
        </p:txBody>
      </p:sp>
      <p:sp>
        <p:nvSpPr>
          <p:cNvPr id="8" name="TextBox 7">
            <a:extLst>
              <a:ext uri="{FF2B5EF4-FFF2-40B4-BE49-F238E27FC236}">
                <a16:creationId xmlns:a16="http://schemas.microsoft.com/office/drawing/2014/main" id="{DA5FA018-7218-0A03-28BB-7FB3F457C319}"/>
              </a:ext>
            </a:extLst>
          </p:cNvPr>
          <p:cNvSpPr txBox="1"/>
          <p:nvPr/>
        </p:nvSpPr>
        <p:spPr>
          <a:xfrm>
            <a:off x="1044516" y="1315494"/>
            <a:ext cx="5270224" cy="923330"/>
          </a:xfrm>
          <a:prstGeom prst="rect">
            <a:avLst/>
          </a:prstGeom>
          <a:noFill/>
        </p:spPr>
        <p:txBody>
          <a:bodyPr wrap="square" rtlCol="0">
            <a:spAutoFit/>
          </a:bodyPr>
          <a:lstStyle/>
          <a:p>
            <a:pPr algn="just"/>
            <a:r>
              <a:rPr lang="ja-JP" altLang="en-US" dirty="0"/>
              <a:t>解答</a:t>
            </a:r>
            <a:r>
              <a:rPr lang="en-US" altLang="ja-JP" dirty="0"/>
              <a:t>5</a:t>
            </a:r>
            <a:r>
              <a:rPr lang="ja-JP" altLang="en-US" dirty="0"/>
              <a:t>：</a:t>
            </a:r>
            <a:r>
              <a:rPr lang="en-US" dirty="0"/>
              <a:t>3x3</a:t>
            </a:r>
            <a:r>
              <a:rPr lang="ja-JP" altLang="en-US" dirty="0"/>
              <a:t>のグリッドに</a:t>
            </a:r>
            <a:r>
              <a:rPr lang="en-US" altLang="ja-JP" dirty="0"/>
              <a:t>3</a:t>
            </a:r>
            <a:r>
              <a:rPr lang="ja-JP" altLang="en-US" dirty="0"/>
              <a:t>つの行と列がある。</a:t>
            </a:r>
            <a:r>
              <a:rPr lang="en-US" altLang="ja-JP" dirty="0" err="1"/>
              <a:t>columnconfigure</a:t>
            </a:r>
            <a:r>
              <a:rPr lang="ja-JP" altLang="en-US" dirty="0"/>
              <a:t>と</a:t>
            </a:r>
            <a:r>
              <a:rPr lang="en-US" altLang="ja-JP" dirty="0" err="1"/>
              <a:t>rowconfigure</a:t>
            </a:r>
            <a:r>
              <a:rPr lang="ja-JP" altLang="en-US" dirty="0"/>
              <a:t>関数で、行と列の広がり方を調整した。</a:t>
            </a:r>
            <a:endParaRPr lang="en-US" altLang="ja-JP" dirty="0"/>
          </a:p>
        </p:txBody>
      </p:sp>
      <p:cxnSp>
        <p:nvCxnSpPr>
          <p:cNvPr id="10" name="Straight Arrow Connector 9">
            <a:extLst>
              <a:ext uri="{FF2B5EF4-FFF2-40B4-BE49-F238E27FC236}">
                <a16:creationId xmlns:a16="http://schemas.microsoft.com/office/drawing/2014/main" id="{A96DB989-819E-BA79-CA84-81C2763FB41E}"/>
              </a:ext>
            </a:extLst>
          </p:cNvPr>
          <p:cNvCxnSpPr>
            <a:cxnSpLocks/>
            <a:stCxn id="8" idx="2"/>
          </p:cNvCxnSpPr>
          <p:nvPr/>
        </p:nvCxnSpPr>
        <p:spPr>
          <a:xfrm>
            <a:off x="3679628" y="2238824"/>
            <a:ext cx="1385347" cy="3300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EE60478-9A29-BC5C-7467-CBBA59E90648}"/>
              </a:ext>
            </a:extLst>
          </p:cNvPr>
          <p:cNvSpPr txBox="1"/>
          <p:nvPr/>
        </p:nvSpPr>
        <p:spPr>
          <a:xfrm>
            <a:off x="1196240" y="5538175"/>
            <a:ext cx="6232796" cy="369332"/>
          </a:xfrm>
          <a:prstGeom prst="rect">
            <a:avLst/>
          </a:prstGeom>
          <a:noFill/>
        </p:spPr>
        <p:txBody>
          <a:bodyPr wrap="none" rtlCol="0">
            <a:spAutoFit/>
          </a:bodyPr>
          <a:lstStyle/>
          <a:p>
            <a:r>
              <a:rPr lang="ja-JP" altLang="en-US" dirty="0"/>
              <a:t>解答</a:t>
            </a:r>
            <a:r>
              <a:rPr lang="en-US" altLang="ja-JP" dirty="0"/>
              <a:t>5</a:t>
            </a:r>
            <a:r>
              <a:rPr lang="ja-JP" altLang="en-US" dirty="0"/>
              <a:t>：各グリッドに</a:t>
            </a:r>
            <a:r>
              <a:rPr lang="en-US" altLang="ja-JP" dirty="0" err="1"/>
              <a:t>xy</a:t>
            </a:r>
            <a:r>
              <a:rPr lang="ja-JP" altLang="en-US" dirty="0"/>
              <a:t>軸の</a:t>
            </a:r>
            <a:r>
              <a:rPr lang="en-US" altLang="ja-JP" dirty="0"/>
              <a:t>5px</a:t>
            </a:r>
            <a:r>
              <a:rPr lang="ja-JP" altLang="en-US" dirty="0"/>
              <a:t>のパディングを追加した。</a:t>
            </a:r>
            <a:endParaRPr lang="en-US" dirty="0"/>
          </a:p>
        </p:txBody>
      </p:sp>
      <p:cxnSp>
        <p:nvCxnSpPr>
          <p:cNvPr id="15" name="Straight Arrow Connector 14">
            <a:extLst>
              <a:ext uri="{FF2B5EF4-FFF2-40B4-BE49-F238E27FC236}">
                <a16:creationId xmlns:a16="http://schemas.microsoft.com/office/drawing/2014/main" id="{664E6E99-2B19-5B36-C3A5-C3330201B88D}"/>
              </a:ext>
            </a:extLst>
          </p:cNvPr>
          <p:cNvCxnSpPr>
            <a:cxnSpLocks/>
            <a:stCxn id="14" idx="0"/>
          </p:cNvCxnSpPr>
          <p:nvPr/>
        </p:nvCxnSpPr>
        <p:spPr>
          <a:xfrm flipV="1">
            <a:off x="4312638" y="4925708"/>
            <a:ext cx="2651894" cy="6124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03CF94E-06A8-1C74-486E-16E5BCF935BD}"/>
              </a:ext>
            </a:extLst>
          </p:cNvPr>
          <p:cNvSpPr txBox="1"/>
          <p:nvPr/>
        </p:nvSpPr>
        <p:spPr>
          <a:xfrm>
            <a:off x="7948782" y="5399675"/>
            <a:ext cx="3670300" cy="923330"/>
          </a:xfrm>
          <a:prstGeom prst="rect">
            <a:avLst/>
          </a:prstGeom>
          <a:noFill/>
        </p:spPr>
        <p:txBody>
          <a:bodyPr wrap="square" rtlCol="0">
            <a:spAutoFit/>
          </a:bodyPr>
          <a:lstStyle/>
          <a:p>
            <a:pPr algn="just"/>
            <a:r>
              <a:rPr lang="ja-JP" altLang="en-US" dirty="0"/>
              <a:t>解答</a:t>
            </a:r>
            <a:r>
              <a:rPr lang="en-US" altLang="ja-JP" dirty="0"/>
              <a:t>5</a:t>
            </a:r>
            <a:r>
              <a:rPr lang="ja-JP" altLang="en-US" dirty="0"/>
              <a:t>：ウィジェットをセルの上下左右いっぱいに広げる。</a:t>
            </a:r>
            <a:endParaRPr lang="en-US" altLang="ja-JP" dirty="0"/>
          </a:p>
          <a:p>
            <a:pPr algn="just"/>
            <a:r>
              <a:rPr lang="en-US" dirty="0" err="1"/>
              <a:t>nsew</a:t>
            </a:r>
            <a:r>
              <a:rPr lang="ja-JP" altLang="en-US" dirty="0"/>
              <a:t>の意味：</a:t>
            </a:r>
            <a:r>
              <a:rPr lang="en-US" altLang="ja-JP" dirty="0"/>
              <a:t>pp. 43―45</a:t>
            </a:r>
            <a:endParaRPr lang="en-US" dirty="0"/>
          </a:p>
        </p:txBody>
      </p:sp>
      <p:cxnSp>
        <p:nvCxnSpPr>
          <p:cNvPr id="20" name="Straight Arrow Connector 19">
            <a:extLst>
              <a:ext uri="{FF2B5EF4-FFF2-40B4-BE49-F238E27FC236}">
                <a16:creationId xmlns:a16="http://schemas.microsoft.com/office/drawing/2014/main" id="{989F6E55-D6D2-D247-8425-08B6B94F7990}"/>
              </a:ext>
            </a:extLst>
          </p:cNvPr>
          <p:cNvCxnSpPr>
            <a:cxnSpLocks/>
            <a:stCxn id="19" idx="0"/>
          </p:cNvCxnSpPr>
          <p:nvPr/>
        </p:nvCxnSpPr>
        <p:spPr>
          <a:xfrm flipV="1">
            <a:off x="9783932" y="4975907"/>
            <a:ext cx="0" cy="4237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906C594-C77B-AF70-6C89-3505D484ACB5}"/>
              </a:ext>
            </a:extLst>
          </p:cNvPr>
          <p:cNvSpPr txBox="1"/>
          <p:nvPr/>
        </p:nvSpPr>
        <p:spPr>
          <a:xfrm>
            <a:off x="416859" y="4214726"/>
            <a:ext cx="779381" cy="369332"/>
          </a:xfrm>
          <a:prstGeom prst="rect">
            <a:avLst/>
          </a:prstGeom>
          <a:noFill/>
        </p:spPr>
        <p:txBody>
          <a:bodyPr wrap="none" rtlCol="0">
            <a:spAutoFit/>
          </a:bodyPr>
          <a:lstStyle/>
          <a:p>
            <a:r>
              <a:rPr lang="ja-JP" altLang="en-US" dirty="0"/>
              <a:t>解答</a:t>
            </a:r>
            <a:r>
              <a:rPr lang="en-US" altLang="ja-JP" dirty="0"/>
              <a:t>4</a:t>
            </a:r>
            <a:endParaRPr lang="en-US" dirty="0"/>
          </a:p>
        </p:txBody>
      </p:sp>
      <p:cxnSp>
        <p:nvCxnSpPr>
          <p:cNvPr id="11" name="Straight Arrow Connector 10">
            <a:extLst>
              <a:ext uri="{FF2B5EF4-FFF2-40B4-BE49-F238E27FC236}">
                <a16:creationId xmlns:a16="http://schemas.microsoft.com/office/drawing/2014/main" id="{691CF4F7-F134-3070-7125-827161F1E675}"/>
              </a:ext>
            </a:extLst>
          </p:cNvPr>
          <p:cNvCxnSpPr>
            <a:cxnSpLocks/>
            <a:stCxn id="9" idx="3"/>
          </p:cNvCxnSpPr>
          <p:nvPr/>
        </p:nvCxnSpPr>
        <p:spPr>
          <a:xfrm>
            <a:off x="1196240" y="4399392"/>
            <a:ext cx="107362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63ED6AF-D7D7-7C04-171F-42E4FF960858}"/>
              </a:ext>
            </a:extLst>
          </p:cNvPr>
          <p:cNvCxnSpPr>
            <a:cxnSpLocks/>
            <a:stCxn id="9" idx="3"/>
          </p:cNvCxnSpPr>
          <p:nvPr/>
        </p:nvCxnSpPr>
        <p:spPr>
          <a:xfrm>
            <a:off x="1196240" y="4399392"/>
            <a:ext cx="3031517" cy="384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847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9"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531292-FDB9-2754-D7A3-F3ED0B02822F}"/>
              </a:ext>
            </a:extLst>
          </p:cNvPr>
          <p:cNvSpPr>
            <a:spLocks noGrp="1"/>
          </p:cNvSpPr>
          <p:nvPr>
            <p:ph type="body" sz="quarter" idx="11"/>
          </p:nvPr>
        </p:nvSpPr>
        <p:spPr/>
        <p:txBody>
          <a:bodyPr/>
          <a:lstStyle/>
          <a:p>
            <a:r>
              <a:rPr lang="en-US" altLang="ja-JP" dirty="0"/>
              <a:t>2-7</a:t>
            </a:r>
            <a:r>
              <a:rPr lang="ja-JP" altLang="en-US" dirty="0"/>
              <a:t>　</a:t>
            </a:r>
            <a:r>
              <a:rPr lang="en-US" altLang="ja-JP" dirty="0"/>
              <a:t>grid</a:t>
            </a:r>
            <a:r>
              <a:rPr lang="ja-JP" altLang="en-US" dirty="0"/>
              <a:t>関数の</a:t>
            </a:r>
            <a:r>
              <a:rPr lang="ja-JP" altLang="en-US" dirty="0">
                <a:solidFill>
                  <a:srgbClr val="FF0000"/>
                </a:solidFill>
              </a:rPr>
              <a:t>上級</a:t>
            </a:r>
            <a:r>
              <a:rPr lang="ja-JP" altLang="en-US" dirty="0"/>
              <a:t>練習</a:t>
            </a:r>
            <a:endParaRPr lang="en-US" altLang="ja-JP" dirty="0"/>
          </a:p>
        </p:txBody>
      </p:sp>
      <p:sp>
        <p:nvSpPr>
          <p:cNvPr id="3" name="Text Placeholder 2">
            <a:extLst>
              <a:ext uri="{FF2B5EF4-FFF2-40B4-BE49-F238E27FC236}">
                <a16:creationId xmlns:a16="http://schemas.microsoft.com/office/drawing/2014/main" id="{2E6F2761-9FFF-09A9-B94B-D59C54AE653F}"/>
              </a:ext>
            </a:extLst>
          </p:cNvPr>
          <p:cNvSpPr>
            <a:spLocks noGrp="1"/>
          </p:cNvSpPr>
          <p:nvPr>
            <p:ph type="body" sz="quarter" idx="13"/>
          </p:nvPr>
        </p:nvSpPr>
        <p:spPr>
          <a:xfrm>
            <a:off x="114444" y="1133475"/>
            <a:ext cx="11963109" cy="1525664"/>
          </a:xfrm>
        </p:spPr>
        <p:txBody>
          <a:bodyPr/>
          <a:lstStyle/>
          <a:p>
            <a:pPr marL="0" indent="0">
              <a:buNone/>
            </a:pPr>
            <a:r>
              <a:rPr lang="ja-JP" altLang="en-US" dirty="0"/>
              <a:t>練</a:t>
            </a:r>
            <a:r>
              <a:rPr lang="ja-JP" altLang="en-US" spc="-20" dirty="0"/>
              <a:t>習</a:t>
            </a:r>
            <a:r>
              <a:rPr lang="en-US" altLang="ja-JP" spc="-20" dirty="0"/>
              <a:t>6</a:t>
            </a:r>
            <a:r>
              <a:rPr lang="ja-JP" altLang="en-US" spc="-20" dirty="0"/>
              <a:t>：練習</a:t>
            </a:r>
            <a:r>
              <a:rPr lang="en-US" altLang="ja-JP" spc="-20" dirty="0"/>
              <a:t>5</a:t>
            </a:r>
            <a:r>
              <a:rPr lang="ja-JP" altLang="en-US" spc="-20" dirty="0"/>
              <a:t>のソースコードを使って、「</a:t>
            </a:r>
            <a:r>
              <a:rPr lang="en-US" altLang="ja-JP" spc="-20" dirty="0" err="1"/>
              <a:t>abc</a:t>
            </a:r>
            <a:r>
              <a:rPr lang="ja-JP" altLang="en-US" spc="-20" dirty="0"/>
              <a:t>」のテキストをグリッドの上に追加せよ。</a:t>
            </a:r>
            <a:endParaRPr lang="en-US" altLang="ja-JP" spc="-2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ヒント</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1</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a:t>
            </a:r>
            <a:r>
              <a:rPr kumimoji="0" lang="en-US" altLang="ja-JP" sz="2000" b="0" i="0" u="none" strike="noStrike" kern="1200" cap="none" spc="0" normalizeH="0" baseline="0" noProof="0" dirty="0" err="1">
                <a:ln>
                  <a:noFill/>
                </a:ln>
                <a:solidFill>
                  <a:srgbClr val="000000"/>
                </a:solidFill>
                <a:effectLst/>
                <a:uLnTx/>
                <a:uFillTx/>
                <a:latin typeface="Avenir Next LT Pro Light"/>
                <a:ea typeface="+mn-ea"/>
                <a:cs typeface="+mn-cs"/>
              </a:rPr>
              <a:t>tk.Label</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を使ってテキストを追加することができる。</a:t>
            </a:r>
            <a:endPar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ヒント</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2</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3x3</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のグリッドは</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Frame</a:t>
            </a:r>
            <a:r>
              <a:rPr lang="ja-JP" altLang="en-US" sz="2000" dirty="0">
                <a:solidFill>
                  <a:srgbClr val="000000"/>
                </a:solidFill>
                <a:latin typeface="Avenir Next LT Pro Light"/>
              </a:rPr>
              <a:t>の中に入れる</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a:t>
            </a:r>
            <a:endPar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endParaRPr>
          </a:p>
        </p:txBody>
      </p:sp>
      <p:sp>
        <p:nvSpPr>
          <p:cNvPr id="4" name="Slide Number Placeholder 3">
            <a:extLst>
              <a:ext uri="{FF2B5EF4-FFF2-40B4-BE49-F238E27FC236}">
                <a16:creationId xmlns:a16="http://schemas.microsoft.com/office/drawing/2014/main" id="{0D2D7BF4-2677-7B08-7E17-85C6A81E8967}"/>
              </a:ext>
            </a:extLst>
          </p:cNvPr>
          <p:cNvSpPr>
            <a:spLocks noGrp="1"/>
          </p:cNvSpPr>
          <p:nvPr>
            <p:ph type="sldNum" sz="quarter" idx="15"/>
          </p:nvPr>
        </p:nvSpPr>
        <p:spPr/>
        <p:txBody>
          <a:bodyPr/>
          <a:lstStyle/>
          <a:p>
            <a:fld id="{CBD12358-51D2-46B3-9BDE-DF29528B9454}" type="slidenum">
              <a:rPr lang="en-US" smtClean="0"/>
              <a:pPr/>
              <a:t>19</a:t>
            </a:fld>
            <a:endParaRPr lang="en-US" dirty="0"/>
          </a:p>
        </p:txBody>
      </p:sp>
      <p:pic>
        <p:nvPicPr>
          <p:cNvPr id="6" name="Picture 5">
            <a:extLst>
              <a:ext uri="{FF2B5EF4-FFF2-40B4-BE49-F238E27FC236}">
                <a16:creationId xmlns:a16="http://schemas.microsoft.com/office/drawing/2014/main" id="{7EAB3ED7-1AB4-62F5-F0BC-61F252FCBF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81887" y="3207532"/>
            <a:ext cx="4454545" cy="2570783"/>
          </a:xfrm>
          <a:prstGeom prst="rect">
            <a:avLst/>
          </a:prstGeom>
        </p:spPr>
      </p:pic>
      <p:sp>
        <p:nvSpPr>
          <p:cNvPr id="7" name="Rectangle 6">
            <a:extLst>
              <a:ext uri="{FF2B5EF4-FFF2-40B4-BE49-F238E27FC236}">
                <a16:creationId xmlns:a16="http://schemas.microsoft.com/office/drawing/2014/main" id="{1C5E4ED7-A18B-F140-6521-CC9C80641265}"/>
              </a:ext>
            </a:extLst>
          </p:cNvPr>
          <p:cNvSpPr/>
          <p:nvPr/>
        </p:nvSpPr>
        <p:spPr>
          <a:xfrm>
            <a:off x="961313" y="2902869"/>
            <a:ext cx="2054712" cy="369332"/>
          </a:xfrm>
          <a:prstGeom prst="rect">
            <a:avLst/>
          </a:prstGeom>
          <a:solidFill>
            <a:srgbClr val="D67D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Top level window</a:t>
            </a:r>
            <a:endParaRPr lang="en-US" dirty="0"/>
          </a:p>
        </p:txBody>
      </p:sp>
      <p:sp>
        <p:nvSpPr>
          <p:cNvPr id="8" name="Rectangle 7">
            <a:extLst>
              <a:ext uri="{FF2B5EF4-FFF2-40B4-BE49-F238E27FC236}">
                <a16:creationId xmlns:a16="http://schemas.microsoft.com/office/drawing/2014/main" id="{9A5DDD8A-83EE-2D80-029F-D8B88C068E02}"/>
              </a:ext>
            </a:extLst>
          </p:cNvPr>
          <p:cNvSpPr/>
          <p:nvPr/>
        </p:nvSpPr>
        <p:spPr>
          <a:xfrm>
            <a:off x="1497402" y="3616399"/>
            <a:ext cx="90185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Label</a:t>
            </a:r>
            <a:endParaRPr lang="en-US" dirty="0"/>
          </a:p>
        </p:txBody>
      </p:sp>
      <p:sp>
        <p:nvSpPr>
          <p:cNvPr id="9" name="Rectangle 8">
            <a:extLst>
              <a:ext uri="{FF2B5EF4-FFF2-40B4-BE49-F238E27FC236}">
                <a16:creationId xmlns:a16="http://schemas.microsoft.com/office/drawing/2014/main" id="{E2732CDE-B141-5A59-3C0E-F8D0D7609168}"/>
              </a:ext>
            </a:extLst>
          </p:cNvPr>
          <p:cNvSpPr/>
          <p:nvPr/>
        </p:nvSpPr>
        <p:spPr>
          <a:xfrm>
            <a:off x="1497402" y="4132598"/>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sp>
        <p:nvSpPr>
          <p:cNvPr id="10" name="Rectangle 9">
            <a:extLst>
              <a:ext uri="{FF2B5EF4-FFF2-40B4-BE49-F238E27FC236}">
                <a16:creationId xmlns:a16="http://schemas.microsoft.com/office/drawing/2014/main" id="{CEDCB313-D3C8-7B6A-1E77-1802AE900FB7}"/>
              </a:ext>
            </a:extLst>
          </p:cNvPr>
          <p:cNvSpPr/>
          <p:nvPr/>
        </p:nvSpPr>
        <p:spPr>
          <a:xfrm>
            <a:off x="1972530" y="4648804"/>
            <a:ext cx="901851"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Label</a:t>
            </a:r>
            <a:endParaRPr lang="en-US" dirty="0"/>
          </a:p>
        </p:txBody>
      </p:sp>
      <p:sp>
        <p:nvSpPr>
          <p:cNvPr id="11" name="Rectangle 10">
            <a:extLst>
              <a:ext uri="{FF2B5EF4-FFF2-40B4-BE49-F238E27FC236}">
                <a16:creationId xmlns:a16="http://schemas.microsoft.com/office/drawing/2014/main" id="{4FE35876-5921-F5E1-AC44-0E4333B530C5}"/>
              </a:ext>
            </a:extLst>
          </p:cNvPr>
          <p:cNvSpPr/>
          <p:nvPr/>
        </p:nvSpPr>
        <p:spPr>
          <a:xfrm>
            <a:off x="1972530" y="5606065"/>
            <a:ext cx="901851"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Label</a:t>
            </a:r>
            <a:endParaRPr lang="en-US" dirty="0"/>
          </a:p>
        </p:txBody>
      </p:sp>
      <p:cxnSp>
        <p:nvCxnSpPr>
          <p:cNvPr id="13" name="Connector: Elbow 12">
            <a:extLst>
              <a:ext uri="{FF2B5EF4-FFF2-40B4-BE49-F238E27FC236}">
                <a16:creationId xmlns:a16="http://schemas.microsoft.com/office/drawing/2014/main" id="{831730EF-8278-4C9A-CE15-69EFFA24EA63}"/>
              </a:ext>
            </a:extLst>
          </p:cNvPr>
          <p:cNvCxnSpPr>
            <a:cxnSpLocks/>
            <a:endCxn id="8" idx="1"/>
          </p:cNvCxnSpPr>
          <p:nvPr/>
        </p:nvCxnSpPr>
        <p:spPr>
          <a:xfrm rot="16200000" flipH="1">
            <a:off x="1091327" y="3394990"/>
            <a:ext cx="528864"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4" name="Connector: Elbow 13">
            <a:extLst>
              <a:ext uri="{FF2B5EF4-FFF2-40B4-BE49-F238E27FC236}">
                <a16:creationId xmlns:a16="http://schemas.microsoft.com/office/drawing/2014/main" id="{9AB39842-A98D-EF73-D469-639821B01883}"/>
              </a:ext>
            </a:extLst>
          </p:cNvPr>
          <p:cNvCxnSpPr>
            <a:cxnSpLocks/>
            <a:endCxn id="9" idx="1"/>
          </p:cNvCxnSpPr>
          <p:nvPr/>
        </p:nvCxnSpPr>
        <p:spPr>
          <a:xfrm rot="16200000" flipH="1">
            <a:off x="833228" y="3653089"/>
            <a:ext cx="1045063"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6" name="Connector: Elbow 15">
            <a:extLst>
              <a:ext uri="{FF2B5EF4-FFF2-40B4-BE49-F238E27FC236}">
                <a16:creationId xmlns:a16="http://schemas.microsoft.com/office/drawing/2014/main" id="{1648851A-92D0-4499-37B1-F5AF2802FBEC}"/>
              </a:ext>
            </a:extLst>
          </p:cNvPr>
          <p:cNvCxnSpPr>
            <a:cxnSpLocks/>
            <a:endCxn id="11" idx="1"/>
          </p:cNvCxnSpPr>
          <p:nvPr/>
        </p:nvCxnSpPr>
        <p:spPr>
          <a:xfrm rot="16200000" flipH="1">
            <a:off x="1181557" y="4999757"/>
            <a:ext cx="1288801" cy="293145"/>
          </a:xfrm>
          <a:prstGeom prst="bentConnector2">
            <a:avLst/>
          </a:prstGeom>
        </p:spPr>
        <p:style>
          <a:lnRef idx="2">
            <a:schemeClr val="dk1"/>
          </a:lnRef>
          <a:fillRef idx="0">
            <a:schemeClr val="dk1"/>
          </a:fillRef>
          <a:effectRef idx="1">
            <a:schemeClr val="dk1"/>
          </a:effectRef>
          <a:fontRef idx="minor">
            <a:schemeClr val="tx1"/>
          </a:fontRef>
        </p:style>
      </p:cxnSp>
      <p:cxnSp>
        <p:nvCxnSpPr>
          <p:cNvPr id="17" name="Connector: Elbow 16">
            <a:extLst>
              <a:ext uri="{FF2B5EF4-FFF2-40B4-BE49-F238E27FC236}">
                <a16:creationId xmlns:a16="http://schemas.microsoft.com/office/drawing/2014/main" id="{29007CC0-E8F6-F6A0-722D-582ABCFD8D02}"/>
              </a:ext>
            </a:extLst>
          </p:cNvPr>
          <p:cNvCxnSpPr>
            <a:cxnSpLocks/>
            <a:endCxn id="10" idx="1"/>
          </p:cNvCxnSpPr>
          <p:nvPr/>
        </p:nvCxnSpPr>
        <p:spPr>
          <a:xfrm rot="16200000" flipH="1">
            <a:off x="1660187" y="4521127"/>
            <a:ext cx="331540" cy="293145"/>
          </a:xfrm>
          <a:prstGeom prst="bentConnector2">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4905F9A-7630-C669-CD41-297DC69CD118}"/>
                  </a:ext>
                </a:extLst>
              </p:cNvPr>
              <p:cNvSpPr txBox="1"/>
              <p:nvPr/>
            </p:nvSpPr>
            <p:spPr>
              <a:xfrm>
                <a:off x="2215706" y="5022356"/>
                <a:ext cx="415498" cy="584775"/>
              </a:xfrm>
              <a:prstGeom prst="rect">
                <a:avLst/>
              </a:prstGeom>
              <a:noFill/>
            </p:spPr>
            <p:txBody>
              <a:bodyPr wrap="none" rtlCol="0">
                <a:spAutoFit/>
              </a:bodyPr>
              <a:lstStyle/>
              <a:p>
                <a:pPr/>
                <a14:m>
                  <m:oMathPara xmlns:m="http://schemas.openxmlformats.org/officeDocument/2006/math">
                    <m:oMath>
                      <m:r>
                        <a:rPr lang="en-US" sz="3200" i="1" smtClean="0">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20" name="TextBox 19">
                <a:extLst>
                  <a:ext uri="{FF2B5EF4-FFF2-40B4-BE49-F238E27FC236}">
                    <a16:creationId xmlns:a16="http://schemas.microsoft.com/office/drawing/2014/main" id="{24905F9A-7630-C669-CD41-297DC69CD118}"/>
                  </a:ext>
                </a:extLst>
              </p:cNvPr>
              <p:cNvSpPr txBox="1">
                <a:spLocks noRot="1" noChangeAspect="1" noMove="1" noResize="1" noEditPoints="1" noAdjustHandles="1" noChangeArrowheads="1" noChangeShapeType="1" noTextEdit="1"/>
              </p:cNvSpPr>
              <p:nvPr/>
            </p:nvSpPr>
            <p:spPr>
              <a:xfrm>
                <a:off x="2215706" y="5022356"/>
                <a:ext cx="415498" cy="584775"/>
              </a:xfrm>
              <a:prstGeom prst="rect">
                <a:avLst/>
              </a:prstGeom>
              <a:blipFill>
                <a:blip r:embed="rId3"/>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ACA04638-A17F-23F0-906E-79666C14A9CF}"/>
              </a:ext>
            </a:extLst>
          </p:cNvPr>
          <p:cNvSpPr txBox="1"/>
          <p:nvPr/>
        </p:nvSpPr>
        <p:spPr>
          <a:xfrm>
            <a:off x="2874381" y="4644584"/>
            <a:ext cx="3382657" cy="369332"/>
          </a:xfrm>
          <a:prstGeom prst="rect">
            <a:avLst/>
          </a:prstGeom>
          <a:noFill/>
        </p:spPr>
        <p:txBody>
          <a:bodyPr wrap="none" rtlCol="0">
            <a:spAutoFit/>
          </a:bodyPr>
          <a:lstStyle/>
          <a:p>
            <a:r>
              <a:rPr lang="en-US" dirty="0">
                <a:solidFill>
                  <a:srgbClr val="D67D61"/>
                </a:solidFill>
              </a:rPr>
              <a:t>NO_0</a:t>
            </a:r>
            <a:r>
              <a:rPr lang="ja-JP" altLang="en-US" dirty="0"/>
              <a:t>、左上（行：</a:t>
            </a:r>
            <a:r>
              <a:rPr lang="en-US" altLang="ja-JP" dirty="0"/>
              <a:t>0</a:t>
            </a:r>
            <a:r>
              <a:rPr lang="ja-JP" altLang="en-US" dirty="0"/>
              <a:t>、列：</a:t>
            </a:r>
            <a:r>
              <a:rPr lang="en-US" altLang="ja-JP" dirty="0"/>
              <a:t>0</a:t>
            </a:r>
            <a:r>
              <a:rPr lang="ja-JP" altLang="en-US" dirty="0"/>
              <a:t>）</a:t>
            </a:r>
            <a:endParaRPr lang="en-US" dirty="0"/>
          </a:p>
        </p:txBody>
      </p:sp>
      <p:sp>
        <p:nvSpPr>
          <p:cNvPr id="23" name="TextBox 22">
            <a:extLst>
              <a:ext uri="{FF2B5EF4-FFF2-40B4-BE49-F238E27FC236}">
                <a16:creationId xmlns:a16="http://schemas.microsoft.com/office/drawing/2014/main" id="{2EE0D953-BF3E-2ECB-7F9F-AA339E278780}"/>
              </a:ext>
            </a:extLst>
          </p:cNvPr>
          <p:cNvSpPr txBox="1"/>
          <p:nvPr/>
        </p:nvSpPr>
        <p:spPr>
          <a:xfrm>
            <a:off x="2874381" y="5606065"/>
            <a:ext cx="3382657" cy="369332"/>
          </a:xfrm>
          <a:prstGeom prst="rect">
            <a:avLst/>
          </a:prstGeom>
          <a:noFill/>
        </p:spPr>
        <p:txBody>
          <a:bodyPr wrap="none" rtlCol="0">
            <a:spAutoFit/>
          </a:bodyPr>
          <a:lstStyle/>
          <a:p>
            <a:r>
              <a:rPr lang="en-US" dirty="0">
                <a:solidFill>
                  <a:srgbClr val="D67D61"/>
                </a:solidFill>
              </a:rPr>
              <a:t>NO_8</a:t>
            </a:r>
            <a:r>
              <a:rPr lang="ja-JP" altLang="en-US" dirty="0"/>
              <a:t>、右下（行：</a:t>
            </a:r>
            <a:r>
              <a:rPr lang="en-US" altLang="ja-JP" dirty="0"/>
              <a:t>2</a:t>
            </a:r>
            <a:r>
              <a:rPr lang="ja-JP" altLang="en-US" dirty="0"/>
              <a:t>、列：</a:t>
            </a:r>
            <a:r>
              <a:rPr lang="en-US" altLang="ja-JP" dirty="0"/>
              <a:t>2</a:t>
            </a:r>
            <a:r>
              <a:rPr lang="ja-JP" altLang="en-US" dirty="0"/>
              <a:t>）</a:t>
            </a:r>
            <a:endParaRPr lang="en-US" dirty="0"/>
          </a:p>
        </p:txBody>
      </p:sp>
      <p:sp>
        <p:nvSpPr>
          <p:cNvPr id="25" name="TextBox 24">
            <a:extLst>
              <a:ext uri="{FF2B5EF4-FFF2-40B4-BE49-F238E27FC236}">
                <a16:creationId xmlns:a16="http://schemas.microsoft.com/office/drawing/2014/main" id="{91DBF168-CC83-E718-BC05-22C344A90E55}"/>
              </a:ext>
            </a:extLst>
          </p:cNvPr>
          <p:cNvSpPr txBox="1"/>
          <p:nvPr/>
        </p:nvSpPr>
        <p:spPr>
          <a:xfrm>
            <a:off x="2409306" y="3616399"/>
            <a:ext cx="2967479" cy="369332"/>
          </a:xfrm>
          <a:prstGeom prst="rect">
            <a:avLst/>
          </a:prstGeom>
          <a:noFill/>
        </p:spPr>
        <p:txBody>
          <a:bodyPr wrap="none" rtlCol="0">
            <a:spAutoFit/>
          </a:bodyPr>
          <a:lstStyle/>
          <a:p>
            <a:r>
              <a:rPr lang="en-US" dirty="0" err="1">
                <a:solidFill>
                  <a:srgbClr val="D67D61"/>
                </a:solidFill>
              </a:rPr>
              <a:t>abc</a:t>
            </a:r>
            <a:r>
              <a:rPr lang="ja-JP" altLang="en-US" dirty="0"/>
              <a:t>、上 （行：</a:t>
            </a:r>
            <a:r>
              <a:rPr lang="en-US" altLang="ja-JP" dirty="0"/>
              <a:t>0</a:t>
            </a:r>
            <a:r>
              <a:rPr lang="ja-JP" altLang="en-US" dirty="0"/>
              <a:t>、列：</a:t>
            </a:r>
            <a:r>
              <a:rPr lang="en-US" altLang="ja-JP" dirty="0"/>
              <a:t>0</a:t>
            </a:r>
            <a:r>
              <a:rPr lang="ja-JP" altLang="en-US" dirty="0"/>
              <a:t>）</a:t>
            </a:r>
            <a:endParaRPr lang="en-US" dirty="0"/>
          </a:p>
        </p:txBody>
      </p:sp>
      <p:sp>
        <p:nvSpPr>
          <p:cNvPr id="28" name="TextBox 27">
            <a:extLst>
              <a:ext uri="{FF2B5EF4-FFF2-40B4-BE49-F238E27FC236}">
                <a16:creationId xmlns:a16="http://schemas.microsoft.com/office/drawing/2014/main" id="{AE6738C8-3686-4333-89A8-5B34210B32C8}"/>
              </a:ext>
            </a:extLst>
          </p:cNvPr>
          <p:cNvSpPr txBox="1"/>
          <p:nvPr/>
        </p:nvSpPr>
        <p:spPr>
          <a:xfrm>
            <a:off x="2399252" y="4134258"/>
            <a:ext cx="2297424" cy="369332"/>
          </a:xfrm>
          <a:prstGeom prst="rect">
            <a:avLst/>
          </a:prstGeom>
          <a:noFill/>
        </p:spPr>
        <p:txBody>
          <a:bodyPr wrap="none" rtlCol="0">
            <a:spAutoFit/>
          </a:bodyPr>
          <a:lstStyle/>
          <a:p>
            <a:r>
              <a:rPr lang="ja-JP" altLang="en-US" dirty="0"/>
              <a:t>下（行：</a:t>
            </a:r>
            <a:r>
              <a:rPr lang="en-US" altLang="ja-JP" dirty="0"/>
              <a:t>1</a:t>
            </a:r>
            <a:r>
              <a:rPr lang="ja-JP" altLang="en-US" dirty="0"/>
              <a:t>、列：</a:t>
            </a:r>
            <a:r>
              <a:rPr lang="en-US" altLang="ja-JP" dirty="0"/>
              <a:t>0</a:t>
            </a:r>
            <a:r>
              <a:rPr lang="ja-JP" altLang="en-US" dirty="0"/>
              <a:t>）</a:t>
            </a:r>
            <a:endParaRPr lang="en-US" dirty="0"/>
          </a:p>
        </p:txBody>
      </p:sp>
    </p:spTree>
    <p:extLst>
      <p:ext uri="{BB962C8B-B14F-4D97-AF65-F5344CB8AC3E}">
        <p14:creationId xmlns:p14="http://schemas.microsoft.com/office/powerpoint/2010/main" val="972568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21755A-993D-1411-4B9C-54358DB5D37D}"/>
              </a:ext>
            </a:extLst>
          </p:cNvPr>
          <p:cNvSpPr>
            <a:spLocks noGrp="1"/>
          </p:cNvSpPr>
          <p:nvPr>
            <p:ph type="body" sz="quarter" idx="11"/>
          </p:nvPr>
        </p:nvSpPr>
        <p:spPr/>
        <p:txBody>
          <a:bodyPr/>
          <a:lstStyle/>
          <a:p>
            <a:r>
              <a:rPr lang="en-US" altLang="ja-JP" dirty="0"/>
              <a:t>2-7</a:t>
            </a:r>
            <a:r>
              <a:rPr lang="ja-JP" altLang="en-US" dirty="0"/>
              <a:t>　</a:t>
            </a:r>
            <a:r>
              <a:rPr lang="en-US" altLang="ja-JP" dirty="0"/>
              <a:t>grid</a:t>
            </a:r>
            <a:r>
              <a:rPr lang="ja-JP" altLang="en-US" dirty="0"/>
              <a:t>関数の</a:t>
            </a:r>
            <a:r>
              <a:rPr lang="ja-JP" altLang="en-US" dirty="0">
                <a:solidFill>
                  <a:srgbClr val="FF0000"/>
                </a:solidFill>
              </a:rPr>
              <a:t>上級</a:t>
            </a:r>
            <a:r>
              <a:rPr lang="ja-JP" altLang="en-US" dirty="0"/>
              <a:t>練習（解答</a:t>
            </a:r>
            <a:r>
              <a:rPr lang="en-US" altLang="ja-JP" dirty="0"/>
              <a:t>6</a:t>
            </a:r>
            <a:r>
              <a:rPr lang="ja-JP" altLang="en-US" dirty="0"/>
              <a:t>）</a:t>
            </a:r>
            <a:endParaRPr lang="en-US" altLang="ja-JP" dirty="0"/>
          </a:p>
        </p:txBody>
      </p:sp>
      <p:sp>
        <p:nvSpPr>
          <p:cNvPr id="4" name="Slide Number Placeholder 3">
            <a:extLst>
              <a:ext uri="{FF2B5EF4-FFF2-40B4-BE49-F238E27FC236}">
                <a16:creationId xmlns:a16="http://schemas.microsoft.com/office/drawing/2014/main" id="{28EA188A-84D8-6417-5C1C-D187BC8828C2}"/>
              </a:ext>
            </a:extLst>
          </p:cNvPr>
          <p:cNvSpPr>
            <a:spLocks noGrp="1"/>
          </p:cNvSpPr>
          <p:nvPr>
            <p:ph type="sldNum" sz="quarter" idx="15"/>
          </p:nvPr>
        </p:nvSpPr>
        <p:spPr/>
        <p:txBody>
          <a:bodyPr/>
          <a:lstStyle/>
          <a:p>
            <a:fld id="{CBD12358-51D2-46B3-9BDE-DF29528B9454}" type="slidenum">
              <a:rPr lang="en-US" smtClean="0"/>
              <a:pPr/>
              <a:t>20</a:t>
            </a:fld>
            <a:endParaRPr lang="en-US" dirty="0"/>
          </a:p>
        </p:txBody>
      </p:sp>
      <p:sp>
        <p:nvSpPr>
          <p:cNvPr id="6" name="TextBox 5">
            <a:extLst>
              <a:ext uri="{FF2B5EF4-FFF2-40B4-BE49-F238E27FC236}">
                <a16:creationId xmlns:a16="http://schemas.microsoft.com/office/drawing/2014/main" id="{25059D3C-D794-CAA6-6F04-A0C96DB2C5A9}"/>
              </a:ext>
            </a:extLst>
          </p:cNvPr>
          <p:cNvSpPr txBox="1"/>
          <p:nvPr/>
        </p:nvSpPr>
        <p:spPr>
          <a:xfrm>
            <a:off x="729510" y="2199168"/>
            <a:ext cx="4229766" cy="4197496"/>
          </a:xfrm>
          <a:prstGeom prst="rect">
            <a:avLst/>
          </a:prstGeom>
          <a:noFill/>
          <a:ln>
            <a:solidFill>
              <a:schemeClr val="tx1"/>
            </a:solidFill>
          </a:ln>
        </p:spPr>
        <p:txBody>
          <a:bodyPr wrap="square">
            <a:spAutoFit/>
          </a:bodyPr>
          <a:lstStyle/>
          <a:p>
            <a:pPr>
              <a:lnSpc>
                <a:spcPts val="1600"/>
              </a:lnSpc>
            </a:pPr>
            <a:r>
              <a:rPr lang="en-US" sz="1600" dirty="0">
                <a:highlight>
                  <a:srgbClr val="FFFF00"/>
                </a:highlight>
                <a:latin typeface="Consolas" panose="020B0609020204030204" pitchFamily="49" charset="0"/>
              </a:rPr>
              <a:t># 1. Setup window's columns and rows</a:t>
            </a:r>
          </a:p>
          <a:p>
            <a:pPr>
              <a:lnSpc>
                <a:spcPts val="1600"/>
              </a:lnSpc>
            </a:pPr>
            <a:r>
              <a:rPr lang="en-US" sz="1600" dirty="0" err="1">
                <a:latin typeface="Consolas" panose="020B0609020204030204" pitchFamily="49" charset="0"/>
              </a:rPr>
              <a:t>root.columnconfigure</a:t>
            </a:r>
            <a:r>
              <a:rPr lang="en-US" sz="1600" dirty="0">
                <a:latin typeface="Consolas" panose="020B0609020204030204" pitchFamily="49" charset="0"/>
              </a:rPr>
              <a:t>(0, weight=1)</a:t>
            </a:r>
          </a:p>
          <a:p>
            <a:pPr>
              <a:lnSpc>
                <a:spcPts val="1600"/>
              </a:lnSpc>
            </a:pPr>
            <a:r>
              <a:rPr lang="en-US" sz="1600" dirty="0" err="1">
                <a:latin typeface="Consolas" panose="020B0609020204030204" pitchFamily="49" charset="0"/>
              </a:rPr>
              <a:t>root.rowconfigure</a:t>
            </a:r>
            <a:r>
              <a:rPr lang="en-US" sz="1600" dirty="0">
                <a:latin typeface="Consolas" panose="020B0609020204030204" pitchFamily="49" charset="0"/>
              </a:rPr>
              <a:t>(0, weight=0)</a:t>
            </a:r>
          </a:p>
          <a:p>
            <a:pPr>
              <a:lnSpc>
                <a:spcPts val="1600"/>
              </a:lnSpc>
            </a:pPr>
            <a:r>
              <a:rPr lang="en-US" sz="1600" dirty="0" err="1">
                <a:latin typeface="Consolas" panose="020B0609020204030204" pitchFamily="49" charset="0"/>
              </a:rPr>
              <a:t>root.rowconfigure</a:t>
            </a:r>
            <a:r>
              <a:rPr lang="en-US" sz="1600" dirty="0">
                <a:latin typeface="Consolas" panose="020B0609020204030204" pitchFamily="49" charset="0"/>
              </a:rPr>
              <a:t>(1, weight=5)</a:t>
            </a:r>
          </a:p>
          <a:p>
            <a:pPr>
              <a:lnSpc>
                <a:spcPts val="1600"/>
              </a:lnSpc>
            </a:pPr>
            <a:endParaRPr lang="en-US" sz="1600" dirty="0">
              <a:latin typeface="Consolas" panose="020B0609020204030204" pitchFamily="49" charset="0"/>
            </a:endParaRPr>
          </a:p>
          <a:p>
            <a:pPr>
              <a:lnSpc>
                <a:spcPts val="1600"/>
              </a:lnSpc>
            </a:pPr>
            <a:r>
              <a:rPr lang="en-US" sz="1600" dirty="0">
                <a:highlight>
                  <a:srgbClr val="FFFF00"/>
                </a:highlight>
                <a:latin typeface="Consolas" panose="020B0609020204030204" pitchFamily="49" charset="0"/>
              </a:rPr>
              <a:t># 2. Top label</a:t>
            </a:r>
          </a:p>
          <a:p>
            <a:pPr>
              <a:lnSpc>
                <a:spcPts val="1600"/>
              </a:lnSpc>
            </a:pPr>
            <a:r>
              <a:rPr lang="en-US" sz="1600" dirty="0">
                <a:latin typeface="Consolas" panose="020B0609020204030204" pitchFamily="49" charset="0"/>
              </a:rPr>
              <a:t>text = </a:t>
            </a:r>
            <a:r>
              <a:rPr lang="en-US" sz="1600" dirty="0" err="1">
                <a:latin typeface="Consolas" panose="020B0609020204030204" pitchFamily="49" charset="0"/>
              </a:rPr>
              <a:t>tk.Label</a:t>
            </a:r>
            <a:r>
              <a:rPr lang="en-US" sz="1600" dirty="0">
                <a:latin typeface="Consolas" panose="020B0609020204030204" pitchFamily="49" charset="0"/>
              </a:rPr>
              <a:t>(root, text="</a:t>
            </a:r>
            <a:r>
              <a:rPr lang="en-US" sz="1600" dirty="0" err="1">
                <a:latin typeface="Consolas" panose="020B0609020204030204" pitchFamily="49" charset="0"/>
              </a:rPr>
              <a:t>abc</a:t>
            </a:r>
            <a:r>
              <a:rPr lang="en-US" sz="1600" dirty="0">
                <a:latin typeface="Consolas" panose="020B0609020204030204" pitchFamily="49" charset="0"/>
              </a:rPr>
              <a:t>")</a:t>
            </a:r>
          </a:p>
          <a:p>
            <a:pPr>
              <a:lnSpc>
                <a:spcPts val="1600"/>
              </a:lnSpc>
            </a:pPr>
            <a:r>
              <a:rPr lang="en-US" sz="1600" dirty="0" err="1">
                <a:latin typeface="Consolas" panose="020B0609020204030204" pitchFamily="49" charset="0"/>
              </a:rPr>
              <a:t>text.grid</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row=0, column=0,</a:t>
            </a:r>
          </a:p>
          <a:p>
            <a:pPr>
              <a:lnSpc>
                <a:spcPts val="1600"/>
              </a:lnSpc>
            </a:pPr>
            <a:r>
              <a:rPr lang="en-US" sz="1600" dirty="0">
                <a:latin typeface="Consolas" panose="020B0609020204030204" pitchFamily="49" charset="0"/>
              </a:rPr>
              <a:t>    </a:t>
            </a:r>
            <a:r>
              <a:rPr lang="en-US" sz="1600" dirty="0" err="1">
                <a:latin typeface="Consolas" panose="020B0609020204030204" pitchFamily="49" charset="0"/>
              </a:rPr>
              <a:t>columnspan</a:t>
            </a:r>
            <a:r>
              <a:rPr lang="en-US" sz="1600" dirty="0">
                <a:latin typeface="Consolas" panose="020B0609020204030204" pitchFamily="49" charset="0"/>
              </a:rPr>
              <a:t>=3,</a:t>
            </a:r>
          </a:p>
          <a:p>
            <a:pPr>
              <a:lnSpc>
                <a:spcPts val="1600"/>
              </a:lnSpc>
            </a:pPr>
            <a:r>
              <a:rPr lang="en-US" sz="1600" dirty="0">
                <a:latin typeface="Consolas" panose="020B0609020204030204" pitchFamily="49" charset="0"/>
              </a:rPr>
              <a:t>    </a:t>
            </a:r>
            <a:r>
              <a:rPr lang="en-US" sz="1600" dirty="0" err="1">
                <a:latin typeface="Consolas" panose="020B0609020204030204" pitchFamily="49" charset="0"/>
              </a:rPr>
              <a:t>pady</a:t>
            </a:r>
            <a:r>
              <a:rPr lang="en-US" sz="1600" dirty="0">
                <a:latin typeface="Consolas" panose="020B0609020204030204" pitchFamily="49" charset="0"/>
              </a:rPr>
              <a:t>=1</a:t>
            </a:r>
          </a:p>
          <a:p>
            <a:pPr>
              <a:lnSpc>
                <a:spcPts val="1600"/>
              </a:lnSpc>
            </a:pPr>
            <a:r>
              <a:rPr lang="en-US" sz="1600" dirty="0">
                <a:latin typeface="Consolas" panose="020B0609020204030204" pitchFamily="49" charset="0"/>
              </a:rPr>
              <a:t>)</a:t>
            </a:r>
          </a:p>
          <a:p>
            <a:pPr>
              <a:lnSpc>
                <a:spcPts val="1600"/>
              </a:lnSpc>
            </a:pPr>
            <a:endParaRPr lang="en-US" sz="1600" dirty="0">
              <a:highlight>
                <a:srgbClr val="FFFF00"/>
              </a:highlight>
              <a:latin typeface="Consolas" panose="020B0609020204030204" pitchFamily="49" charset="0"/>
            </a:endParaRPr>
          </a:p>
          <a:p>
            <a:pPr>
              <a:lnSpc>
                <a:spcPts val="1600"/>
              </a:lnSpc>
            </a:pPr>
            <a:r>
              <a:rPr lang="en-US" sz="1600" dirty="0">
                <a:highlight>
                  <a:srgbClr val="FFFF00"/>
                </a:highlight>
                <a:latin typeface="Consolas" panose="020B0609020204030204" pitchFamily="49" charset="0"/>
              </a:rPr>
              <a:t># 3. Bottom frame</a:t>
            </a:r>
          </a:p>
          <a:p>
            <a:pPr>
              <a:lnSpc>
                <a:spcPts val="1600"/>
              </a:lnSpc>
            </a:pPr>
            <a:r>
              <a:rPr lang="en-US" sz="1600" dirty="0" err="1">
                <a:latin typeface="Consolas" panose="020B0609020204030204" pitchFamily="49" charset="0"/>
              </a:rPr>
              <a:t>bottom_frame</a:t>
            </a:r>
            <a:r>
              <a:rPr lang="en-US" sz="1600" dirty="0">
                <a:latin typeface="Consolas" panose="020B0609020204030204" pitchFamily="49" charset="0"/>
              </a:rPr>
              <a:t> = </a:t>
            </a:r>
            <a:r>
              <a:rPr lang="en-US" sz="1600" dirty="0" err="1">
                <a:latin typeface="Consolas" panose="020B0609020204030204" pitchFamily="49" charset="0"/>
              </a:rPr>
              <a:t>tk.Frame</a:t>
            </a:r>
            <a:r>
              <a:rPr lang="en-US" sz="1600" dirty="0">
                <a:latin typeface="Consolas" panose="020B0609020204030204" pitchFamily="49" charset="0"/>
              </a:rPr>
              <a:t>(root)</a:t>
            </a:r>
          </a:p>
          <a:p>
            <a:pPr>
              <a:lnSpc>
                <a:spcPts val="1600"/>
              </a:lnSpc>
            </a:pPr>
            <a:r>
              <a:rPr lang="en-US" sz="1600" dirty="0" err="1">
                <a:latin typeface="Consolas" panose="020B0609020204030204" pitchFamily="49" charset="0"/>
              </a:rPr>
              <a:t>bottom_frame.grid</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row=1, column=0,</a:t>
            </a:r>
          </a:p>
          <a:p>
            <a:pPr>
              <a:lnSpc>
                <a:spcPts val="1600"/>
              </a:lnSpc>
            </a:pPr>
            <a:r>
              <a:rPr lang="en-US" sz="1600" dirty="0">
                <a:latin typeface="Consolas" panose="020B0609020204030204" pitchFamily="49" charset="0"/>
              </a:rPr>
              <a:t>    sticky="</a:t>
            </a:r>
            <a:r>
              <a:rPr lang="en-US" sz="1600" dirty="0" err="1">
                <a:latin typeface="Consolas" panose="020B0609020204030204" pitchFamily="49" charset="0"/>
              </a:rPr>
              <a:t>nsew</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a:t>
            </a:r>
            <a:r>
              <a:rPr lang="en-US" sz="1600" dirty="0" err="1">
                <a:latin typeface="Consolas" panose="020B0609020204030204" pitchFamily="49" charset="0"/>
              </a:rPr>
              <a:t>padx</a:t>
            </a:r>
            <a:r>
              <a:rPr lang="en-US" sz="1600" dirty="0">
                <a:latin typeface="Consolas" panose="020B0609020204030204" pitchFamily="49" charset="0"/>
              </a:rPr>
              <a:t>=1, </a:t>
            </a:r>
            <a:r>
              <a:rPr lang="en-US" sz="1600" dirty="0" err="1">
                <a:latin typeface="Consolas" panose="020B0609020204030204" pitchFamily="49" charset="0"/>
              </a:rPr>
              <a:t>pady</a:t>
            </a:r>
            <a:r>
              <a:rPr lang="en-US" sz="1600" dirty="0">
                <a:latin typeface="Consolas" panose="020B0609020204030204" pitchFamily="49" charset="0"/>
              </a:rPr>
              <a:t>=1</a:t>
            </a:r>
          </a:p>
          <a:p>
            <a:pPr>
              <a:lnSpc>
                <a:spcPts val="1600"/>
              </a:lnSpc>
            </a:pPr>
            <a:r>
              <a:rPr lang="en-US" sz="1600" dirty="0">
                <a:latin typeface="Consolas" panose="020B0609020204030204" pitchFamily="49" charset="0"/>
              </a:rPr>
              <a:t>)</a:t>
            </a:r>
          </a:p>
        </p:txBody>
      </p:sp>
      <p:sp>
        <p:nvSpPr>
          <p:cNvPr id="7" name="TextBox 6">
            <a:extLst>
              <a:ext uri="{FF2B5EF4-FFF2-40B4-BE49-F238E27FC236}">
                <a16:creationId xmlns:a16="http://schemas.microsoft.com/office/drawing/2014/main" id="{24674CA2-85D9-0F02-1FDE-E3CB832A20D0}"/>
              </a:ext>
            </a:extLst>
          </p:cNvPr>
          <p:cNvSpPr txBox="1"/>
          <p:nvPr/>
        </p:nvSpPr>
        <p:spPr>
          <a:xfrm>
            <a:off x="444432" y="1174047"/>
            <a:ext cx="4848331" cy="923330"/>
          </a:xfrm>
          <a:prstGeom prst="rect">
            <a:avLst/>
          </a:prstGeom>
          <a:noFill/>
        </p:spPr>
        <p:txBody>
          <a:bodyPr wrap="square" rtlCol="0">
            <a:spAutoFit/>
          </a:bodyPr>
          <a:lstStyle/>
          <a:p>
            <a:pPr marL="342900" indent="-342900" algn="just">
              <a:buAutoNum type="arabicPeriod"/>
            </a:pPr>
            <a:r>
              <a:rPr lang="en-US" altLang="ja-JP" dirty="0"/>
              <a:t>Window</a:t>
            </a:r>
            <a:r>
              <a:rPr lang="ja-JP" altLang="en-US" dirty="0"/>
              <a:t>の行列を設定する。</a:t>
            </a:r>
            <a:endParaRPr lang="en-US" altLang="ja-JP" dirty="0"/>
          </a:p>
          <a:p>
            <a:pPr marL="342900" indent="-342900" algn="just">
              <a:buAutoNum type="arabicPeriod"/>
            </a:pPr>
            <a:r>
              <a:rPr lang="en-US" altLang="ja-JP" dirty="0"/>
              <a:t>Label</a:t>
            </a:r>
            <a:r>
              <a:rPr lang="ja-JP" altLang="en-US" dirty="0"/>
              <a:t>は</a:t>
            </a:r>
            <a:r>
              <a:rPr lang="en-US" altLang="ja-JP" dirty="0"/>
              <a:t>grid</a:t>
            </a:r>
            <a:r>
              <a:rPr lang="ja-JP" altLang="en-US" dirty="0"/>
              <a:t>で</a:t>
            </a:r>
            <a:r>
              <a:rPr lang="en-US" altLang="ja-JP" dirty="0"/>
              <a:t>window</a:t>
            </a:r>
            <a:r>
              <a:rPr lang="ja-JP" altLang="en-US" dirty="0"/>
              <a:t>の上側にに配置する。</a:t>
            </a:r>
            <a:endParaRPr lang="en-US" altLang="ja-JP" dirty="0"/>
          </a:p>
          <a:p>
            <a:pPr marL="342900" indent="-342900" algn="just">
              <a:buAutoNum type="arabicPeriod"/>
            </a:pPr>
            <a:r>
              <a:rPr lang="en-US" altLang="ja-JP" dirty="0"/>
              <a:t>Frame</a:t>
            </a:r>
            <a:r>
              <a:rPr lang="ja-JP" altLang="en-US" dirty="0"/>
              <a:t>は</a:t>
            </a:r>
            <a:r>
              <a:rPr lang="en-US" altLang="ja-JP" dirty="0"/>
              <a:t>grid</a:t>
            </a:r>
            <a:r>
              <a:rPr lang="ja-JP" altLang="en-US" dirty="0"/>
              <a:t>で</a:t>
            </a:r>
            <a:r>
              <a:rPr lang="en-US" altLang="ja-JP" dirty="0"/>
              <a:t>window</a:t>
            </a:r>
            <a:r>
              <a:rPr lang="ja-JP" altLang="en-US" dirty="0"/>
              <a:t>の下側に配置する。</a:t>
            </a:r>
            <a:endParaRPr lang="en-US" dirty="0"/>
          </a:p>
        </p:txBody>
      </p:sp>
      <p:sp>
        <p:nvSpPr>
          <p:cNvPr id="10" name="TextBox 9">
            <a:extLst>
              <a:ext uri="{FF2B5EF4-FFF2-40B4-BE49-F238E27FC236}">
                <a16:creationId xmlns:a16="http://schemas.microsoft.com/office/drawing/2014/main" id="{C83DD83F-38F8-466B-E161-0D5C12CFD831}"/>
              </a:ext>
            </a:extLst>
          </p:cNvPr>
          <p:cNvSpPr txBox="1"/>
          <p:nvPr/>
        </p:nvSpPr>
        <p:spPr>
          <a:xfrm>
            <a:off x="5857321" y="1174047"/>
            <a:ext cx="5890247" cy="369332"/>
          </a:xfrm>
          <a:prstGeom prst="rect">
            <a:avLst/>
          </a:prstGeom>
          <a:noFill/>
        </p:spPr>
        <p:txBody>
          <a:bodyPr wrap="square" rtlCol="0">
            <a:spAutoFit/>
          </a:bodyPr>
          <a:lstStyle/>
          <a:p>
            <a:pPr marL="342900" indent="-342900" algn="just">
              <a:buFont typeface="+mj-lt"/>
              <a:buAutoNum type="arabicPeriod" startAt="4"/>
            </a:pPr>
            <a:r>
              <a:rPr lang="ja-JP" altLang="en-US" dirty="0"/>
              <a:t>各ラベルの親を</a:t>
            </a:r>
            <a:r>
              <a:rPr lang="en-US" altLang="ja-JP" dirty="0"/>
              <a:t>root</a:t>
            </a:r>
            <a:r>
              <a:rPr lang="ja-JP" altLang="en-US" dirty="0"/>
              <a:t>から</a:t>
            </a:r>
            <a:r>
              <a:rPr lang="en-US" altLang="ja-JP" dirty="0" err="1"/>
              <a:t>bottom_frame</a:t>
            </a:r>
            <a:r>
              <a:rPr lang="ja-JP" altLang="en-US" dirty="0"/>
              <a:t>に書き換える。</a:t>
            </a:r>
            <a:endParaRPr lang="en-US" altLang="ja-JP" dirty="0"/>
          </a:p>
        </p:txBody>
      </p:sp>
      <p:sp>
        <p:nvSpPr>
          <p:cNvPr id="12" name="TextBox 11">
            <a:extLst>
              <a:ext uri="{FF2B5EF4-FFF2-40B4-BE49-F238E27FC236}">
                <a16:creationId xmlns:a16="http://schemas.microsoft.com/office/drawing/2014/main" id="{E5A862D0-59C8-2800-0F3E-71E9AC71A31E}"/>
              </a:ext>
            </a:extLst>
          </p:cNvPr>
          <p:cNvSpPr txBox="1"/>
          <p:nvPr/>
        </p:nvSpPr>
        <p:spPr>
          <a:xfrm>
            <a:off x="6256467" y="1635348"/>
            <a:ext cx="5091953" cy="3787127"/>
          </a:xfrm>
          <a:prstGeom prst="rect">
            <a:avLst/>
          </a:prstGeom>
          <a:noFill/>
          <a:ln>
            <a:solidFill>
              <a:schemeClr val="tx1"/>
            </a:solidFill>
          </a:ln>
        </p:spPr>
        <p:txBody>
          <a:bodyPr wrap="square">
            <a:spAutoFit/>
          </a:bodyPr>
          <a:lstStyle/>
          <a:p>
            <a:pPr>
              <a:lnSpc>
                <a:spcPts val="1600"/>
              </a:lnSpc>
            </a:pPr>
            <a:r>
              <a:rPr lang="en-US" sz="1600" dirty="0">
                <a:highlight>
                  <a:srgbClr val="FFFF00"/>
                </a:highlight>
                <a:latin typeface="Consolas" panose="020B0609020204030204" pitchFamily="49" charset="0"/>
              </a:rPr>
              <a:t># 4. Generate labels with list comprehension</a:t>
            </a:r>
            <a:endParaRPr lang="ja-JP" altLang="en-US" sz="1600" dirty="0">
              <a:highlight>
                <a:srgbClr val="FFFF00"/>
              </a:highlight>
              <a:latin typeface="Consolas" panose="020B0609020204030204" pitchFamily="49" charset="0"/>
            </a:endParaRPr>
          </a:p>
          <a:p>
            <a:pPr>
              <a:lnSpc>
                <a:spcPts val="1600"/>
              </a:lnSpc>
            </a:pPr>
            <a:r>
              <a:rPr lang="en-US" sz="1600" dirty="0">
                <a:latin typeface="Consolas" panose="020B0609020204030204" pitchFamily="49" charset="0"/>
              </a:rPr>
              <a:t>labels = [</a:t>
            </a:r>
          </a:p>
          <a:p>
            <a:pPr>
              <a:lnSpc>
                <a:spcPts val="1600"/>
              </a:lnSpc>
            </a:pPr>
            <a:r>
              <a:rPr lang="en-US" sz="1600" dirty="0">
                <a:latin typeface="Consolas" panose="020B0609020204030204" pitchFamily="49" charset="0"/>
              </a:rPr>
              <a:t>    </a:t>
            </a:r>
            <a:r>
              <a:rPr lang="en-US" sz="1600" dirty="0" err="1">
                <a:latin typeface="Consolas" panose="020B0609020204030204" pitchFamily="49" charset="0"/>
              </a:rPr>
              <a:t>tk.Label</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a:t>
            </a:r>
            <a:r>
              <a:rPr lang="en-US" sz="1600" dirty="0" err="1">
                <a:highlight>
                  <a:srgbClr val="FFFF00"/>
                </a:highlight>
                <a:latin typeface="Consolas" panose="020B0609020204030204" pitchFamily="49" charset="0"/>
              </a:rPr>
              <a:t>bottom_frame</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text="</a:t>
            </a:r>
            <a:r>
              <a:rPr lang="en-US" sz="1600" dirty="0" err="1">
                <a:latin typeface="Consolas" panose="020B0609020204030204" pitchFamily="49" charset="0"/>
              </a:rPr>
              <a:t>NO_"+str</a:t>
            </a:r>
            <a:r>
              <a:rPr lang="en-US" sz="1600" dirty="0">
                <a:latin typeface="Consolas" panose="020B0609020204030204" pitchFamily="49" charset="0"/>
              </a:rPr>
              <a:t>(num),</a:t>
            </a:r>
          </a:p>
          <a:p>
            <a:pPr>
              <a:lnSpc>
                <a:spcPts val="1600"/>
              </a:lnSpc>
            </a:pPr>
            <a:r>
              <a:rPr lang="en-US" sz="1600" dirty="0">
                <a:latin typeface="Consolas" panose="020B0609020204030204" pitchFamily="49" charset="0"/>
              </a:rPr>
              <a:t>        relief=</a:t>
            </a:r>
            <a:r>
              <a:rPr lang="en-US" sz="1600" dirty="0" err="1">
                <a:latin typeface="Consolas" panose="020B0609020204030204" pitchFamily="49" charset="0"/>
              </a:rPr>
              <a:t>tk.SOLID</a:t>
            </a:r>
            <a:endParaRPr lang="en-US" sz="1600" dirty="0">
              <a:latin typeface="Consolas" panose="020B0609020204030204" pitchFamily="49" charset="0"/>
            </a:endParaRPr>
          </a:p>
          <a:p>
            <a:pPr>
              <a:lnSpc>
                <a:spcPts val="1600"/>
              </a:lnSpc>
            </a:pPr>
            <a:r>
              <a:rPr lang="en-US" sz="1600" dirty="0">
                <a:latin typeface="Consolas" panose="020B0609020204030204" pitchFamily="49" charset="0"/>
              </a:rPr>
              <a:t>    )</a:t>
            </a:r>
          </a:p>
          <a:p>
            <a:pPr>
              <a:lnSpc>
                <a:spcPts val="1600"/>
              </a:lnSpc>
            </a:pPr>
            <a:r>
              <a:rPr lang="en-US" sz="1600" dirty="0">
                <a:latin typeface="Consolas" panose="020B0609020204030204" pitchFamily="49" charset="0"/>
              </a:rPr>
              <a:t>    for num in range(WIDGET_MAX)</a:t>
            </a:r>
          </a:p>
          <a:p>
            <a:pPr>
              <a:lnSpc>
                <a:spcPts val="1600"/>
              </a:lnSpc>
            </a:pPr>
            <a:r>
              <a:rPr lang="en-US" sz="1600" dirty="0">
                <a:latin typeface="Consolas" panose="020B0609020204030204" pitchFamily="49" charset="0"/>
              </a:rPr>
              <a:t>]</a:t>
            </a:r>
          </a:p>
          <a:p>
            <a:pPr>
              <a:lnSpc>
                <a:spcPts val="1600"/>
              </a:lnSpc>
            </a:pPr>
            <a:endParaRPr lang="en-US" sz="1600" dirty="0">
              <a:latin typeface="Consolas" panose="020B0609020204030204" pitchFamily="49" charset="0"/>
            </a:endParaRPr>
          </a:p>
          <a:p>
            <a:pPr>
              <a:lnSpc>
                <a:spcPts val="1600"/>
              </a:lnSpc>
            </a:pPr>
            <a:r>
              <a:rPr lang="en-US" sz="1600" dirty="0">
                <a:latin typeface="Consolas" panose="020B0609020204030204" pitchFamily="49" charset="0"/>
              </a:rPr>
              <a:t># 4. Generate columns and rows (3x3)</a:t>
            </a:r>
          </a:p>
          <a:p>
            <a:pPr>
              <a:lnSpc>
                <a:spcPts val="1600"/>
              </a:lnSpc>
            </a:pPr>
            <a:r>
              <a:rPr lang="en-US" sz="1600" dirty="0">
                <a:latin typeface="Consolas" panose="020B0609020204030204" pitchFamily="49" charset="0"/>
              </a:rPr>
              <a:t>for </a:t>
            </a:r>
            <a:r>
              <a:rPr lang="en-US" sz="1600" dirty="0" err="1">
                <a:latin typeface="Consolas" panose="020B0609020204030204" pitchFamily="49" charset="0"/>
              </a:rPr>
              <a:t>i</a:t>
            </a:r>
            <a:r>
              <a:rPr lang="en-US" sz="1600" dirty="0">
                <a:latin typeface="Consolas" panose="020B0609020204030204" pitchFamily="49" charset="0"/>
              </a:rPr>
              <a:t> in range(3):</a:t>
            </a:r>
          </a:p>
          <a:p>
            <a:pPr>
              <a:lnSpc>
                <a:spcPts val="1600"/>
              </a:lnSpc>
            </a:pPr>
            <a:r>
              <a:rPr lang="en-US" sz="1600" dirty="0">
                <a:latin typeface="Consolas" panose="020B0609020204030204" pitchFamily="49" charset="0"/>
              </a:rPr>
              <a:t>    </a:t>
            </a:r>
            <a:r>
              <a:rPr lang="en-US" sz="1600" dirty="0" err="1">
                <a:highlight>
                  <a:srgbClr val="FFFF00"/>
                </a:highlight>
                <a:latin typeface="Consolas" panose="020B0609020204030204" pitchFamily="49" charset="0"/>
              </a:rPr>
              <a:t>bottom_frame.</a:t>
            </a:r>
            <a:r>
              <a:rPr lang="en-US" sz="1600" dirty="0" err="1">
                <a:latin typeface="Consolas" panose="020B0609020204030204" pitchFamily="49" charset="0"/>
              </a:rPr>
              <a:t>columnconfigure</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a:t>
            </a:r>
            <a:r>
              <a:rPr lang="en-US" sz="1600" dirty="0" err="1">
                <a:latin typeface="Consolas" panose="020B0609020204030204" pitchFamily="49" charset="0"/>
              </a:rPr>
              <a:t>i</a:t>
            </a:r>
            <a:r>
              <a:rPr lang="en-US" sz="1600" dirty="0">
                <a:latin typeface="Consolas" panose="020B0609020204030204" pitchFamily="49" charset="0"/>
              </a:rPr>
              <a:t>, weight=1, uniform="columns“</a:t>
            </a:r>
          </a:p>
          <a:p>
            <a:pPr>
              <a:lnSpc>
                <a:spcPts val="1600"/>
              </a:lnSpc>
            </a:pPr>
            <a:r>
              <a:rPr lang="en-US" sz="1600" dirty="0">
                <a:latin typeface="Consolas" panose="020B0609020204030204" pitchFamily="49" charset="0"/>
              </a:rPr>
              <a:t>    )</a:t>
            </a:r>
          </a:p>
          <a:p>
            <a:pPr>
              <a:lnSpc>
                <a:spcPts val="1600"/>
              </a:lnSpc>
            </a:pPr>
            <a:r>
              <a:rPr lang="en-US" sz="1600" dirty="0">
                <a:latin typeface="Consolas" panose="020B0609020204030204" pitchFamily="49" charset="0"/>
              </a:rPr>
              <a:t>    </a:t>
            </a:r>
            <a:r>
              <a:rPr lang="en-US" sz="1600" dirty="0" err="1">
                <a:highlight>
                  <a:srgbClr val="FFFF00"/>
                </a:highlight>
                <a:latin typeface="Consolas" panose="020B0609020204030204" pitchFamily="49" charset="0"/>
              </a:rPr>
              <a:t>bottom_frame.</a:t>
            </a:r>
            <a:r>
              <a:rPr lang="en-US" sz="1600" dirty="0" err="1">
                <a:latin typeface="Consolas" panose="020B0609020204030204" pitchFamily="49" charset="0"/>
              </a:rPr>
              <a:t>rowconfigure</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a:t>
            </a:r>
            <a:r>
              <a:rPr lang="en-US" sz="1600" dirty="0" err="1">
                <a:latin typeface="Consolas" panose="020B0609020204030204" pitchFamily="49" charset="0"/>
              </a:rPr>
              <a:t>i</a:t>
            </a:r>
            <a:r>
              <a:rPr lang="en-US" sz="1600" dirty="0">
                <a:latin typeface="Consolas" panose="020B0609020204030204" pitchFamily="49" charset="0"/>
              </a:rPr>
              <a:t>, weight=1, uniform="rows“</a:t>
            </a:r>
          </a:p>
          <a:p>
            <a:pPr>
              <a:lnSpc>
                <a:spcPts val="1600"/>
              </a:lnSpc>
            </a:pPr>
            <a:r>
              <a:rPr lang="en-US" sz="1600" dirty="0">
                <a:latin typeface="Consolas" panose="020B0609020204030204" pitchFamily="49" charset="0"/>
              </a:rPr>
              <a:t>    )</a:t>
            </a:r>
          </a:p>
        </p:txBody>
      </p:sp>
    </p:spTree>
    <p:extLst>
      <p:ext uri="{BB962C8B-B14F-4D97-AF65-F5344CB8AC3E}">
        <p14:creationId xmlns:p14="http://schemas.microsoft.com/office/powerpoint/2010/main" val="344581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9BBAB5-D556-88E4-D2EE-91E63291FCF6}"/>
              </a:ext>
            </a:extLst>
          </p:cNvPr>
          <p:cNvSpPr>
            <a:spLocks noGrp="1"/>
          </p:cNvSpPr>
          <p:nvPr>
            <p:ph type="body" sz="quarter" idx="11"/>
          </p:nvPr>
        </p:nvSpPr>
        <p:spPr/>
        <p:txBody>
          <a:bodyPr/>
          <a:lstStyle/>
          <a:p>
            <a:r>
              <a:rPr lang="en-US" dirty="0"/>
              <a:t>2-8</a:t>
            </a:r>
            <a:r>
              <a:rPr lang="ja-JP" altLang="en-US" dirty="0"/>
              <a:t>　</a:t>
            </a:r>
            <a:r>
              <a:rPr lang="en-US" altLang="ja-JP" dirty="0"/>
              <a:t>grid</a:t>
            </a:r>
            <a:r>
              <a:rPr lang="ja-JP" altLang="en-US" dirty="0"/>
              <a:t>関数の主なオプション</a:t>
            </a:r>
            <a:endParaRPr lang="en-US" dirty="0"/>
          </a:p>
        </p:txBody>
      </p:sp>
      <p:sp>
        <p:nvSpPr>
          <p:cNvPr id="4" name="Slide Number Placeholder 3">
            <a:extLst>
              <a:ext uri="{FF2B5EF4-FFF2-40B4-BE49-F238E27FC236}">
                <a16:creationId xmlns:a16="http://schemas.microsoft.com/office/drawing/2014/main" id="{1871C3D5-006C-7459-DA08-947902F2A18B}"/>
              </a:ext>
            </a:extLst>
          </p:cNvPr>
          <p:cNvSpPr>
            <a:spLocks noGrp="1"/>
          </p:cNvSpPr>
          <p:nvPr>
            <p:ph type="sldNum" sz="quarter" idx="15"/>
          </p:nvPr>
        </p:nvSpPr>
        <p:spPr/>
        <p:txBody>
          <a:bodyPr/>
          <a:lstStyle/>
          <a:p>
            <a:fld id="{CBD12358-51D2-46B3-9BDE-DF29528B9454}" type="slidenum">
              <a:rPr lang="en-US" smtClean="0"/>
              <a:pPr/>
              <a:t>21</a:t>
            </a:fld>
            <a:endParaRPr lang="en-US" dirty="0"/>
          </a:p>
        </p:txBody>
      </p:sp>
      <p:graphicFrame>
        <p:nvGraphicFramePr>
          <p:cNvPr id="5" name="Table 4">
            <a:extLst>
              <a:ext uri="{FF2B5EF4-FFF2-40B4-BE49-F238E27FC236}">
                <a16:creationId xmlns:a16="http://schemas.microsoft.com/office/drawing/2014/main" id="{962D0024-E8F7-29F4-799F-FE9A271A2626}"/>
              </a:ext>
            </a:extLst>
          </p:cNvPr>
          <p:cNvGraphicFramePr>
            <a:graphicFrameLocks noGrp="1"/>
          </p:cNvGraphicFramePr>
          <p:nvPr>
            <p:extLst>
              <p:ext uri="{D42A27DB-BD31-4B8C-83A1-F6EECF244321}">
                <p14:modId xmlns:p14="http://schemas.microsoft.com/office/powerpoint/2010/main" val="1664445040"/>
              </p:ext>
            </p:extLst>
          </p:nvPr>
        </p:nvGraphicFramePr>
        <p:xfrm>
          <a:off x="1857373" y="2370901"/>
          <a:ext cx="8477250" cy="3752850"/>
        </p:xfrm>
        <a:graphic>
          <a:graphicData uri="http://schemas.openxmlformats.org/drawingml/2006/table">
            <a:tbl>
              <a:tblPr>
                <a:tableStyleId>{72833802-FEF1-4C79-8D5D-14CF1EAF98D9}</a:tableStyleId>
              </a:tblPr>
              <a:tblGrid>
                <a:gridCol w="2254250">
                  <a:extLst>
                    <a:ext uri="{9D8B030D-6E8A-4147-A177-3AD203B41FA5}">
                      <a16:colId xmlns:a16="http://schemas.microsoft.com/office/drawing/2014/main" val="841720700"/>
                    </a:ext>
                  </a:extLst>
                </a:gridCol>
                <a:gridCol w="6223000">
                  <a:extLst>
                    <a:ext uri="{9D8B030D-6E8A-4147-A177-3AD203B41FA5}">
                      <a16:colId xmlns:a16="http://schemas.microsoft.com/office/drawing/2014/main" val="3318058771"/>
                    </a:ext>
                  </a:extLst>
                </a:gridCol>
              </a:tblGrid>
              <a:tr h="190500">
                <a:tc>
                  <a:txBody>
                    <a:bodyPr/>
                    <a:lstStyle/>
                    <a:p>
                      <a:pPr algn="ctr" fontAlgn="ctr">
                        <a:buNone/>
                      </a:pPr>
                      <a:r>
                        <a:rPr lang="ja-JP" altLang="en-US" sz="2400" b="1" i="0" u="none" strike="noStrike" dirty="0">
                          <a:solidFill>
                            <a:schemeClr val="bg1"/>
                          </a:solidFill>
                          <a:effectLst/>
                          <a:latin typeface="Aptos Narrow" panose="020B0004020202020204" pitchFamily="34" charset="0"/>
                        </a:rPr>
                        <a:t>オプション</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buNone/>
                      </a:pPr>
                      <a:r>
                        <a:rPr lang="en-US" altLang="ja-JP" sz="2400" b="1" i="0" u="none" strike="noStrike">
                          <a:solidFill>
                            <a:schemeClr val="bg1"/>
                          </a:solidFill>
                          <a:effectLst/>
                          <a:latin typeface="Aptos Narrow" panose="020B0004020202020204" pitchFamily="34" charset="0"/>
                        </a:rPr>
                        <a:t>grid(…)</a:t>
                      </a:r>
                      <a:r>
                        <a:rPr lang="ja-JP" altLang="en-US" sz="2400" b="1" i="0" u="none" strike="noStrike" dirty="0">
                          <a:solidFill>
                            <a:schemeClr val="bg1"/>
                          </a:solidFill>
                          <a:effectLst/>
                          <a:latin typeface="Aptos Narrow" panose="020B0004020202020204" pitchFamily="34" charset="0"/>
                        </a:rPr>
                        <a:t>説明</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58292209"/>
                  </a:ext>
                </a:extLst>
              </a:tr>
              <a:tr h="190500">
                <a:tc>
                  <a:txBody>
                    <a:bodyPr/>
                    <a:lstStyle/>
                    <a:p>
                      <a:pPr algn="l" fontAlgn="ctr">
                        <a:buNone/>
                      </a:pPr>
                      <a:r>
                        <a:rPr lang="en-US" sz="2400" b="0" i="0" u="none" strike="noStrike" dirty="0">
                          <a:solidFill>
                            <a:srgbClr val="000000"/>
                          </a:solidFill>
                          <a:effectLst/>
                          <a:latin typeface="+mn-lt"/>
                        </a:rPr>
                        <a:t>column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Aptos Narrow" panose="020B0004020202020204" pitchFamily="34" charset="0"/>
                        </a:rPr>
                        <a:t>ウィジェットを置く列番号（0から開始）</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7941301"/>
                  </a:ext>
                </a:extLst>
              </a:tr>
              <a:tr h="190500">
                <a:tc>
                  <a:txBody>
                    <a:bodyPr/>
                    <a:lstStyle/>
                    <a:p>
                      <a:pPr algn="l" fontAlgn="ctr">
                        <a:buNone/>
                      </a:pPr>
                      <a:r>
                        <a:rPr lang="en-US" sz="2400" b="0" i="0" u="none" strike="noStrike" dirty="0">
                          <a:solidFill>
                            <a:srgbClr val="000000"/>
                          </a:solidFill>
                          <a:effectLst/>
                          <a:latin typeface="+mn-lt"/>
                        </a:rPr>
                        <a:t>row</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Aptos Narrow" panose="020B0004020202020204" pitchFamily="34" charset="0"/>
                        </a:rPr>
                        <a:t>ウィジェットを置く行番号（0から開始）</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1307607"/>
                  </a:ext>
                </a:extLst>
              </a:tr>
              <a:tr h="190500">
                <a:tc>
                  <a:txBody>
                    <a:bodyPr/>
                    <a:lstStyle/>
                    <a:p>
                      <a:pPr algn="l" fontAlgn="ctr">
                        <a:buNone/>
                      </a:pPr>
                      <a:r>
                        <a:rPr lang="en-US" sz="2400" u="none" strike="noStrike" dirty="0" err="1">
                          <a:effectLst/>
                          <a:latin typeface="+mn-lt"/>
                        </a:rPr>
                        <a:t>columnspan</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横方向にまたがるグリッドの数</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6926317"/>
                  </a:ext>
                </a:extLst>
              </a:tr>
              <a:tr h="190500">
                <a:tc>
                  <a:txBody>
                    <a:bodyPr/>
                    <a:lstStyle/>
                    <a:p>
                      <a:pPr algn="l" fontAlgn="ctr">
                        <a:buNone/>
                      </a:pPr>
                      <a:r>
                        <a:rPr lang="en-US" sz="2400" u="none" strike="noStrike" dirty="0" err="1">
                          <a:effectLst/>
                          <a:latin typeface="+mn-lt"/>
                        </a:rPr>
                        <a:t>rowspan</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縦方向にまたがるグリッドの数</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020871"/>
                  </a:ext>
                </a:extLst>
              </a:tr>
              <a:tr h="190500">
                <a:tc>
                  <a:txBody>
                    <a:bodyPr/>
                    <a:lstStyle/>
                    <a:p>
                      <a:pPr algn="l" fontAlgn="ctr">
                        <a:buNone/>
                      </a:pPr>
                      <a:r>
                        <a:rPr lang="en-US" sz="2400" u="none" strike="noStrike" dirty="0" err="1">
                          <a:effectLst/>
                          <a:latin typeface="+mn-lt"/>
                        </a:rPr>
                        <a:t>ipadx</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ウィジェット内部の横幅を広げる</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1240329"/>
                  </a:ext>
                </a:extLst>
              </a:tr>
              <a:tr h="190500">
                <a:tc>
                  <a:txBody>
                    <a:bodyPr/>
                    <a:lstStyle/>
                    <a:p>
                      <a:pPr algn="l" fontAlgn="ctr">
                        <a:buNone/>
                      </a:pPr>
                      <a:r>
                        <a:rPr lang="en-US" sz="2400" u="none" strike="noStrike" dirty="0" err="1">
                          <a:effectLst/>
                          <a:latin typeface="+mn-lt"/>
                        </a:rPr>
                        <a:t>ipady</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ウィジェット内部の縦幅を広げる</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836194"/>
                  </a:ext>
                </a:extLst>
              </a:tr>
              <a:tr h="190500">
                <a:tc>
                  <a:txBody>
                    <a:bodyPr/>
                    <a:lstStyle/>
                    <a:p>
                      <a:pPr algn="l" fontAlgn="ctr">
                        <a:buNone/>
                      </a:pPr>
                      <a:r>
                        <a:rPr lang="en-US" sz="2400" u="none" strike="noStrike" dirty="0" err="1">
                          <a:effectLst/>
                          <a:latin typeface="+mn-lt"/>
                        </a:rPr>
                        <a:t>padx</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ウィジェット外側の横方向の余白</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737846"/>
                  </a:ext>
                </a:extLst>
              </a:tr>
              <a:tr h="190500">
                <a:tc>
                  <a:txBody>
                    <a:bodyPr/>
                    <a:lstStyle/>
                    <a:p>
                      <a:pPr algn="l" fontAlgn="ctr">
                        <a:buNone/>
                      </a:pPr>
                      <a:r>
                        <a:rPr lang="en-US" sz="2400" u="none" strike="noStrike" dirty="0" err="1">
                          <a:effectLst/>
                          <a:latin typeface="+mn-lt"/>
                        </a:rPr>
                        <a:t>pady</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ウィジェット外側の縦方向の余白</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7815128"/>
                  </a:ext>
                </a:extLst>
              </a:tr>
              <a:tr h="190500">
                <a:tc>
                  <a:txBody>
                    <a:bodyPr/>
                    <a:lstStyle/>
                    <a:p>
                      <a:pPr algn="l" fontAlgn="ctr">
                        <a:buNone/>
                      </a:pPr>
                      <a:r>
                        <a:rPr lang="en-US" sz="2400" u="none" strike="noStrike" dirty="0">
                          <a:effectLst/>
                          <a:latin typeface="+mn-lt"/>
                        </a:rPr>
                        <a:t>sticky</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セル内でのウィジェットの配置方向</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5506992"/>
                  </a:ext>
                </a:extLst>
              </a:tr>
            </a:tbl>
          </a:graphicData>
        </a:graphic>
      </p:graphicFrame>
      <p:sp>
        <p:nvSpPr>
          <p:cNvPr id="6" name="TextBox 5">
            <a:extLst>
              <a:ext uri="{FF2B5EF4-FFF2-40B4-BE49-F238E27FC236}">
                <a16:creationId xmlns:a16="http://schemas.microsoft.com/office/drawing/2014/main" id="{77E1568C-02D2-8C0B-6A73-0C45209C3537}"/>
              </a:ext>
            </a:extLst>
          </p:cNvPr>
          <p:cNvSpPr txBox="1"/>
          <p:nvPr/>
        </p:nvSpPr>
        <p:spPr>
          <a:xfrm>
            <a:off x="9630648" y="6123751"/>
            <a:ext cx="703975" cy="369332"/>
          </a:xfrm>
          <a:prstGeom prst="rect">
            <a:avLst/>
          </a:prstGeom>
          <a:noFill/>
        </p:spPr>
        <p:txBody>
          <a:bodyPr wrap="none" rtlCol="0">
            <a:spAutoFit/>
          </a:bodyPr>
          <a:lstStyle/>
          <a:p>
            <a:r>
              <a:rPr lang="en-US" dirty="0"/>
              <a:t>p. 39</a:t>
            </a:r>
          </a:p>
        </p:txBody>
      </p:sp>
      <p:sp>
        <p:nvSpPr>
          <p:cNvPr id="9" name="Text Placeholder 2">
            <a:extLst>
              <a:ext uri="{FF2B5EF4-FFF2-40B4-BE49-F238E27FC236}">
                <a16:creationId xmlns:a16="http://schemas.microsoft.com/office/drawing/2014/main" id="{0C48F8AD-6BD5-12E2-4C0B-297FAA445B7D}"/>
              </a:ext>
            </a:extLst>
          </p:cNvPr>
          <p:cNvSpPr txBox="1">
            <a:spLocks/>
          </p:cNvSpPr>
          <p:nvPr/>
        </p:nvSpPr>
        <p:spPr>
          <a:xfrm>
            <a:off x="114445" y="1133475"/>
            <a:ext cx="11963108" cy="122340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Font typeface="Arial" panose="020B0604020202020204" pitchFamily="34" charset="0"/>
              <a:buNone/>
            </a:pPr>
            <a:r>
              <a:rPr lang="en-US" altLang="ja-JP" dirty="0"/>
              <a:t>grid</a:t>
            </a:r>
            <a:r>
              <a:rPr lang="ja-JP" altLang="en-US" dirty="0"/>
              <a:t>関数では、</a:t>
            </a:r>
            <a:r>
              <a:rPr lang="en-US" altLang="ja-JP" dirty="0" err="1"/>
              <a:t>padx</a:t>
            </a:r>
            <a:r>
              <a:rPr lang="ja-JP" altLang="en-US" dirty="0"/>
              <a:t>や</a:t>
            </a:r>
            <a:r>
              <a:rPr lang="en-US" altLang="ja-JP" dirty="0" err="1"/>
              <a:t>pady</a:t>
            </a:r>
            <a:r>
              <a:rPr lang="ja-JP" altLang="en-US" dirty="0"/>
              <a:t>だけでなく、複数のオプションを使ってグリッドを調整できる。</a:t>
            </a:r>
            <a:r>
              <a:rPr lang="en-US" altLang="ja-JP" dirty="0" err="1"/>
              <a:t>columnconfigure</a:t>
            </a:r>
            <a:r>
              <a:rPr lang="ja-JP" altLang="en-US" dirty="0"/>
              <a:t>と</a:t>
            </a:r>
            <a:r>
              <a:rPr lang="en-US" altLang="ja-JP" dirty="0" err="1"/>
              <a:t>rowconfigure</a:t>
            </a:r>
            <a:r>
              <a:rPr lang="ja-JP" altLang="en-US" dirty="0"/>
              <a:t>関数は</a:t>
            </a:r>
            <a:r>
              <a:rPr lang="en-US" altLang="ja-JP" dirty="0"/>
              <a:t>Window</a:t>
            </a:r>
            <a:r>
              <a:rPr lang="ja-JP" altLang="en-US" dirty="0"/>
              <a:t>または</a:t>
            </a:r>
            <a:r>
              <a:rPr lang="en-US" altLang="ja-JP" dirty="0"/>
              <a:t>Frame</a:t>
            </a:r>
            <a:r>
              <a:rPr lang="ja-JP" altLang="en-US" dirty="0"/>
              <a:t>に対して使用する関数であるため、以下の表には含めていない。</a:t>
            </a:r>
            <a:endParaRPr lang="en-US" dirty="0"/>
          </a:p>
        </p:txBody>
      </p:sp>
    </p:spTree>
    <p:extLst>
      <p:ext uri="{BB962C8B-B14F-4D97-AF65-F5344CB8AC3E}">
        <p14:creationId xmlns:p14="http://schemas.microsoft.com/office/powerpoint/2010/main" val="1290724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7EEEBE-3FCC-3BDE-896D-CE753D62B706}"/>
              </a:ext>
            </a:extLst>
          </p:cNvPr>
          <p:cNvSpPr>
            <a:spLocks noGrp="1"/>
          </p:cNvSpPr>
          <p:nvPr>
            <p:ph type="body" sz="quarter" idx="11"/>
          </p:nvPr>
        </p:nvSpPr>
        <p:spPr/>
        <p:txBody>
          <a:bodyPr/>
          <a:lstStyle/>
          <a:p>
            <a:r>
              <a:rPr lang="en-US" altLang="ja-JP" dirty="0"/>
              <a:t>2-9</a:t>
            </a:r>
            <a:r>
              <a:rPr lang="ja-JP" altLang="en-US" dirty="0"/>
              <a:t>　</a:t>
            </a:r>
            <a:r>
              <a:rPr lang="en-US" altLang="ja-JP" dirty="0"/>
              <a:t>grid</a:t>
            </a:r>
            <a:r>
              <a:rPr lang="ja-JP" altLang="en-US" dirty="0"/>
              <a:t>関数の課題</a:t>
            </a:r>
            <a:endParaRPr lang="en-US" altLang="ja-JP" dirty="0"/>
          </a:p>
        </p:txBody>
      </p:sp>
      <p:sp>
        <p:nvSpPr>
          <p:cNvPr id="3" name="Text Placeholder 2">
            <a:extLst>
              <a:ext uri="{FF2B5EF4-FFF2-40B4-BE49-F238E27FC236}">
                <a16:creationId xmlns:a16="http://schemas.microsoft.com/office/drawing/2014/main" id="{DA766E65-4790-C964-ECB2-999F0AAAE1E2}"/>
              </a:ext>
            </a:extLst>
          </p:cNvPr>
          <p:cNvSpPr>
            <a:spLocks noGrp="1"/>
          </p:cNvSpPr>
          <p:nvPr>
            <p:ph type="body" sz="quarter" idx="13"/>
          </p:nvPr>
        </p:nvSpPr>
        <p:spPr>
          <a:xfrm>
            <a:off x="114444" y="1133475"/>
            <a:ext cx="11963109" cy="455100"/>
          </a:xfrm>
        </p:spPr>
        <p:txBody>
          <a:bodyPr>
            <a:normAutofit/>
          </a:bodyPr>
          <a:lstStyle/>
          <a:p>
            <a:pPr marL="0" indent="0">
              <a:buNone/>
            </a:pPr>
            <a:r>
              <a:rPr lang="ja-JP" altLang="en-US" dirty="0"/>
              <a:t>練習</a:t>
            </a:r>
            <a:r>
              <a:rPr lang="en-US" altLang="ja-JP" dirty="0"/>
              <a:t>7</a:t>
            </a:r>
            <a:r>
              <a:rPr lang="ja-JP" altLang="en-US"/>
              <a:t>：以下</a:t>
            </a:r>
            <a:r>
              <a:rPr lang="ja-JP" altLang="en-US" dirty="0"/>
              <a:t>の階層構成を参考にして、入れ子構造な</a:t>
            </a:r>
            <a:r>
              <a:rPr lang="en-US" altLang="ja-JP" dirty="0"/>
              <a:t>GUI</a:t>
            </a:r>
            <a:r>
              <a:rPr lang="ja-JP" altLang="en-US" dirty="0"/>
              <a:t>を作成せよ。</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D3B4EC9-79E6-ABB2-4571-20DC50C3FED7}"/>
              </a:ext>
            </a:extLst>
          </p:cNvPr>
          <p:cNvSpPr>
            <a:spLocks noGrp="1"/>
          </p:cNvSpPr>
          <p:nvPr>
            <p:ph type="sldNum" sz="quarter" idx="15"/>
          </p:nvPr>
        </p:nvSpPr>
        <p:spPr/>
        <p:txBody>
          <a:bodyPr/>
          <a:lstStyle/>
          <a:p>
            <a:fld id="{CBD12358-51D2-46B3-9BDE-DF29528B9454}" type="slidenum">
              <a:rPr lang="en-US" smtClean="0"/>
              <a:pPr/>
              <a:t>22</a:t>
            </a:fld>
            <a:endParaRPr lang="en-US" dirty="0"/>
          </a:p>
        </p:txBody>
      </p:sp>
      <p:sp>
        <p:nvSpPr>
          <p:cNvPr id="8" name="Rectangle 7">
            <a:extLst>
              <a:ext uri="{FF2B5EF4-FFF2-40B4-BE49-F238E27FC236}">
                <a16:creationId xmlns:a16="http://schemas.microsoft.com/office/drawing/2014/main" id="{3C44E23E-AA7A-85A3-C478-7926A27D49A0}"/>
              </a:ext>
            </a:extLst>
          </p:cNvPr>
          <p:cNvSpPr/>
          <p:nvPr/>
        </p:nvSpPr>
        <p:spPr>
          <a:xfrm>
            <a:off x="528608" y="1872267"/>
            <a:ext cx="2054712" cy="369332"/>
          </a:xfrm>
          <a:prstGeom prst="rect">
            <a:avLst/>
          </a:prstGeom>
          <a:solidFill>
            <a:srgbClr val="D67D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Top level window</a:t>
            </a:r>
            <a:endParaRPr lang="en-US" dirty="0"/>
          </a:p>
        </p:txBody>
      </p:sp>
      <p:sp>
        <p:nvSpPr>
          <p:cNvPr id="9" name="Rectangle 8">
            <a:extLst>
              <a:ext uri="{FF2B5EF4-FFF2-40B4-BE49-F238E27FC236}">
                <a16:creationId xmlns:a16="http://schemas.microsoft.com/office/drawing/2014/main" id="{AE5A07D6-99EA-E199-DD3B-363C3A803CD3}"/>
              </a:ext>
            </a:extLst>
          </p:cNvPr>
          <p:cNvSpPr/>
          <p:nvPr/>
        </p:nvSpPr>
        <p:spPr>
          <a:xfrm>
            <a:off x="991525" y="2833224"/>
            <a:ext cx="901850" cy="369332"/>
          </a:xfrm>
          <a:prstGeom prst="rect">
            <a:avLst/>
          </a:prstGeom>
          <a:solidFill>
            <a:srgbClr val="D67D6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Frame</a:t>
            </a:r>
          </a:p>
        </p:txBody>
      </p:sp>
      <p:sp>
        <p:nvSpPr>
          <p:cNvPr id="10" name="Rectangle 9">
            <a:extLst>
              <a:ext uri="{FF2B5EF4-FFF2-40B4-BE49-F238E27FC236}">
                <a16:creationId xmlns:a16="http://schemas.microsoft.com/office/drawing/2014/main" id="{DDB85F47-254D-498E-9BE2-A5B9B4502704}"/>
              </a:ext>
            </a:extLst>
          </p:cNvPr>
          <p:cNvSpPr/>
          <p:nvPr/>
        </p:nvSpPr>
        <p:spPr>
          <a:xfrm>
            <a:off x="991525" y="3349423"/>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sp>
        <p:nvSpPr>
          <p:cNvPr id="11" name="Rectangle 10">
            <a:extLst>
              <a:ext uri="{FF2B5EF4-FFF2-40B4-BE49-F238E27FC236}">
                <a16:creationId xmlns:a16="http://schemas.microsoft.com/office/drawing/2014/main" id="{226CE1F0-C439-D5B1-3E36-D039F5F70937}"/>
              </a:ext>
            </a:extLst>
          </p:cNvPr>
          <p:cNvSpPr/>
          <p:nvPr/>
        </p:nvSpPr>
        <p:spPr>
          <a:xfrm>
            <a:off x="1945146" y="4903854"/>
            <a:ext cx="98266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Button</a:t>
            </a:r>
            <a:endParaRPr lang="en-US" dirty="0"/>
          </a:p>
        </p:txBody>
      </p:sp>
      <p:sp>
        <p:nvSpPr>
          <p:cNvPr id="12" name="Rectangle 11">
            <a:extLst>
              <a:ext uri="{FF2B5EF4-FFF2-40B4-BE49-F238E27FC236}">
                <a16:creationId xmlns:a16="http://schemas.microsoft.com/office/drawing/2014/main" id="{BA55B711-D7C8-26D5-FF72-41933B5989B6}"/>
              </a:ext>
            </a:extLst>
          </p:cNvPr>
          <p:cNvSpPr/>
          <p:nvPr/>
        </p:nvSpPr>
        <p:spPr>
          <a:xfrm>
            <a:off x="1945146" y="5420053"/>
            <a:ext cx="98266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Button</a:t>
            </a:r>
            <a:endParaRPr lang="en-US" dirty="0"/>
          </a:p>
        </p:txBody>
      </p:sp>
      <p:cxnSp>
        <p:nvCxnSpPr>
          <p:cNvPr id="14" name="Connector: Elbow 13">
            <a:extLst>
              <a:ext uri="{FF2B5EF4-FFF2-40B4-BE49-F238E27FC236}">
                <a16:creationId xmlns:a16="http://schemas.microsoft.com/office/drawing/2014/main" id="{5E37B65E-AEC1-C5A6-63BB-C646BE119A40}"/>
              </a:ext>
            </a:extLst>
          </p:cNvPr>
          <p:cNvCxnSpPr>
            <a:cxnSpLocks/>
            <a:endCxn id="9" idx="1"/>
          </p:cNvCxnSpPr>
          <p:nvPr/>
        </p:nvCxnSpPr>
        <p:spPr>
          <a:xfrm rot="16200000" flipH="1">
            <a:off x="461737" y="2488101"/>
            <a:ext cx="776291"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5" name="Connector: Elbow 14">
            <a:extLst>
              <a:ext uri="{FF2B5EF4-FFF2-40B4-BE49-F238E27FC236}">
                <a16:creationId xmlns:a16="http://schemas.microsoft.com/office/drawing/2014/main" id="{6DC89BC1-0B46-3F87-3EA6-765EA16BF65C}"/>
              </a:ext>
            </a:extLst>
          </p:cNvPr>
          <p:cNvCxnSpPr>
            <a:cxnSpLocks/>
            <a:endCxn id="10" idx="1"/>
          </p:cNvCxnSpPr>
          <p:nvPr/>
        </p:nvCxnSpPr>
        <p:spPr>
          <a:xfrm rot="16200000" flipH="1">
            <a:off x="203637" y="2746201"/>
            <a:ext cx="1292490"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7" name="Connector: Elbow 16">
            <a:extLst>
              <a:ext uri="{FF2B5EF4-FFF2-40B4-BE49-F238E27FC236}">
                <a16:creationId xmlns:a16="http://schemas.microsoft.com/office/drawing/2014/main" id="{8E6FD24A-608F-9078-9CB2-28538B9D663B}"/>
              </a:ext>
            </a:extLst>
          </p:cNvPr>
          <p:cNvCxnSpPr>
            <a:cxnSpLocks/>
            <a:endCxn id="12" idx="1"/>
          </p:cNvCxnSpPr>
          <p:nvPr/>
        </p:nvCxnSpPr>
        <p:spPr>
          <a:xfrm rot="16200000" flipH="1">
            <a:off x="1374702" y="5034275"/>
            <a:ext cx="847740" cy="293148"/>
          </a:xfrm>
          <a:prstGeom prst="bentConnector2">
            <a:avLst/>
          </a:prstGeom>
        </p:spPr>
        <p:style>
          <a:lnRef idx="2">
            <a:schemeClr val="dk1"/>
          </a:lnRef>
          <a:fillRef idx="0">
            <a:schemeClr val="dk1"/>
          </a:fillRef>
          <a:effectRef idx="1">
            <a:schemeClr val="dk1"/>
          </a:effectRef>
          <a:fontRef idx="minor">
            <a:schemeClr val="tx1"/>
          </a:fontRef>
        </p:style>
      </p:cxnSp>
      <p:cxnSp>
        <p:nvCxnSpPr>
          <p:cNvPr id="18" name="Connector: Elbow 17">
            <a:extLst>
              <a:ext uri="{FF2B5EF4-FFF2-40B4-BE49-F238E27FC236}">
                <a16:creationId xmlns:a16="http://schemas.microsoft.com/office/drawing/2014/main" id="{460291F3-79A2-32E0-7125-6C4F51394E5E}"/>
              </a:ext>
            </a:extLst>
          </p:cNvPr>
          <p:cNvCxnSpPr>
            <a:cxnSpLocks/>
            <a:endCxn id="11" idx="1"/>
          </p:cNvCxnSpPr>
          <p:nvPr/>
        </p:nvCxnSpPr>
        <p:spPr>
          <a:xfrm rot="16200000" flipH="1">
            <a:off x="1632802" y="4776176"/>
            <a:ext cx="331540" cy="293148"/>
          </a:xfrm>
          <a:prstGeom prst="bentConnector2">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E1CFBE9B-A975-3925-1E5A-33E10C0D88AA}"/>
              </a:ext>
            </a:extLst>
          </p:cNvPr>
          <p:cNvSpPr txBox="1"/>
          <p:nvPr/>
        </p:nvSpPr>
        <p:spPr>
          <a:xfrm>
            <a:off x="1906994" y="2833224"/>
            <a:ext cx="2297424" cy="369332"/>
          </a:xfrm>
          <a:prstGeom prst="rect">
            <a:avLst/>
          </a:prstGeom>
          <a:noFill/>
        </p:spPr>
        <p:txBody>
          <a:bodyPr wrap="none" rtlCol="0">
            <a:spAutoFit/>
          </a:bodyPr>
          <a:lstStyle/>
          <a:p>
            <a:r>
              <a:rPr lang="ja-JP" altLang="en-US" dirty="0"/>
              <a:t>左（行：</a:t>
            </a:r>
            <a:r>
              <a:rPr lang="en-US" altLang="ja-JP" dirty="0"/>
              <a:t>0</a:t>
            </a:r>
            <a:r>
              <a:rPr lang="ja-JP" altLang="en-US" dirty="0"/>
              <a:t>、列：</a:t>
            </a:r>
            <a:r>
              <a:rPr lang="en-US" altLang="ja-JP" dirty="0"/>
              <a:t>0</a:t>
            </a:r>
            <a:r>
              <a:rPr lang="ja-JP" altLang="en-US" dirty="0"/>
              <a:t>）</a:t>
            </a:r>
            <a:endParaRPr lang="en-US" dirty="0"/>
          </a:p>
        </p:txBody>
      </p:sp>
      <p:sp>
        <p:nvSpPr>
          <p:cNvPr id="21" name="TextBox 20">
            <a:extLst>
              <a:ext uri="{FF2B5EF4-FFF2-40B4-BE49-F238E27FC236}">
                <a16:creationId xmlns:a16="http://schemas.microsoft.com/office/drawing/2014/main" id="{FF4C0526-4B33-3724-7371-9C33E01CDF64}"/>
              </a:ext>
            </a:extLst>
          </p:cNvPr>
          <p:cNvSpPr txBox="1"/>
          <p:nvPr/>
        </p:nvSpPr>
        <p:spPr>
          <a:xfrm>
            <a:off x="1898799" y="3349423"/>
            <a:ext cx="2297424" cy="369332"/>
          </a:xfrm>
          <a:prstGeom prst="rect">
            <a:avLst/>
          </a:prstGeom>
          <a:noFill/>
        </p:spPr>
        <p:txBody>
          <a:bodyPr wrap="none" rtlCol="0">
            <a:spAutoFit/>
          </a:bodyPr>
          <a:lstStyle/>
          <a:p>
            <a:r>
              <a:rPr lang="ja-JP" altLang="en-US" dirty="0"/>
              <a:t>右（行：</a:t>
            </a:r>
            <a:r>
              <a:rPr lang="en-US" altLang="ja-JP" dirty="0"/>
              <a:t>0</a:t>
            </a:r>
            <a:r>
              <a:rPr lang="ja-JP" altLang="en-US" dirty="0"/>
              <a:t>、列：</a:t>
            </a:r>
            <a:r>
              <a:rPr lang="en-US" altLang="ja-JP" dirty="0"/>
              <a:t>1</a:t>
            </a:r>
            <a:r>
              <a:rPr lang="ja-JP" altLang="en-US" dirty="0"/>
              <a:t>）</a:t>
            </a:r>
            <a:endParaRPr lang="en-US" dirty="0"/>
          </a:p>
        </p:txBody>
      </p:sp>
      <p:pic>
        <p:nvPicPr>
          <p:cNvPr id="25" name="Picture 24">
            <a:extLst>
              <a:ext uri="{FF2B5EF4-FFF2-40B4-BE49-F238E27FC236}">
                <a16:creationId xmlns:a16="http://schemas.microsoft.com/office/drawing/2014/main" id="{C22B9768-5BB4-9B9C-BB5B-70919B539387}"/>
              </a:ext>
            </a:extLst>
          </p:cNvPr>
          <p:cNvPicPr>
            <a:picLocks noChangeAspect="1"/>
          </p:cNvPicPr>
          <p:nvPr/>
        </p:nvPicPr>
        <p:blipFill>
          <a:blip r:embed="rId2"/>
          <a:stretch>
            <a:fillRect/>
          </a:stretch>
        </p:blipFill>
        <p:spPr>
          <a:xfrm>
            <a:off x="5285742" y="1783155"/>
            <a:ext cx="6373114" cy="4229690"/>
          </a:xfrm>
          <a:prstGeom prst="rect">
            <a:avLst/>
          </a:prstGeom>
        </p:spPr>
      </p:pic>
      <p:pic>
        <p:nvPicPr>
          <p:cNvPr id="27" name="Picture 26">
            <a:extLst>
              <a:ext uri="{FF2B5EF4-FFF2-40B4-BE49-F238E27FC236}">
                <a16:creationId xmlns:a16="http://schemas.microsoft.com/office/drawing/2014/main" id="{E254177B-30AB-3A9D-E0B6-8C1C25C47B87}"/>
              </a:ext>
            </a:extLst>
          </p:cNvPr>
          <p:cNvPicPr>
            <a:picLocks noChangeAspect="1"/>
          </p:cNvPicPr>
          <p:nvPr/>
        </p:nvPicPr>
        <p:blipFill>
          <a:blip r:embed="rId3"/>
          <a:stretch>
            <a:fillRect/>
          </a:stretch>
        </p:blipFill>
        <p:spPr>
          <a:xfrm>
            <a:off x="5399980" y="2252054"/>
            <a:ext cx="943107" cy="3658111"/>
          </a:xfrm>
          <a:prstGeom prst="rect">
            <a:avLst/>
          </a:prstGeom>
        </p:spPr>
      </p:pic>
      <p:pic>
        <p:nvPicPr>
          <p:cNvPr id="29" name="Picture 28">
            <a:extLst>
              <a:ext uri="{FF2B5EF4-FFF2-40B4-BE49-F238E27FC236}">
                <a16:creationId xmlns:a16="http://schemas.microsoft.com/office/drawing/2014/main" id="{D7EF9EEA-DC82-A8B7-B093-D10BDFC98C25}"/>
              </a:ext>
            </a:extLst>
          </p:cNvPr>
          <p:cNvPicPr>
            <a:picLocks noChangeAspect="1"/>
          </p:cNvPicPr>
          <p:nvPr/>
        </p:nvPicPr>
        <p:blipFill>
          <a:blip r:embed="rId4"/>
          <a:stretch>
            <a:fillRect/>
          </a:stretch>
        </p:blipFill>
        <p:spPr>
          <a:xfrm>
            <a:off x="6357601" y="2247290"/>
            <a:ext cx="5182323" cy="3667637"/>
          </a:xfrm>
          <a:prstGeom prst="rect">
            <a:avLst/>
          </a:prstGeom>
        </p:spPr>
      </p:pic>
      <p:sp>
        <p:nvSpPr>
          <p:cNvPr id="30" name="Rectangle 29">
            <a:extLst>
              <a:ext uri="{FF2B5EF4-FFF2-40B4-BE49-F238E27FC236}">
                <a16:creationId xmlns:a16="http://schemas.microsoft.com/office/drawing/2014/main" id="{419A17B2-736E-1F4D-64AF-28C959DB3A5C}"/>
              </a:ext>
            </a:extLst>
          </p:cNvPr>
          <p:cNvSpPr/>
          <p:nvPr/>
        </p:nvSpPr>
        <p:spPr>
          <a:xfrm>
            <a:off x="1459370" y="3871448"/>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cxnSp>
        <p:nvCxnSpPr>
          <p:cNvPr id="31" name="Connector: Elbow 30">
            <a:extLst>
              <a:ext uri="{FF2B5EF4-FFF2-40B4-BE49-F238E27FC236}">
                <a16:creationId xmlns:a16="http://schemas.microsoft.com/office/drawing/2014/main" id="{070ED526-30DB-AECD-09B0-B0C4CC09840E}"/>
              </a:ext>
            </a:extLst>
          </p:cNvPr>
          <p:cNvCxnSpPr>
            <a:cxnSpLocks/>
            <a:endCxn id="30" idx="1"/>
          </p:cNvCxnSpPr>
          <p:nvPr/>
        </p:nvCxnSpPr>
        <p:spPr>
          <a:xfrm rot="16200000" flipH="1">
            <a:off x="1144118" y="3740861"/>
            <a:ext cx="337359" cy="293145"/>
          </a:xfrm>
          <a:prstGeom prst="bentConnector2">
            <a:avLst/>
          </a:prstGeom>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75D98809-9E87-6E14-4058-6441EF38DD32}"/>
              </a:ext>
            </a:extLst>
          </p:cNvPr>
          <p:cNvSpPr txBox="1"/>
          <p:nvPr/>
        </p:nvSpPr>
        <p:spPr>
          <a:xfrm>
            <a:off x="2361220" y="3865622"/>
            <a:ext cx="2297424" cy="369332"/>
          </a:xfrm>
          <a:prstGeom prst="rect">
            <a:avLst/>
          </a:prstGeom>
          <a:noFill/>
        </p:spPr>
        <p:txBody>
          <a:bodyPr wrap="none" rtlCol="0">
            <a:spAutoFit/>
          </a:bodyPr>
          <a:lstStyle/>
          <a:p>
            <a:r>
              <a:rPr lang="ja-JP" altLang="en-US" dirty="0"/>
              <a:t>上（行：</a:t>
            </a:r>
            <a:r>
              <a:rPr lang="en-US" altLang="ja-JP" dirty="0"/>
              <a:t>0</a:t>
            </a:r>
            <a:r>
              <a:rPr lang="ja-JP" altLang="en-US" dirty="0"/>
              <a:t>、列：</a:t>
            </a:r>
            <a:r>
              <a:rPr lang="en-US" altLang="ja-JP" dirty="0"/>
              <a:t>0</a:t>
            </a:r>
            <a:r>
              <a:rPr lang="ja-JP" altLang="en-US" dirty="0"/>
              <a:t>）</a:t>
            </a:r>
            <a:endParaRPr lang="en-US" dirty="0"/>
          </a:p>
        </p:txBody>
      </p:sp>
      <p:pic>
        <p:nvPicPr>
          <p:cNvPr id="37" name="Picture 36">
            <a:extLst>
              <a:ext uri="{FF2B5EF4-FFF2-40B4-BE49-F238E27FC236}">
                <a16:creationId xmlns:a16="http://schemas.microsoft.com/office/drawing/2014/main" id="{6C2672F1-4F1F-5911-F73D-AB5CB1116E5D}"/>
              </a:ext>
            </a:extLst>
          </p:cNvPr>
          <p:cNvPicPr>
            <a:picLocks noChangeAspect="1"/>
          </p:cNvPicPr>
          <p:nvPr/>
        </p:nvPicPr>
        <p:blipFill>
          <a:blip r:embed="rId5"/>
          <a:stretch>
            <a:fillRect/>
          </a:stretch>
        </p:blipFill>
        <p:spPr>
          <a:xfrm>
            <a:off x="6533837" y="2367235"/>
            <a:ext cx="4829849" cy="2800741"/>
          </a:xfrm>
          <a:prstGeom prst="rect">
            <a:avLst/>
          </a:prstGeom>
        </p:spPr>
      </p:pic>
      <p:sp>
        <p:nvSpPr>
          <p:cNvPr id="39" name="Rectangle 38">
            <a:extLst>
              <a:ext uri="{FF2B5EF4-FFF2-40B4-BE49-F238E27FC236}">
                <a16:creationId xmlns:a16="http://schemas.microsoft.com/office/drawing/2014/main" id="{21687A58-B085-8803-6AF8-40BB1D3F7C34}"/>
              </a:ext>
            </a:extLst>
          </p:cNvPr>
          <p:cNvSpPr/>
          <p:nvPr/>
        </p:nvSpPr>
        <p:spPr>
          <a:xfrm>
            <a:off x="1459370" y="4381821"/>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cxnSp>
        <p:nvCxnSpPr>
          <p:cNvPr id="40" name="Connector: Elbow 39">
            <a:extLst>
              <a:ext uri="{FF2B5EF4-FFF2-40B4-BE49-F238E27FC236}">
                <a16:creationId xmlns:a16="http://schemas.microsoft.com/office/drawing/2014/main" id="{58BE4838-E962-4CDF-3F9C-96CDAB5F485A}"/>
              </a:ext>
            </a:extLst>
          </p:cNvPr>
          <p:cNvCxnSpPr>
            <a:cxnSpLocks/>
            <a:endCxn id="39" idx="1"/>
          </p:cNvCxnSpPr>
          <p:nvPr/>
        </p:nvCxnSpPr>
        <p:spPr>
          <a:xfrm rot="16200000" flipH="1">
            <a:off x="888931" y="3996048"/>
            <a:ext cx="847732" cy="293145"/>
          </a:xfrm>
          <a:prstGeom prst="bentConnector2">
            <a:avLst/>
          </a:prstGeom>
        </p:spPr>
        <p:style>
          <a:lnRef idx="2">
            <a:schemeClr val="dk1"/>
          </a:lnRef>
          <a:fillRef idx="0">
            <a:schemeClr val="dk1"/>
          </a:fillRef>
          <a:effectRef idx="1">
            <a:schemeClr val="dk1"/>
          </a:effectRef>
          <a:fontRef idx="minor">
            <a:schemeClr val="tx1"/>
          </a:fontRef>
        </p:style>
      </p:cxnSp>
      <p:sp>
        <p:nvSpPr>
          <p:cNvPr id="43" name="TextBox 42">
            <a:extLst>
              <a:ext uri="{FF2B5EF4-FFF2-40B4-BE49-F238E27FC236}">
                <a16:creationId xmlns:a16="http://schemas.microsoft.com/office/drawing/2014/main" id="{A97211C8-C66F-8586-5B60-DFA5F57C4D3F}"/>
              </a:ext>
            </a:extLst>
          </p:cNvPr>
          <p:cNvSpPr txBox="1"/>
          <p:nvPr/>
        </p:nvSpPr>
        <p:spPr>
          <a:xfrm>
            <a:off x="2361220" y="4375995"/>
            <a:ext cx="2297424" cy="369332"/>
          </a:xfrm>
          <a:prstGeom prst="rect">
            <a:avLst/>
          </a:prstGeom>
          <a:noFill/>
        </p:spPr>
        <p:txBody>
          <a:bodyPr wrap="none" rtlCol="0">
            <a:spAutoFit/>
          </a:bodyPr>
          <a:lstStyle/>
          <a:p>
            <a:r>
              <a:rPr lang="ja-JP" altLang="en-US" dirty="0"/>
              <a:t>下（行：</a:t>
            </a:r>
            <a:r>
              <a:rPr lang="en-US" altLang="ja-JP" dirty="0"/>
              <a:t>1</a:t>
            </a:r>
            <a:r>
              <a:rPr lang="ja-JP" altLang="en-US" dirty="0"/>
              <a:t>、列：</a:t>
            </a:r>
            <a:r>
              <a:rPr lang="en-US" altLang="ja-JP" dirty="0"/>
              <a:t>0</a:t>
            </a:r>
            <a:r>
              <a:rPr lang="ja-JP" altLang="en-US" dirty="0"/>
              <a:t>）</a:t>
            </a:r>
            <a:endParaRPr lang="en-US" dirty="0"/>
          </a:p>
        </p:txBody>
      </p:sp>
      <p:sp>
        <p:nvSpPr>
          <p:cNvPr id="46" name="TextBox 45">
            <a:extLst>
              <a:ext uri="{FF2B5EF4-FFF2-40B4-BE49-F238E27FC236}">
                <a16:creationId xmlns:a16="http://schemas.microsoft.com/office/drawing/2014/main" id="{CC97D5E6-3032-AB6A-81D6-81E6704DFEF7}"/>
              </a:ext>
            </a:extLst>
          </p:cNvPr>
          <p:cNvSpPr txBox="1"/>
          <p:nvPr/>
        </p:nvSpPr>
        <p:spPr>
          <a:xfrm>
            <a:off x="2933429" y="4911397"/>
            <a:ext cx="2199641" cy="369332"/>
          </a:xfrm>
          <a:prstGeom prst="rect">
            <a:avLst/>
          </a:prstGeom>
          <a:noFill/>
        </p:spPr>
        <p:txBody>
          <a:bodyPr wrap="none" rtlCol="0">
            <a:spAutoFit/>
          </a:bodyPr>
          <a:lstStyle/>
          <a:p>
            <a:r>
              <a:rPr lang="en-US" altLang="ja-JP" dirty="0"/>
              <a:t>1</a:t>
            </a:r>
            <a:r>
              <a:rPr lang="ja-JP" altLang="en-US" dirty="0"/>
              <a:t>（行：</a:t>
            </a:r>
            <a:r>
              <a:rPr lang="en-US" altLang="ja-JP" dirty="0"/>
              <a:t>0</a:t>
            </a:r>
            <a:r>
              <a:rPr lang="ja-JP" altLang="en-US" dirty="0"/>
              <a:t>、列：</a:t>
            </a:r>
            <a:r>
              <a:rPr lang="en-US" altLang="ja-JP" dirty="0"/>
              <a:t>0</a:t>
            </a:r>
            <a:r>
              <a:rPr lang="ja-JP" altLang="en-US" dirty="0"/>
              <a:t>）</a:t>
            </a:r>
            <a:endParaRPr lang="en-US" dirty="0"/>
          </a:p>
        </p:txBody>
      </p:sp>
      <p:sp>
        <p:nvSpPr>
          <p:cNvPr id="47" name="TextBox 46">
            <a:extLst>
              <a:ext uri="{FF2B5EF4-FFF2-40B4-BE49-F238E27FC236}">
                <a16:creationId xmlns:a16="http://schemas.microsoft.com/office/drawing/2014/main" id="{6A3231AA-74A1-E591-D350-949287EE4D8A}"/>
              </a:ext>
            </a:extLst>
          </p:cNvPr>
          <p:cNvSpPr txBox="1"/>
          <p:nvPr/>
        </p:nvSpPr>
        <p:spPr>
          <a:xfrm>
            <a:off x="2933429" y="5421770"/>
            <a:ext cx="2199641" cy="369332"/>
          </a:xfrm>
          <a:prstGeom prst="rect">
            <a:avLst/>
          </a:prstGeom>
          <a:noFill/>
        </p:spPr>
        <p:txBody>
          <a:bodyPr wrap="none" rtlCol="0">
            <a:spAutoFit/>
          </a:bodyPr>
          <a:lstStyle/>
          <a:p>
            <a:r>
              <a:rPr lang="en-US" altLang="ja-JP" dirty="0"/>
              <a:t>2</a:t>
            </a:r>
            <a:r>
              <a:rPr lang="ja-JP" altLang="en-US" dirty="0"/>
              <a:t>（行：</a:t>
            </a:r>
            <a:r>
              <a:rPr lang="en-US" altLang="ja-JP" dirty="0"/>
              <a:t>0</a:t>
            </a:r>
            <a:r>
              <a:rPr lang="ja-JP" altLang="en-US" dirty="0"/>
              <a:t>、列：</a:t>
            </a:r>
            <a:r>
              <a:rPr lang="en-US" altLang="ja-JP" dirty="0"/>
              <a:t>1</a:t>
            </a:r>
            <a:r>
              <a:rPr lang="ja-JP" altLang="en-US" dirty="0"/>
              <a:t>）</a:t>
            </a:r>
            <a:endParaRPr lang="en-US" dirty="0"/>
          </a:p>
        </p:txBody>
      </p:sp>
      <p:sp>
        <p:nvSpPr>
          <p:cNvPr id="50" name="Rectangle 49">
            <a:extLst>
              <a:ext uri="{FF2B5EF4-FFF2-40B4-BE49-F238E27FC236}">
                <a16:creationId xmlns:a16="http://schemas.microsoft.com/office/drawing/2014/main" id="{480CEDB6-443D-D956-7A3F-CB16E0AAEA2C}"/>
              </a:ext>
            </a:extLst>
          </p:cNvPr>
          <p:cNvSpPr/>
          <p:nvPr/>
        </p:nvSpPr>
        <p:spPr>
          <a:xfrm>
            <a:off x="6558804" y="5212175"/>
            <a:ext cx="4839375" cy="522024"/>
          </a:xfrm>
          <a:prstGeom prst="rect">
            <a:avLst/>
          </a:prstGeom>
          <a:pattFill prst="pct30">
            <a:fgClr>
              <a:schemeClr val="tx1"/>
            </a:fgClr>
            <a:bgClr>
              <a:srgbClr val="F0F0F0"/>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53">
            <a:extLst>
              <a:ext uri="{FF2B5EF4-FFF2-40B4-BE49-F238E27FC236}">
                <a16:creationId xmlns:a16="http://schemas.microsoft.com/office/drawing/2014/main" id="{E68D64FB-BDD1-1437-05D5-EE6C4A32D562}"/>
              </a:ext>
            </a:extLst>
          </p:cNvPr>
          <p:cNvPicPr>
            <a:picLocks noChangeAspect="1"/>
          </p:cNvPicPr>
          <p:nvPr/>
        </p:nvPicPr>
        <p:blipFill>
          <a:blip r:embed="rId6"/>
          <a:stretch>
            <a:fillRect/>
          </a:stretch>
        </p:blipFill>
        <p:spPr>
          <a:xfrm>
            <a:off x="6558803" y="5212175"/>
            <a:ext cx="4839375" cy="522042"/>
          </a:xfrm>
          <a:prstGeom prst="rect">
            <a:avLst/>
          </a:prstGeom>
        </p:spPr>
      </p:pic>
      <p:pic>
        <p:nvPicPr>
          <p:cNvPr id="56" name="Picture 55">
            <a:extLst>
              <a:ext uri="{FF2B5EF4-FFF2-40B4-BE49-F238E27FC236}">
                <a16:creationId xmlns:a16="http://schemas.microsoft.com/office/drawing/2014/main" id="{5287AA45-C300-7371-B126-CEEC29CC7639}"/>
              </a:ext>
            </a:extLst>
          </p:cNvPr>
          <p:cNvPicPr>
            <a:picLocks noChangeAspect="1"/>
          </p:cNvPicPr>
          <p:nvPr/>
        </p:nvPicPr>
        <p:blipFill>
          <a:blip r:embed="rId7"/>
          <a:stretch>
            <a:fillRect/>
          </a:stretch>
        </p:blipFill>
        <p:spPr>
          <a:xfrm>
            <a:off x="10547805" y="5286764"/>
            <a:ext cx="809738" cy="438211"/>
          </a:xfrm>
          <a:prstGeom prst="rect">
            <a:avLst/>
          </a:prstGeom>
        </p:spPr>
      </p:pic>
      <p:sp>
        <p:nvSpPr>
          <p:cNvPr id="57" name="TextBox 56">
            <a:extLst>
              <a:ext uri="{FF2B5EF4-FFF2-40B4-BE49-F238E27FC236}">
                <a16:creationId xmlns:a16="http://schemas.microsoft.com/office/drawing/2014/main" id="{FDFFBDDC-3BCF-134E-2B24-ABE155D1E676}"/>
              </a:ext>
            </a:extLst>
          </p:cNvPr>
          <p:cNvSpPr txBox="1"/>
          <p:nvPr/>
        </p:nvSpPr>
        <p:spPr>
          <a:xfrm>
            <a:off x="114444" y="6190218"/>
            <a:ext cx="4787208" cy="369332"/>
          </a:xfrm>
          <a:prstGeom prst="rect">
            <a:avLst/>
          </a:prstGeom>
          <a:noFill/>
        </p:spPr>
        <p:txBody>
          <a:bodyPr wrap="none" rtlCol="0">
            <a:spAutoFit/>
          </a:bodyPr>
          <a:lstStyle/>
          <a:p>
            <a:r>
              <a:rPr lang="en-US" altLang="ja-JP" dirty="0"/>
              <a:t>※ </a:t>
            </a:r>
            <a:r>
              <a:rPr lang="ja-JP" altLang="en-US" dirty="0"/>
              <a:t>各</a:t>
            </a:r>
            <a:r>
              <a:rPr lang="en-US" altLang="ja-JP" dirty="0"/>
              <a:t>Frame</a:t>
            </a:r>
            <a:r>
              <a:rPr lang="ja-JP" altLang="en-US" dirty="0"/>
              <a:t>はそれぞれ独立した</a:t>
            </a:r>
            <a:r>
              <a:rPr lang="en-US" altLang="ja-JP" dirty="0"/>
              <a:t>grid</a:t>
            </a:r>
            <a:r>
              <a:rPr lang="ja-JP" altLang="en-US" dirty="0"/>
              <a:t>を持つ。</a:t>
            </a:r>
          </a:p>
        </p:txBody>
      </p:sp>
    </p:spTree>
    <p:extLst>
      <p:ext uri="{BB962C8B-B14F-4D97-AF65-F5344CB8AC3E}">
        <p14:creationId xmlns:p14="http://schemas.microsoft.com/office/powerpoint/2010/main" val="2165059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par>
                                <p:cTn id="50" presetID="10" presetClass="entr" presetSubtype="0" fill="hold"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500"/>
                                        <p:tgtEl>
                                          <p:spTgt spid="3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500"/>
                                        <p:tgtEl>
                                          <p:spTgt spid="5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500"/>
                                        <p:tgtEl>
                                          <p:spTgt spid="1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500"/>
                                        <p:tgtEl>
                                          <p:spTgt spid="46"/>
                                        </p:tgtEl>
                                      </p:cBhvr>
                                    </p:animEffect>
                                  </p:childTnLst>
                                </p:cTn>
                              </p:par>
                              <p:par>
                                <p:cTn id="78" presetID="10" presetClass="entr" presetSubtype="0" fill="hold" nodeType="withEffect">
                                  <p:stCondLst>
                                    <p:cond delay="0"/>
                                  </p:stCondLst>
                                  <p:childTnLst>
                                    <p:set>
                                      <p:cBhvr>
                                        <p:cTn id="79" dur="1" fill="hold">
                                          <p:stCondLst>
                                            <p:cond delay="0"/>
                                          </p:stCondLst>
                                        </p:cTn>
                                        <p:tgtEl>
                                          <p:spTgt spid="54"/>
                                        </p:tgtEl>
                                        <p:attrNameLst>
                                          <p:attrName>style.visibility</p:attrName>
                                        </p:attrNameLst>
                                      </p:cBhvr>
                                      <p:to>
                                        <p:strVal val="visible"/>
                                      </p:to>
                                    </p:set>
                                    <p:animEffect transition="in" filter="fade">
                                      <p:cBhvr>
                                        <p:cTn id="80" dur="500"/>
                                        <p:tgtEl>
                                          <p:spTgt spid="5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2"/>
                                        </p:tgtEl>
                                        <p:attrNameLst>
                                          <p:attrName>style.visibility</p:attrName>
                                        </p:attrNameLst>
                                      </p:cBhvr>
                                      <p:to>
                                        <p:strVal val="visible"/>
                                      </p:to>
                                    </p:set>
                                    <p:animEffect transition="in" filter="fade">
                                      <p:cBhvr>
                                        <p:cTn id="85" dur="500"/>
                                        <p:tgtEl>
                                          <p:spTgt spid="1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7"/>
                                        </p:tgtEl>
                                        <p:attrNameLst>
                                          <p:attrName>style.visibility</p:attrName>
                                        </p:attrNameLst>
                                      </p:cBhvr>
                                      <p:to>
                                        <p:strVal val="visible"/>
                                      </p:to>
                                    </p:set>
                                    <p:animEffect transition="in" filter="fade">
                                      <p:cBhvr>
                                        <p:cTn id="88" dur="500"/>
                                        <p:tgtEl>
                                          <p:spTgt spid="47"/>
                                        </p:tgtEl>
                                      </p:cBhvr>
                                    </p:animEffect>
                                  </p:childTnLst>
                                </p:cTn>
                              </p:par>
                              <p:par>
                                <p:cTn id="89" presetID="10" presetClass="entr" presetSubtype="0" fill="hold" nodeType="withEffect">
                                  <p:stCondLst>
                                    <p:cond delay="0"/>
                                  </p:stCondLst>
                                  <p:childTnLst>
                                    <p:set>
                                      <p:cBhvr>
                                        <p:cTn id="90" dur="1" fill="hold">
                                          <p:stCondLst>
                                            <p:cond delay="0"/>
                                          </p:stCondLst>
                                        </p:cTn>
                                        <p:tgtEl>
                                          <p:spTgt spid="56"/>
                                        </p:tgtEl>
                                        <p:attrNameLst>
                                          <p:attrName>style.visibility</p:attrName>
                                        </p:attrNameLst>
                                      </p:cBhvr>
                                      <p:to>
                                        <p:strVal val="visible"/>
                                      </p:to>
                                    </p:set>
                                    <p:animEffect transition="in" filter="fade">
                                      <p:cBhvr>
                                        <p:cTn id="91" dur="500"/>
                                        <p:tgtEl>
                                          <p:spTgt spid="56"/>
                                        </p:tgtEl>
                                      </p:cBhvr>
                                    </p:animEffect>
                                  </p:childTnLst>
                                </p:cTn>
                              </p:par>
                              <p:par>
                                <p:cTn id="92" presetID="10" presetClass="entr" presetSubtype="0" fill="hold" nodeType="with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9" grpId="0"/>
      <p:bldP spid="21" grpId="0"/>
      <p:bldP spid="30" grpId="0" animBg="1"/>
      <p:bldP spid="35" grpId="0"/>
      <p:bldP spid="39" grpId="0" animBg="1"/>
      <p:bldP spid="43" grpId="0"/>
      <p:bldP spid="46" grpId="0"/>
      <p:bldP spid="47" grpId="0"/>
      <p:bldP spid="5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917AA4-7F6D-8B7D-D032-808BB8781E30}"/>
              </a:ext>
            </a:extLst>
          </p:cNvPr>
          <p:cNvSpPr>
            <a:spLocks noGrp="1"/>
          </p:cNvSpPr>
          <p:nvPr>
            <p:ph type="body" sz="quarter" idx="11"/>
          </p:nvPr>
        </p:nvSpPr>
        <p:spPr/>
        <p:txBody>
          <a:bodyPr/>
          <a:lstStyle/>
          <a:p>
            <a:r>
              <a:rPr lang="en-US" altLang="ja-JP" dirty="0"/>
              <a:t>2-9</a:t>
            </a:r>
            <a:r>
              <a:rPr lang="ja-JP" altLang="en-US" dirty="0"/>
              <a:t>　</a:t>
            </a:r>
            <a:r>
              <a:rPr lang="en-US" altLang="ja-JP" dirty="0"/>
              <a:t>grid</a:t>
            </a:r>
            <a:r>
              <a:rPr lang="ja-JP" altLang="en-US" dirty="0"/>
              <a:t>関数の課題（ヒント</a:t>
            </a:r>
            <a:r>
              <a:rPr lang="en-US" altLang="ja-JP" dirty="0"/>
              <a:t>1</a:t>
            </a:r>
            <a:r>
              <a:rPr lang="ja-JP" altLang="en-US" dirty="0"/>
              <a:t>）</a:t>
            </a:r>
            <a:endParaRPr lang="en-US" altLang="ja-JP" dirty="0"/>
          </a:p>
        </p:txBody>
      </p:sp>
      <p:sp>
        <p:nvSpPr>
          <p:cNvPr id="3" name="Text Placeholder 2">
            <a:extLst>
              <a:ext uri="{FF2B5EF4-FFF2-40B4-BE49-F238E27FC236}">
                <a16:creationId xmlns:a16="http://schemas.microsoft.com/office/drawing/2014/main" id="{2C5D4604-F761-8297-97F9-CEE533B801AD}"/>
              </a:ext>
            </a:extLst>
          </p:cNvPr>
          <p:cNvSpPr>
            <a:spLocks noGrp="1"/>
          </p:cNvSpPr>
          <p:nvPr>
            <p:ph type="body" sz="quarter" idx="13"/>
          </p:nvPr>
        </p:nvSpPr>
        <p:spPr>
          <a:xfrm>
            <a:off x="114444" y="1133475"/>
            <a:ext cx="11963109" cy="365126"/>
          </a:xfrm>
        </p:spPr>
        <p:txBody>
          <a:bodyPr>
            <a:noAutofit/>
          </a:bodyPr>
          <a:lstStyle/>
          <a:p>
            <a:pPr marL="0" indent="0">
              <a:buNone/>
            </a:pPr>
            <a:r>
              <a:rPr lang="ja-JP" altLang="en-US" dirty="0"/>
              <a:t>まず、</a:t>
            </a:r>
            <a:r>
              <a:rPr lang="en-US" altLang="ja-JP" dirty="0"/>
              <a:t>top level window</a:t>
            </a:r>
            <a:r>
              <a:rPr lang="ja-JP" altLang="en-US" dirty="0"/>
              <a:t>（</a:t>
            </a:r>
            <a:r>
              <a:rPr lang="en-US" altLang="ja-JP" dirty="0"/>
              <a:t>root</a:t>
            </a:r>
            <a:r>
              <a:rPr lang="ja-JP" altLang="en-US" dirty="0"/>
              <a:t>）を作成してみよ。</a:t>
            </a:r>
            <a:endParaRPr lang="en-US" dirty="0"/>
          </a:p>
        </p:txBody>
      </p:sp>
      <p:sp>
        <p:nvSpPr>
          <p:cNvPr id="4" name="Slide Number Placeholder 3">
            <a:extLst>
              <a:ext uri="{FF2B5EF4-FFF2-40B4-BE49-F238E27FC236}">
                <a16:creationId xmlns:a16="http://schemas.microsoft.com/office/drawing/2014/main" id="{497DE990-53B8-44EE-3F89-72C1456D4C39}"/>
              </a:ext>
            </a:extLst>
          </p:cNvPr>
          <p:cNvSpPr>
            <a:spLocks noGrp="1"/>
          </p:cNvSpPr>
          <p:nvPr>
            <p:ph type="sldNum" sz="quarter" idx="15"/>
          </p:nvPr>
        </p:nvSpPr>
        <p:spPr/>
        <p:txBody>
          <a:bodyPr/>
          <a:lstStyle/>
          <a:p>
            <a:fld id="{CBD12358-51D2-46B3-9BDE-DF29528B9454}" type="slidenum">
              <a:rPr lang="en-US" smtClean="0"/>
              <a:pPr/>
              <a:t>23</a:t>
            </a:fld>
            <a:endParaRPr lang="en-US" dirty="0"/>
          </a:p>
        </p:txBody>
      </p:sp>
      <p:pic>
        <p:nvPicPr>
          <p:cNvPr id="5" name="Picture 4">
            <a:extLst>
              <a:ext uri="{FF2B5EF4-FFF2-40B4-BE49-F238E27FC236}">
                <a16:creationId xmlns:a16="http://schemas.microsoft.com/office/drawing/2014/main" id="{8D851E3F-4AA2-D689-BDF9-B470613DCA27}"/>
              </a:ext>
            </a:extLst>
          </p:cNvPr>
          <p:cNvPicPr>
            <a:picLocks noChangeAspect="1"/>
          </p:cNvPicPr>
          <p:nvPr/>
        </p:nvPicPr>
        <p:blipFill>
          <a:blip r:embed="rId2"/>
          <a:stretch>
            <a:fillRect/>
          </a:stretch>
        </p:blipFill>
        <p:spPr>
          <a:xfrm>
            <a:off x="5285742" y="1783155"/>
            <a:ext cx="6373114" cy="4229690"/>
          </a:xfrm>
          <a:prstGeom prst="rect">
            <a:avLst/>
          </a:prstGeom>
        </p:spPr>
      </p:pic>
      <p:sp>
        <p:nvSpPr>
          <p:cNvPr id="6" name="TextBox 5">
            <a:extLst>
              <a:ext uri="{FF2B5EF4-FFF2-40B4-BE49-F238E27FC236}">
                <a16:creationId xmlns:a16="http://schemas.microsoft.com/office/drawing/2014/main" id="{951DD9B4-685E-AEFE-A76F-06B232F9E085}"/>
              </a:ext>
            </a:extLst>
          </p:cNvPr>
          <p:cNvSpPr txBox="1"/>
          <p:nvPr/>
        </p:nvSpPr>
        <p:spPr>
          <a:xfrm>
            <a:off x="533144" y="2866948"/>
            <a:ext cx="3887603" cy="2062103"/>
          </a:xfrm>
          <a:prstGeom prst="rect">
            <a:avLst/>
          </a:prstGeom>
          <a:noFill/>
          <a:ln>
            <a:solidFill>
              <a:schemeClr val="tx1"/>
            </a:solidFill>
          </a:ln>
        </p:spPr>
        <p:txBody>
          <a:bodyPr wrap="none" rtlCol="0">
            <a:spAutoFit/>
          </a:bodyPr>
          <a:lstStyle/>
          <a:p>
            <a:r>
              <a:rPr lang="en-US" sz="1600" dirty="0">
                <a:latin typeface="Consolas" panose="020B0609020204030204" pitchFamily="49" charset="0"/>
              </a:rPr>
              <a:t>import </a:t>
            </a:r>
            <a:r>
              <a:rPr lang="en-US" sz="1600" dirty="0" err="1">
                <a:latin typeface="Consolas" panose="020B0609020204030204" pitchFamily="49" charset="0"/>
              </a:rPr>
              <a:t>tkinter</a:t>
            </a:r>
            <a:r>
              <a:rPr lang="en-US" sz="1600" dirty="0">
                <a:latin typeface="Consolas" panose="020B0609020204030204" pitchFamily="49" charset="0"/>
              </a:rPr>
              <a:t> as </a:t>
            </a:r>
            <a:r>
              <a:rPr lang="en-US" sz="1600" dirty="0" err="1">
                <a:latin typeface="Consolas" panose="020B0609020204030204" pitchFamily="49" charset="0"/>
              </a:rPr>
              <a:t>tk</a:t>
            </a:r>
            <a:endParaRPr lang="en-US" sz="1600" dirty="0">
              <a:latin typeface="Consolas" panose="020B0609020204030204" pitchFamily="49" charset="0"/>
            </a:endParaRPr>
          </a:p>
          <a:p>
            <a:endParaRPr lang="en-US" sz="1600" dirty="0">
              <a:latin typeface="Consolas" panose="020B0609020204030204" pitchFamily="49" charset="0"/>
            </a:endParaRPr>
          </a:p>
          <a:p>
            <a:r>
              <a:rPr lang="en-US" sz="1600" dirty="0">
                <a:highlight>
                  <a:srgbClr val="FFFF00"/>
                </a:highlight>
                <a:latin typeface="Consolas" panose="020B0609020204030204" pitchFamily="49" charset="0"/>
              </a:rPr>
              <a:t># </a:t>
            </a:r>
            <a:r>
              <a:rPr lang="en-US" altLang="ja-JP" sz="1600" dirty="0">
                <a:highlight>
                  <a:srgbClr val="FFFF00"/>
                </a:highlight>
                <a:latin typeface="Consolas" panose="020B0609020204030204" pitchFamily="49" charset="0"/>
              </a:rPr>
              <a:t>top level window</a:t>
            </a:r>
            <a:endParaRPr lang="en-US" sz="1600" dirty="0">
              <a:highlight>
                <a:srgbClr val="FFFF00"/>
              </a:highlight>
              <a:latin typeface="Consolas" panose="020B0609020204030204" pitchFamily="49" charset="0"/>
            </a:endParaRPr>
          </a:p>
          <a:p>
            <a:r>
              <a:rPr lang="en-US" sz="1600" dirty="0">
                <a:latin typeface="Consolas" panose="020B0609020204030204" pitchFamily="49" charset="0"/>
              </a:rPr>
              <a:t>root = </a:t>
            </a:r>
            <a:r>
              <a:rPr lang="en-US" sz="1600" dirty="0" err="1">
                <a:latin typeface="Consolas" panose="020B0609020204030204" pitchFamily="49" charset="0"/>
              </a:rPr>
              <a:t>tk.Tk</a:t>
            </a:r>
            <a:r>
              <a:rPr lang="en-US" sz="1600" dirty="0">
                <a:latin typeface="Consolas" panose="020B0609020204030204" pitchFamily="49" charset="0"/>
              </a:rPr>
              <a:t>()</a:t>
            </a:r>
          </a:p>
          <a:p>
            <a:r>
              <a:rPr lang="en-US" sz="1600" dirty="0" err="1">
                <a:latin typeface="Consolas" panose="020B0609020204030204" pitchFamily="49" charset="0"/>
              </a:rPr>
              <a:t>root.title</a:t>
            </a:r>
            <a:r>
              <a:rPr lang="en-US" sz="1600" dirty="0">
                <a:latin typeface="Consolas" panose="020B0609020204030204" pitchFamily="49" charset="0"/>
              </a:rPr>
              <a:t>("Grid Layout Example")</a:t>
            </a:r>
          </a:p>
          <a:p>
            <a:r>
              <a:rPr lang="en-US" sz="1600" dirty="0" err="1">
                <a:latin typeface="Consolas" panose="020B0609020204030204" pitchFamily="49" charset="0"/>
              </a:rPr>
              <a:t>root.geometry</a:t>
            </a:r>
            <a:r>
              <a:rPr lang="en-US" sz="1600" dirty="0">
                <a:latin typeface="Consolas" panose="020B0609020204030204" pitchFamily="49" charset="0"/>
              </a:rPr>
              <a:t>("500x300")</a:t>
            </a:r>
          </a:p>
          <a:p>
            <a:endParaRPr lang="en-US" sz="1600" dirty="0">
              <a:latin typeface="Consolas" panose="020B0609020204030204" pitchFamily="49" charset="0"/>
            </a:endParaRPr>
          </a:p>
          <a:p>
            <a:r>
              <a:rPr lang="en-US" sz="1600" dirty="0" err="1">
                <a:latin typeface="Consolas" panose="020B0609020204030204" pitchFamily="49" charset="0"/>
              </a:rPr>
              <a:t>root.mainloop</a:t>
            </a:r>
            <a:r>
              <a:rPr lang="en-US" sz="1600" dirty="0">
                <a:latin typeface="Consolas" panose="020B0609020204030204" pitchFamily="49" charset="0"/>
              </a:rPr>
              <a:t>()</a:t>
            </a:r>
          </a:p>
        </p:txBody>
      </p:sp>
    </p:spTree>
    <p:extLst>
      <p:ext uri="{BB962C8B-B14F-4D97-AF65-F5344CB8AC3E}">
        <p14:creationId xmlns:p14="http://schemas.microsoft.com/office/powerpoint/2010/main" val="2360392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8FB57-4049-89AE-7A7C-07A42D3877B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28A2E9A-7BB8-4C16-DFAD-DBB6CF596F89}"/>
              </a:ext>
            </a:extLst>
          </p:cNvPr>
          <p:cNvSpPr>
            <a:spLocks noGrp="1"/>
          </p:cNvSpPr>
          <p:nvPr>
            <p:ph type="body" sz="quarter" idx="11"/>
          </p:nvPr>
        </p:nvSpPr>
        <p:spPr/>
        <p:txBody>
          <a:bodyPr/>
          <a:lstStyle/>
          <a:p>
            <a:r>
              <a:rPr lang="en-US" altLang="ja-JP" dirty="0"/>
              <a:t>2-9</a:t>
            </a:r>
            <a:r>
              <a:rPr lang="ja-JP" altLang="en-US" dirty="0"/>
              <a:t>　</a:t>
            </a:r>
            <a:r>
              <a:rPr lang="en-US" altLang="ja-JP" dirty="0"/>
              <a:t>grid</a:t>
            </a:r>
            <a:r>
              <a:rPr lang="ja-JP" altLang="en-US" dirty="0"/>
              <a:t>関数の課題（ヒント</a:t>
            </a:r>
            <a:r>
              <a:rPr lang="en-US" altLang="ja-JP" dirty="0"/>
              <a:t>2</a:t>
            </a:r>
            <a:r>
              <a:rPr lang="ja-JP" altLang="en-US" dirty="0"/>
              <a:t>）</a:t>
            </a:r>
            <a:endParaRPr lang="en-US" altLang="ja-JP" dirty="0"/>
          </a:p>
        </p:txBody>
      </p:sp>
      <p:sp>
        <p:nvSpPr>
          <p:cNvPr id="3" name="Text Placeholder 2">
            <a:extLst>
              <a:ext uri="{FF2B5EF4-FFF2-40B4-BE49-F238E27FC236}">
                <a16:creationId xmlns:a16="http://schemas.microsoft.com/office/drawing/2014/main" id="{98A60AC3-C371-857D-D4E3-4E6BA048BD52}"/>
              </a:ext>
            </a:extLst>
          </p:cNvPr>
          <p:cNvSpPr>
            <a:spLocks noGrp="1"/>
          </p:cNvSpPr>
          <p:nvPr>
            <p:ph type="body" sz="quarter" idx="13"/>
          </p:nvPr>
        </p:nvSpPr>
        <p:spPr>
          <a:xfrm>
            <a:off x="114444" y="1133475"/>
            <a:ext cx="11963109" cy="365126"/>
          </a:xfrm>
        </p:spPr>
        <p:txBody>
          <a:bodyPr>
            <a:noAutofit/>
          </a:bodyPr>
          <a:lstStyle/>
          <a:p>
            <a:pPr marL="0" indent="0">
              <a:buNone/>
            </a:pPr>
            <a:r>
              <a:rPr lang="ja-JP" altLang="en-US" dirty="0"/>
              <a:t>その後、</a:t>
            </a:r>
            <a:r>
              <a:rPr lang="en-US" altLang="ja-JP" dirty="0"/>
              <a:t>root</a:t>
            </a:r>
            <a:r>
              <a:rPr lang="ja-JP" altLang="en-US" dirty="0"/>
              <a:t>のコードブロックの下に以下のものを追加する。</a:t>
            </a:r>
            <a:endParaRPr lang="en-US" dirty="0"/>
          </a:p>
        </p:txBody>
      </p:sp>
      <p:sp>
        <p:nvSpPr>
          <p:cNvPr id="4" name="Slide Number Placeholder 3">
            <a:extLst>
              <a:ext uri="{FF2B5EF4-FFF2-40B4-BE49-F238E27FC236}">
                <a16:creationId xmlns:a16="http://schemas.microsoft.com/office/drawing/2014/main" id="{1437BF43-E831-6D4F-0803-D67A33F33640}"/>
              </a:ext>
            </a:extLst>
          </p:cNvPr>
          <p:cNvSpPr>
            <a:spLocks noGrp="1"/>
          </p:cNvSpPr>
          <p:nvPr>
            <p:ph type="sldNum" sz="quarter" idx="15"/>
          </p:nvPr>
        </p:nvSpPr>
        <p:spPr/>
        <p:txBody>
          <a:bodyPr/>
          <a:lstStyle/>
          <a:p>
            <a:fld id="{CBD12358-51D2-46B3-9BDE-DF29528B9454}" type="slidenum">
              <a:rPr lang="en-US" smtClean="0"/>
              <a:pPr/>
              <a:t>24</a:t>
            </a:fld>
            <a:endParaRPr lang="en-US" dirty="0"/>
          </a:p>
        </p:txBody>
      </p:sp>
      <p:grpSp>
        <p:nvGrpSpPr>
          <p:cNvPr id="14" name="Group 13">
            <a:extLst>
              <a:ext uri="{FF2B5EF4-FFF2-40B4-BE49-F238E27FC236}">
                <a16:creationId xmlns:a16="http://schemas.microsoft.com/office/drawing/2014/main" id="{E1896A12-E98F-0158-D6B0-CD3A5115B753}"/>
              </a:ext>
            </a:extLst>
          </p:cNvPr>
          <p:cNvGrpSpPr/>
          <p:nvPr/>
        </p:nvGrpSpPr>
        <p:grpSpPr>
          <a:xfrm>
            <a:off x="6733521" y="1658910"/>
            <a:ext cx="5069370" cy="3198131"/>
            <a:chOff x="5285742" y="1783155"/>
            <a:chExt cx="6373114" cy="4229690"/>
          </a:xfrm>
        </p:grpSpPr>
        <p:pic>
          <p:nvPicPr>
            <p:cNvPr id="7" name="Picture 6">
              <a:extLst>
                <a:ext uri="{FF2B5EF4-FFF2-40B4-BE49-F238E27FC236}">
                  <a16:creationId xmlns:a16="http://schemas.microsoft.com/office/drawing/2014/main" id="{6445CBF9-91F2-5F01-8460-DEF63559C893}"/>
                </a:ext>
              </a:extLst>
            </p:cNvPr>
            <p:cNvPicPr>
              <a:picLocks noChangeAspect="1"/>
            </p:cNvPicPr>
            <p:nvPr/>
          </p:nvPicPr>
          <p:blipFill>
            <a:blip r:embed="rId2"/>
            <a:stretch>
              <a:fillRect/>
            </a:stretch>
          </p:blipFill>
          <p:spPr>
            <a:xfrm>
              <a:off x="5285742" y="1783155"/>
              <a:ext cx="6373114" cy="4229690"/>
            </a:xfrm>
            <a:prstGeom prst="rect">
              <a:avLst/>
            </a:prstGeom>
          </p:spPr>
        </p:pic>
        <p:pic>
          <p:nvPicPr>
            <p:cNvPr id="8" name="Picture 7">
              <a:extLst>
                <a:ext uri="{FF2B5EF4-FFF2-40B4-BE49-F238E27FC236}">
                  <a16:creationId xmlns:a16="http://schemas.microsoft.com/office/drawing/2014/main" id="{4A9E982E-DBE0-6B20-F24F-D45C05B67090}"/>
                </a:ext>
              </a:extLst>
            </p:cNvPr>
            <p:cNvPicPr>
              <a:picLocks noChangeAspect="1"/>
            </p:cNvPicPr>
            <p:nvPr/>
          </p:nvPicPr>
          <p:blipFill>
            <a:blip r:embed="rId3"/>
            <a:stretch>
              <a:fillRect/>
            </a:stretch>
          </p:blipFill>
          <p:spPr>
            <a:xfrm>
              <a:off x="5399980" y="2252054"/>
              <a:ext cx="943107" cy="3658111"/>
            </a:xfrm>
            <a:prstGeom prst="rect">
              <a:avLst/>
            </a:prstGeom>
          </p:spPr>
        </p:pic>
        <p:pic>
          <p:nvPicPr>
            <p:cNvPr id="9" name="Picture 8">
              <a:extLst>
                <a:ext uri="{FF2B5EF4-FFF2-40B4-BE49-F238E27FC236}">
                  <a16:creationId xmlns:a16="http://schemas.microsoft.com/office/drawing/2014/main" id="{953A0AEB-52FE-A57E-7A62-A7E3AA28F607}"/>
                </a:ext>
              </a:extLst>
            </p:cNvPr>
            <p:cNvPicPr>
              <a:picLocks noChangeAspect="1"/>
            </p:cNvPicPr>
            <p:nvPr/>
          </p:nvPicPr>
          <p:blipFill>
            <a:blip r:embed="rId4"/>
            <a:stretch>
              <a:fillRect/>
            </a:stretch>
          </p:blipFill>
          <p:spPr>
            <a:xfrm>
              <a:off x="6357601" y="2247290"/>
              <a:ext cx="5182323" cy="3667637"/>
            </a:xfrm>
            <a:prstGeom prst="rect">
              <a:avLst/>
            </a:prstGeom>
          </p:spPr>
        </p:pic>
      </p:grpSp>
      <p:sp>
        <p:nvSpPr>
          <p:cNvPr id="6" name="TextBox 5">
            <a:extLst>
              <a:ext uri="{FF2B5EF4-FFF2-40B4-BE49-F238E27FC236}">
                <a16:creationId xmlns:a16="http://schemas.microsoft.com/office/drawing/2014/main" id="{7CEA9555-CB81-A401-A79A-054A50752174}"/>
              </a:ext>
            </a:extLst>
          </p:cNvPr>
          <p:cNvSpPr txBox="1"/>
          <p:nvPr/>
        </p:nvSpPr>
        <p:spPr>
          <a:xfrm>
            <a:off x="440170" y="1635126"/>
            <a:ext cx="5795176" cy="4452501"/>
          </a:xfrm>
          <a:prstGeom prst="rect">
            <a:avLst/>
          </a:prstGeom>
          <a:noFill/>
          <a:ln>
            <a:solidFill>
              <a:schemeClr val="tx1"/>
            </a:solidFill>
          </a:ln>
        </p:spPr>
        <p:txBody>
          <a:bodyPr wrap="none" rtlCol="0">
            <a:spAutoFit/>
          </a:bodyPr>
          <a:lstStyle/>
          <a:p>
            <a:pPr>
              <a:lnSpc>
                <a:spcPts val="1700"/>
              </a:lnSpc>
            </a:pPr>
            <a:r>
              <a:rPr lang="en-US" sz="1600" dirty="0">
                <a:highlight>
                  <a:srgbClr val="FFFF00"/>
                </a:highlight>
                <a:latin typeface="Consolas" panose="020B0609020204030204" pitchFamily="49" charset="0"/>
              </a:rPr>
              <a:t># Main grid</a:t>
            </a:r>
          </a:p>
          <a:p>
            <a:pPr>
              <a:lnSpc>
                <a:spcPts val="1700"/>
              </a:lnSpc>
            </a:pPr>
            <a:r>
              <a:rPr lang="en-US" sz="1600" dirty="0" err="1">
                <a:latin typeface="Consolas" panose="020B0609020204030204" pitchFamily="49" charset="0"/>
              </a:rPr>
              <a:t>root.columnconfigure</a:t>
            </a:r>
            <a:r>
              <a:rPr lang="en-US" sz="1600" dirty="0">
                <a:latin typeface="Consolas" panose="020B0609020204030204" pitchFamily="49" charset="0"/>
              </a:rPr>
              <a:t>(0, weight=1)</a:t>
            </a:r>
          </a:p>
          <a:p>
            <a:pPr>
              <a:lnSpc>
                <a:spcPts val="1700"/>
              </a:lnSpc>
            </a:pPr>
            <a:r>
              <a:rPr lang="en-US" sz="1600" dirty="0" err="1">
                <a:latin typeface="Consolas" panose="020B0609020204030204" pitchFamily="49" charset="0"/>
              </a:rPr>
              <a:t>root.columnconfigure</a:t>
            </a:r>
            <a:r>
              <a:rPr lang="en-US" sz="1600" dirty="0">
                <a:latin typeface="Consolas" panose="020B0609020204030204" pitchFamily="49" charset="0"/>
              </a:rPr>
              <a:t>(1, weight=4)</a:t>
            </a:r>
          </a:p>
          <a:p>
            <a:pPr>
              <a:lnSpc>
                <a:spcPts val="1700"/>
              </a:lnSpc>
            </a:pPr>
            <a:r>
              <a:rPr lang="en-US" sz="1600" dirty="0" err="1">
                <a:latin typeface="Consolas" panose="020B0609020204030204" pitchFamily="49" charset="0"/>
              </a:rPr>
              <a:t>root.rowconfigure</a:t>
            </a:r>
            <a:r>
              <a:rPr lang="en-US" sz="1600" dirty="0">
                <a:latin typeface="Consolas" panose="020B0609020204030204" pitchFamily="49" charset="0"/>
              </a:rPr>
              <a:t>(0, weight=1)</a:t>
            </a:r>
          </a:p>
          <a:p>
            <a:pPr>
              <a:lnSpc>
                <a:spcPts val="1700"/>
              </a:lnSpc>
            </a:pPr>
            <a:endParaRPr lang="en-US" sz="1600" dirty="0">
              <a:latin typeface="Consolas" panose="020B0609020204030204" pitchFamily="49" charset="0"/>
            </a:endParaRPr>
          </a:p>
          <a:p>
            <a:pPr>
              <a:lnSpc>
                <a:spcPts val="1700"/>
              </a:lnSpc>
            </a:pPr>
            <a:r>
              <a:rPr lang="en-US" sz="1600" dirty="0">
                <a:highlight>
                  <a:srgbClr val="FFFF00"/>
                </a:highlight>
                <a:latin typeface="Consolas" panose="020B0609020204030204" pitchFamily="49" charset="0"/>
              </a:rPr>
              <a:t># Left frame</a:t>
            </a:r>
          </a:p>
          <a:p>
            <a:pPr>
              <a:lnSpc>
                <a:spcPts val="1700"/>
              </a:lnSpc>
            </a:pPr>
            <a:r>
              <a:rPr lang="en-US" sz="1600" dirty="0" err="1">
                <a:latin typeface="Consolas" panose="020B0609020204030204" pitchFamily="49" charset="0"/>
              </a:rPr>
              <a:t>left_frame</a:t>
            </a:r>
            <a:r>
              <a:rPr lang="en-US" sz="1600" dirty="0">
                <a:latin typeface="Consolas" panose="020B0609020204030204" pitchFamily="49" charset="0"/>
              </a:rPr>
              <a:t> = </a:t>
            </a:r>
            <a:r>
              <a:rPr lang="en-US" sz="1600" dirty="0" err="1">
                <a:latin typeface="Consolas" panose="020B0609020204030204" pitchFamily="49" charset="0"/>
              </a:rPr>
              <a:t>tk.Frame</a:t>
            </a:r>
            <a:r>
              <a:rPr lang="en-US" sz="1600" dirty="0">
                <a:latin typeface="Consolas" panose="020B0609020204030204" pitchFamily="49" charset="0"/>
              </a:rPr>
              <a:t>(root, bd=1, relief="solid")</a:t>
            </a:r>
          </a:p>
          <a:p>
            <a:pPr>
              <a:lnSpc>
                <a:spcPts val="1700"/>
              </a:lnSpc>
            </a:pPr>
            <a:r>
              <a:rPr lang="en-US" sz="1600" dirty="0" err="1">
                <a:latin typeface="Consolas" panose="020B0609020204030204" pitchFamily="49" charset="0"/>
              </a:rPr>
              <a:t>left_frame.grid</a:t>
            </a:r>
            <a:r>
              <a:rPr lang="en-US" sz="1600" dirty="0">
                <a:latin typeface="Consolas" panose="020B0609020204030204" pitchFamily="49" charset="0"/>
              </a:rPr>
              <a:t>(</a:t>
            </a:r>
          </a:p>
          <a:p>
            <a:pPr>
              <a:lnSpc>
                <a:spcPts val="1700"/>
              </a:lnSpc>
            </a:pPr>
            <a:r>
              <a:rPr lang="en-US" sz="1600" dirty="0">
                <a:latin typeface="Consolas" panose="020B0609020204030204" pitchFamily="49" charset="0"/>
              </a:rPr>
              <a:t>    row=0, column=0,</a:t>
            </a:r>
          </a:p>
          <a:p>
            <a:pPr>
              <a:lnSpc>
                <a:spcPts val="1700"/>
              </a:lnSpc>
            </a:pPr>
            <a:r>
              <a:rPr lang="en-US" sz="1600" dirty="0">
                <a:latin typeface="Consolas" panose="020B0609020204030204" pitchFamily="49" charset="0"/>
              </a:rPr>
              <a:t>    sticky="</a:t>
            </a:r>
            <a:r>
              <a:rPr lang="en-US" sz="1600" dirty="0" err="1">
                <a:latin typeface="Consolas" panose="020B0609020204030204" pitchFamily="49" charset="0"/>
              </a:rPr>
              <a:t>nsew</a:t>
            </a:r>
            <a:r>
              <a:rPr lang="en-US" sz="1600" dirty="0">
                <a:latin typeface="Consolas" panose="020B0609020204030204" pitchFamily="49" charset="0"/>
              </a:rPr>
              <a:t>",</a:t>
            </a:r>
          </a:p>
          <a:p>
            <a:pPr>
              <a:lnSpc>
                <a:spcPts val="1700"/>
              </a:lnSpc>
            </a:pPr>
            <a:r>
              <a:rPr lang="en-US" sz="1600" dirty="0">
                <a:latin typeface="Consolas" panose="020B0609020204030204" pitchFamily="49" charset="0"/>
              </a:rPr>
              <a:t>    </a:t>
            </a:r>
            <a:r>
              <a:rPr lang="en-US" sz="1600" dirty="0" err="1">
                <a:latin typeface="Consolas" panose="020B0609020204030204" pitchFamily="49" charset="0"/>
              </a:rPr>
              <a:t>padx</a:t>
            </a:r>
            <a:r>
              <a:rPr lang="en-US" sz="1600" dirty="0">
                <a:latin typeface="Consolas" panose="020B0609020204030204" pitchFamily="49" charset="0"/>
              </a:rPr>
              <a:t>=10, </a:t>
            </a:r>
            <a:r>
              <a:rPr lang="en-US" sz="1600" dirty="0" err="1">
                <a:latin typeface="Consolas" panose="020B0609020204030204" pitchFamily="49" charset="0"/>
              </a:rPr>
              <a:t>pady</a:t>
            </a:r>
            <a:r>
              <a:rPr lang="en-US" sz="1600" dirty="0">
                <a:latin typeface="Consolas" panose="020B0609020204030204" pitchFamily="49" charset="0"/>
              </a:rPr>
              <a:t>=10</a:t>
            </a:r>
          </a:p>
          <a:p>
            <a:pPr>
              <a:lnSpc>
                <a:spcPts val="1700"/>
              </a:lnSpc>
            </a:pPr>
            <a:r>
              <a:rPr lang="en-US" sz="1600" dirty="0">
                <a:latin typeface="Consolas" panose="020B0609020204030204" pitchFamily="49" charset="0"/>
              </a:rPr>
              <a:t>)</a:t>
            </a:r>
          </a:p>
          <a:p>
            <a:pPr>
              <a:lnSpc>
                <a:spcPts val="1700"/>
              </a:lnSpc>
            </a:pPr>
            <a:endParaRPr lang="en-US" sz="1600" dirty="0">
              <a:latin typeface="Consolas" panose="020B0609020204030204" pitchFamily="49" charset="0"/>
            </a:endParaRPr>
          </a:p>
          <a:p>
            <a:pPr>
              <a:lnSpc>
                <a:spcPts val="1700"/>
              </a:lnSpc>
            </a:pPr>
            <a:r>
              <a:rPr lang="en-US" sz="1600" dirty="0">
                <a:highlight>
                  <a:srgbClr val="FFFF00"/>
                </a:highlight>
                <a:latin typeface="Consolas" panose="020B0609020204030204" pitchFamily="49" charset="0"/>
              </a:rPr>
              <a:t># Right frame</a:t>
            </a:r>
          </a:p>
          <a:p>
            <a:pPr>
              <a:lnSpc>
                <a:spcPts val="1700"/>
              </a:lnSpc>
            </a:pPr>
            <a:r>
              <a:rPr lang="en-US" sz="1600" dirty="0" err="1">
                <a:latin typeface="Consolas" panose="020B0609020204030204" pitchFamily="49" charset="0"/>
              </a:rPr>
              <a:t>right_frame</a:t>
            </a:r>
            <a:r>
              <a:rPr lang="en-US" sz="1600" dirty="0">
                <a:latin typeface="Consolas" panose="020B0609020204030204" pitchFamily="49" charset="0"/>
              </a:rPr>
              <a:t> = </a:t>
            </a:r>
            <a:r>
              <a:rPr lang="en-US" sz="1600" dirty="0" err="1">
                <a:latin typeface="Consolas" panose="020B0609020204030204" pitchFamily="49" charset="0"/>
              </a:rPr>
              <a:t>tk.Frame</a:t>
            </a:r>
            <a:r>
              <a:rPr lang="en-US" sz="1600" dirty="0">
                <a:latin typeface="Consolas" panose="020B0609020204030204" pitchFamily="49" charset="0"/>
              </a:rPr>
              <a:t>(root, bd=1, relief="solid")</a:t>
            </a:r>
          </a:p>
          <a:p>
            <a:pPr>
              <a:lnSpc>
                <a:spcPts val="1700"/>
              </a:lnSpc>
            </a:pPr>
            <a:r>
              <a:rPr lang="en-US" sz="1600" dirty="0" err="1">
                <a:latin typeface="Consolas" panose="020B0609020204030204" pitchFamily="49" charset="0"/>
              </a:rPr>
              <a:t>right_frame.grid</a:t>
            </a:r>
            <a:r>
              <a:rPr lang="en-US" sz="1600" dirty="0">
                <a:latin typeface="Consolas" panose="020B0609020204030204" pitchFamily="49" charset="0"/>
              </a:rPr>
              <a:t>(</a:t>
            </a:r>
          </a:p>
          <a:p>
            <a:pPr>
              <a:lnSpc>
                <a:spcPts val="1700"/>
              </a:lnSpc>
            </a:pPr>
            <a:r>
              <a:rPr lang="en-US" sz="1600" dirty="0">
                <a:latin typeface="Consolas" panose="020B0609020204030204" pitchFamily="49" charset="0"/>
              </a:rPr>
              <a:t>    row=0, column=1,</a:t>
            </a:r>
          </a:p>
          <a:p>
            <a:pPr>
              <a:lnSpc>
                <a:spcPts val="1700"/>
              </a:lnSpc>
            </a:pPr>
            <a:r>
              <a:rPr lang="en-US" sz="1600" dirty="0">
                <a:latin typeface="Consolas" panose="020B0609020204030204" pitchFamily="49" charset="0"/>
              </a:rPr>
              <a:t>    sticky="</a:t>
            </a:r>
            <a:r>
              <a:rPr lang="en-US" sz="1600" dirty="0" err="1">
                <a:latin typeface="Consolas" panose="020B0609020204030204" pitchFamily="49" charset="0"/>
              </a:rPr>
              <a:t>nsew</a:t>
            </a:r>
            <a:r>
              <a:rPr lang="en-US" sz="1600" dirty="0">
                <a:latin typeface="Consolas" panose="020B0609020204030204" pitchFamily="49" charset="0"/>
              </a:rPr>
              <a:t>",</a:t>
            </a:r>
          </a:p>
          <a:p>
            <a:pPr>
              <a:lnSpc>
                <a:spcPts val="1700"/>
              </a:lnSpc>
            </a:pPr>
            <a:r>
              <a:rPr lang="en-US" sz="1600" dirty="0">
                <a:latin typeface="Consolas" panose="020B0609020204030204" pitchFamily="49" charset="0"/>
              </a:rPr>
              <a:t>    </a:t>
            </a:r>
            <a:r>
              <a:rPr lang="en-US" sz="1600" dirty="0" err="1">
                <a:latin typeface="Consolas" panose="020B0609020204030204" pitchFamily="49" charset="0"/>
              </a:rPr>
              <a:t>padx</a:t>
            </a:r>
            <a:r>
              <a:rPr lang="en-US" sz="1600" dirty="0">
                <a:latin typeface="Consolas" panose="020B0609020204030204" pitchFamily="49" charset="0"/>
              </a:rPr>
              <a:t>=10, </a:t>
            </a:r>
            <a:r>
              <a:rPr lang="en-US" sz="1600" dirty="0" err="1">
                <a:latin typeface="Consolas" panose="020B0609020204030204" pitchFamily="49" charset="0"/>
              </a:rPr>
              <a:t>pady</a:t>
            </a:r>
            <a:r>
              <a:rPr lang="en-US" sz="1600" dirty="0">
                <a:latin typeface="Consolas" panose="020B0609020204030204" pitchFamily="49" charset="0"/>
              </a:rPr>
              <a:t>=10</a:t>
            </a:r>
          </a:p>
          <a:p>
            <a:pPr>
              <a:lnSpc>
                <a:spcPts val="1700"/>
              </a:lnSpc>
            </a:pPr>
            <a:r>
              <a:rPr lang="en-US" sz="1600" dirty="0">
                <a:latin typeface="Consolas" panose="020B0609020204030204" pitchFamily="49" charset="0"/>
              </a:rPr>
              <a:t>)</a:t>
            </a:r>
          </a:p>
        </p:txBody>
      </p:sp>
      <p:sp>
        <p:nvSpPr>
          <p:cNvPr id="15" name="TextBox 14">
            <a:extLst>
              <a:ext uri="{FF2B5EF4-FFF2-40B4-BE49-F238E27FC236}">
                <a16:creationId xmlns:a16="http://schemas.microsoft.com/office/drawing/2014/main" id="{399D4A00-F8F2-AD1D-16B9-7439005F766C}"/>
              </a:ext>
            </a:extLst>
          </p:cNvPr>
          <p:cNvSpPr txBox="1"/>
          <p:nvPr/>
        </p:nvSpPr>
        <p:spPr>
          <a:xfrm>
            <a:off x="6502401" y="5014050"/>
            <a:ext cx="5531610" cy="923330"/>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t>Main grid</a:t>
            </a:r>
            <a:r>
              <a:rPr lang="ja-JP" altLang="en-US" b="1" dirty="0"/>
              <a:t>：</a:t>
            </a:r>
            <a:r>
              <a:rPr lang="ja-JP" altLang="en-US" dirty="0"/>
              <a:t>ウィジェットの広がり方の定義</a:t>
            </a:r>
            <a:endParaRPr lang="en-US" altLang="ja-JP" dirty="0"/>
          </a:p>
          <a:p>
            <a:pPr marL="285750" indent="-285750" algn="just">
              <a:buFont typeface="Arial" panose="020B0604020202020204" pitchFamily="34" charset="0"/>
              <a:buChar char="•"/>
            </a:pPr>
            <a:r>
              <a:rPr lang="en-US" altLang="ja-JP" b="1" dirty="0"/>
              <a:t>Left frame</a:t>
            </a:r>
            <a:r>
              <a:rPr lang="ja-JP" altLang="en-US" b="1" dirty="0"/>
              <a:t>：</a:t>
            </a:r>
            <a:r>
              <a:rPr lang="ja-JP" altLang="en-US" dirty="0"/>
              <a:t>左側のフレームの定義</a:t>
            </a:r>
            <a:endParaRPr lang="en-US" altLang="ja-JP" dirty="0"/>
          </a:p>
          <a:p>
            <a:pPr marL="285750" indent="-285750" algn="just">
              <a:buFont typeface="Arial" panose="020B0604020202020204" pitchFamily="34" charset="0"/>
              <a:buChar char="•"/>
            </a:pPr>
            <a:r>
              <a:rPr lang="en-US" altLang="ja-JP" b="1" dirty="0"/>
              <a:t>Right frame</a:t>
            </a:r>
            <a:r>
              <a:rPr lang="ja-JP" altLang="en-US" b="1" dirty="0"/>
              <a:t>：</a:t>
            </a:r>
            <a:r>
              <a:rPr lang="ja-JP" altLang="en-US" dirty="0"/>
              <a:t>右側のフレームの定義</a:t>
            </a:r>
            <a:endParaRPr lang="en-US" altLang="ja-JP" dirty="0"/>
          </a:p>
        </p:txBody>
      </p:sp>
      <p:sp>
        <p:nvSpPr>
          <p:cNvPr id="16" name="TextBox 15">
            <a:extLst>
              <a:ext uri="{FF2B5EF4-FFF2-40B4-BE49-F238E27FC236}">
                <a16:creationId xmlns:a16="http://schemas.microsoft.com/office/drawing/2014/main" id="{32C866CA-0564-8F62-B060-95AAF1FC948B}"/>
              </a:ext>
            </a:extLst>
          </p:cNvPr>
          <p:cNvSpPr txBox="1"/>
          <p:nvPr/>
        </p:nvSpPr>
        <p:spPr>
          <a:xfrm>
            <a:off x="114444" y="6224152"/>
            <a:ext cx="4359207" cy="369332"/>
          </a:xfrm>
          <a:prstGeom prst="rect">
            <a:avLst/>
          </a:prstGeom>
          <a:noFill/>
        </p:spPr>
        <p:txBody>
          <a:bodyPr wrap="none" rtlCol="0">
            <a:spAutoFit/>
          </a:bodyPr>
          <a:lstStyle/>
          <a:p>
            <a:r>
              <a:rPr lang="en-US" altLang="ja-JP" dirty="0"/>
              <a:t>※</a:t>
            </a:r>
            <a:r>
              <a:rPr lang="ja-JP" altLang="en-US" dirty="0"/>
              <a:t> 各</a:t>
            </a:r>
            <a:r>
              <a:rPr lang="en-US" altLang="ja-JP" dirty="0"/>
              <a:t>Frame</a:t>
            </a:r>
            <a:r>
              <a:rPr lang="ja-JP" altLang="en-US" dirty="0"/>
              <a:t>の引数の意味を調べてみよ。</a:t>
            </a:r>
            <a:endParaRPr lang="en-US" dirty="0"/>
          </a:p>
        </p:txBody>
      </p:sp>
    </p:spTree>
    <p:extLst>
      <p:ext uri="{BB962C8B-B14F-4D97-AF65-F5344CB8AC3E}">
        <p14:creationId xmlns:p14="http://schemas.microsoft.com/office/powerpoint/2010/main" val="71118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921F68-174E-7255-6E2A-60B62DA10902}"/>
              </a:ext>
            </a:extLst>
          </p:cNvPr>
          <p:cNvSpPr>
            <a:spLocks noGrp="1"/>
          </p:cNvSpPr>
          <p:nvPr>
            <p:ph type="body" sz="quarter" idx="11"/>
          </p:nvPr>
        </p:nvSpPr>
        <p:spPr/>
        <p:txBody>
          <a:bodyPr/>
          <a:lstStyle/>
          <a:p>
            <a:r>
              <a:rPr lang="en-US" altLang="ja-JP" dirty="0"/>
              <a:t>2-9</a:t>
            </a:r>
            <a:r>
              <a:rPr lang="ja-JP" altLang="en-US" dirty="0"/>
              <a:t>　</a:t>
            </a:r>
            <a:r>
              <a:rPr lang="en-US" altLang="ja-JP" dirty="0"/>
              <a:t>grid</a:t>
            </a:r>
            <a:r>
              <a:rPr lang="ja-JP" altLang="en-US" dirty="0"/>
              <a:t>関数の課題（ヒント</a:t>
            </a:r>
            <a:r>
              <a:rPr lang="en-US" altLang="ja-JP" dirty="0"/>
              <a:t>3</a:t>
            </a:r>
            <a:r>
              <a:rPr lang="ja-JP" altLang="en-US" dirty="0"/>
              <a:t>）</a:t>
            </a:r>
            <a:endParaRPr lang="en-US" altLang="ja-JP" dirty="0"/>
          </a:p>
        </p:txBody>
      </p:sp>
      <p:sp>
        <p:nvSpPr>
          <p:cNvPr id="4" name="Slide Number Placeholder 3">
            <a:extLst>
              <a:ext uri="{FF2B5EF4-FFF2-40B4-BE49-F238E27FC236}">
                <a16:creationId xmlns:a16="http://schemas.microsoft.com/office/drawing/2014/main" id="{A5FBCBA2-8FDD-2122-C7B0-B2B6ABE1F17D}"/>
              </a:ext>
            </a:extLst>
          </p:cNvPr>
          <p:cNvSpPr>
            <a:spLocks noGrp="1"/>
          </p:cNvSpPr>
          <p:nvPr>
            <p:ph type="sldNum" sz="quarter" idx="15"/>
          </p:nvPr>
        </p:nvSpPr>
        <p:spPr/>
        <p:txBody>
          <a:bodyPr/>
          <a:lstStyle/>
          <a:p>
            <a:fld id="{CBD12358-51D2-46B3-9BDE-DF29528B9454}" type="slidenum">
              <a:rPr lang="en-US" smtClean="0"/>
              <a:pPr/>
              <a:t>25</a:t>
            </a:fld>
            <a:endParaRPr lang="en-US" dirty="0"/>
          </a:p>
        </p:txBody>
      </p:sp>
      <p:grpSp>
        <p:nvGrpSpPr>
          <p:cNvPr id="23" name="Group 22">
            <a:extLst>
              <a:ext uri="{FF2B5EF4-FFF2-40B4-BE49-F238E27FC236}">
                <a16:creationId xmlns:a16="http://schemas.microsoft.com/office/drawing/2014/main" id="{C848B4E8-EE77-7B74-80BE-C23BE05E3947}"/>
              </a:ext>
            </a:extLst>
          </p:cNvPr>
          <p:cNvGrpSpPr/>
          <p:nvPr/>
        </p:nvGrpSpPr>
        <p:grpSpPr>
          <a:xfrm>
            <a:off x="6138434" y="1840674"/>
            <a:ext cx="5069370" cy="3221915"/>
            <a:chOff x="5285742" y="1783155"/>
            <a:chExt cx="6373114" cy="4229690"/>
          </a:xfrm>
        </p:grpSpPr>
        <p:pic>
          <p:nvPicPr>
            <p:cNvPr id="24" name="Picture 23">
              <a:extLst>
                <a:ext uri="{FF2B5EF4-FFF2-40B4-BE49-F238E27FC236}">
                  <a16:creationId xmlns:a16="http://schemas.microsoft.com/office/drawing/2014/main" id="{5D1AF5A7-5195-9F65-99D6-E66B345B55AF}"/>
                </a:ext>
              </a:extLst>
            </p:cNvPr>
            <p:cNvPicPr>
              <a:picLocks noChangeAspect="1"/>
            </p:cNvPicPr>
            <p:nvPr/>
          </p:nvPicPr>
          <p:blipFill>
            <a:blip r:embed="rId2"/>
            <a:stretch>
              <a:fillRect/>
            </a:stretch>
          </p:blipFill>
          <p:spPr>
            <a:xfrm>
              <a:off x="5285742" y="1783155"/>
              <a:ext cx="6373114" cy="4229690"/>
            </a:xfrm>
            <a:prstGeom prst="rect">
              <a:avLst/>
            </a:prstGeom>
          </p:spPr>
        </p:pic>
        <p:pic>
          <p:nvPicPr>
            <p:cNvPr id="25" name="Picture 24">
              <a:extLst>
                <a:ext uri="{FF2B5EF4-FFF2-40B4-BE49-F238E27FC236}">
                  <a16:creationId xmlns:a16="http://schemas.microsoft.com/office/drawing/2014/main" id="{CDE5FED3-BD06-6589-84CF-D3496F81FE4F}"/>
                </a:ext>
              </a:extLst>
            </p:cNvPr>
            <p:cNvPicPr>
              <a:picLocks noChangeAspect="1"/>
            </p:cNvPicPr>
            <p:nvPr/>
          </p:nvPicPr>
          <p:blipFill>
            <a:blip r:embed="rId3"/>
            <a:stretch>
              <a:fillRect/>
            </a:stretch>
          </p:blipFill>
          <p:spPr>
            <a:xfrm>
              <a:off x="5399980" y="2252054"/>
              <a:ext cx="943107" cy="3658111"/>
            </a:xfrm>
            <a:prstGeom prst="rect">
              <a:avLst/>
            </a:prstGeom>
          </p:spPr>
        </p:pic>
        <p:pic>
          <p:nvPicPr>
            <p:cNvPr id="26" name="Picture 25">
              <a:extLst>
                <a:ext uri="{FF2B5EF4-FFF2-40B4-BE49-F238E27FC236}">
                  <a16:creationId xmlns:a16="http://schemas.microsoft.com/office/drawing/2014/main" id="{771360FA-1C26-6388-D29D-099411F57FD5}"/>
                </a:ext>
              </a:extLst>
            </p:cNvPr>
            <p:cNvPicPr>
              <a:picLocks noChangeAspect="1"/>
            </p:cNvPicPr>
            <p:nvPr/>
          </p:nvPicPr>
          <p:blipFill>
            <a:blip r:embed="rId4"/>
            <a:stretch>
              <a:fillRect/>
            </a:stretch>
          </p:blipFill>
          <p:spPr>
            <a:xfrm>
              <a:off x="6357601" y="2247290"/>
              <a:ext cx="5182323" cy="3667637"/>
            </a:xfrm>
            <a:prstGeom prst="rect">
              <a:avLst/>
            </a:prstGeom>
          </p:spPr>
        </p:pic>
        <p:pic>
          <p:nvPicPr>
            <p:cNvPr id="27" name="Picture 26">
              <a:extLst>
                <a:ext uri="{FF2B5EF4-FFF2-40B4-BE49-F238E27FC236}">
                  <a16:creationId xmlns:a16="http://schemas.microsoft.com/office/drawing/2014/main" id="{B08A464D-8B84-80CB-EF23-EA958A15DBA7}"/>
                </a:ext>
              </a:extLst>
            </p:cNvPr>
            <p:cNvPicPr>
              <a:picLocks noChangeAspect="1"/>
            </p:cNvPicPr>
            <p:nvPr/>
          </p:nvPicPr>
          <p:blipFill>
            <a:blip r:embed="rId5"/>
            <a:stretch>
              <a:fillRect/>
            </a:stretch>
          </p:blipFill>
          <p:spPr>
            <a:xfrm>
              <a:off x="6533837" y="2367235"/>
              <a:ext cx="4829849" cy="2800741"/>
            </a:xfrm>
            <a:prstGeom prst="rect">
              <a:avLst/>
            </a:prstGeom>
          </p:spPr>
        </p:pic>
        <p:sp>
          <p:nvSpPr>
            <p:cNvPr id="28" name="Rectangle 27">
              <a:extLst>
                <a:ext uri="{FF2B5EF4-FFF2-40B4-BE49-F238E27FC236}">
                  <a16:creationId xmlns:a16="http://schemas.microsoft.com/office/drawing/2014/main" id="{84F940C8-7D1A-84AD-B8BE-1721F76918BD}"/>
                </a:ext>
              </a:extLst>
            </p:cNvPr>
            <p:cNvSpPr/>
            <p:nvPr/>
          </p:nvSpPr>
          <p:spPr>
            <a:xfrm>
              <a:off x="6558804" y="5212175"/>
              <a:ext cx="4839375" cy="522024"/>
            </a:xfrm>
            <a:prstGeom prst="rect">
              <a:avLst/>
            </a:prstGeom>
            <a:pattFill prst="pct30">
              <a:fgClr>
                <a:schemeClr val="tx1"/>
              </a:fgClr>
              <a:bgClr>
                <a:srgbClr val="F0F0F0"/>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441659AF-F183-9AC2-6E0E-048A25B01FEC}"/>
              </a:ext>
            </a:extLst>
          </p:cNvPr>
          <p:cNvSpPr txBox="1"/>
          <p:nvPr/>
        </p:nvSpPr>
        <p:spPr>
          <a:xfrm>
            <a:off x="737451" y="1840674"/>
            <a:ext cx="4734434" cy="4402680"/>
          </a:xfrm>
          <a:prstGeom prst="rect">
            <a:avLst/>
          </a:prstGeom>
          <a:noFill/>
          <a:ln>
            <a:solidFill>
              <a:schemeClr val="tx1"/>
            </a:solidFill>
          </a:ln>
        </p:spPr>
        <p:txBody>
          <a:bodyPr wrap="square">
            <a:spAutoFit/>
          </a:bodyPr>
          <a:lstStyle/>
          <a:p>
            <a:pPr>
              <a:lnSpc>
                <a:spcPts val="1600"/>
              </a:lnSpc>
            </a:pPr>
            <a:r>
              <a:rPr lang="en-US" sz="1600" dirty="0">
                <a:highlight>
                  <a:srgbClr val="FFFF00"/>
                </a:highlight>
                <a:latin typeface="Consolas" panose="020B0609020204030204" pitchFamily="49" charset="0"/>
              </a:rPr>
              <a:t># Right frame grid</a:t>
            </a:r>
          </a:p>
          <a:p>
            <a:pPr>
              <a:lnSpc>
                <a:spcPts val="1600"/>
              </a:lnSpc>
            </a:pPr>
            <a:r>
              <a:rPr lang="en-US" sz="1600" dirty="0" err="1">
                <a:latin typeface="Consolas" panose="020B0609020204030204" pitchFamily="49" charset="0"/>
              </a:rPr>
              <a:t>right_frame.columnconfigure</a:t>
            </a:r>
            <a:r>
              <a:rPr lang="en-US" sz="1600" dirty="0">
                <a:latin typeface="Consolas" panose="020B0609020204030204" pitchFamily="49" charset="0"/>
              </a:rPr>
              <a:t>(0, weight=1)</a:t>
            </a:r>
          </a:p>
          <a:p>
            <a:pPr>
              <a:lnSpc>
                <a:spcPts val="1600"/>
              </a:lnSpc>
            </a:pPr>
            <a:r>
              <a:rPr lang="en-US" sz="1600" dirty="0" err="1">
                <a:latin typeface="Consolas" panose="020B0609020204030204" pitchFamily="49" charset="0"/>
              </a:rPr>
              <a:t>right_frame.rowconfigure</a:t>
            </a:r>
            <a:r>
              <a:rPr lang="en-US" sz="1600" dirty="0">
                <a:latin typeface="Consolas" panose="020B0609020204030204" pitchFamily="49" charset="0"/>
              </a:rPr>
              <a:t>(0, weight=1)</a:t>
            </a:r>
          </a:p>
          <a:p>
            <a:pPr>
              <a:lnSpc>
                <a:spcPts val="1600"/>
              </a:lnSpc>
            </a:pPr>
            <a:r>
              <a:rPr lang="en-US" sz="1600" dirty="0" err="1">
                <a:latin typeface="Consolas" panose="020B0609020204030204" pitchFamily="49" charset="0"/>
              </a:rPr>
              <a:t>right_frame.rowconfigure</a:t>
            </a:r>
            <a:r>
              <a:rPr lang="en-US" sz="1600" dirty="0">
                <a:latin typeface="Consolas" panose="020B0609020204030204" pitchFamily="49" charset="0"/>
              </a:rPr>
              <a:t>(1, weight=0)</a:t>
            </a:r>
          </a:p>
          <a:p>
            <a:pPr>
              <a:lnSpc>
                <a:spcPts val="1600"/>
              </a:lnSpc>
            </a:pPr>
            <a:endParaRPr lang="en-US" sz="1600" dirty="0">
              <a:latin typeface="Consolas" panose="020B0609020204030204" pitchFamily="49" charset="0"/>
            </a:endParaRPr>
          </a:p>
          <a:p>
            <a:pPr>
              <a:lnSpc>
                <a:spcPts val="1600"/>
              </a:lnSpc>
            </a:pPr>
            <a:r>
              <a:rPr lang="en-US" sz="1600" dirty="0">
                <a:highlight>
                  <a:srgbClr val="FFFF00"/>
                </a:highlight>
                <a:latin typeface="Consolas" panose="020B0609020204030204" pitchFamily="49" charset="0"/>
              </a:rPr>
              <a:t># Large upper frame</a:t>
            </a:r>
          </a:p>
          <a:p>
            <a:pPr>
              <a:lnSpc>
                <a:spcPts val="1600"/>
              </a:lnSpc>
            </a:pPr>
            <a:r>
              <a:rPr lang="en-US" sz="1600" dirty="0" err="1">
                <a:latin typeface="Consolas" panose="020B0609020204030204" pitchFamily="49" charset="0"/>
              </a:rPr>
              <a:t>main_frame</a:t>
            </a:r>
            <a:r>
              <a:rPr lang="en-US" sz="1600" dirty="0">
                <a:latin typeface="Consolas" panose="020B0609020204030204" pitchFamily="49" charset="0"/>
              </a:rPr>
              <a:t> = </a:t>
            </a:r>
            <a:r>
              <a:rPr lang="en-US" sz="1600" dirty="0" err="1">
                <a:latin typeface="Consolas" panose="020B0609020204030204" pitchFamily="49" charset="0"/>
              </a:rPr>
              <a:t>tk.Frame</a:t>
            </a:r>
            <a:r>
              <a:rPr lang="en-US" sz="1600" dirty="0">
                <a:latin typeface="Consolas" panose="020B0609020204030204" pitchFamily="49" charset="0"/>
              </a:rPr>
              <a:t>(</a:t>
            </a:r>
            <a:r>
              <a:rPr lang="en-US" sz="1600" dirty="0" err="1">
                <a:latin typeface="Consolas" panose="020B0609020204030204" pitchFamily="49" charset="0"/>
              </a:rPr>
              <a:t>right_frame</a:t>
            </a:r>
            <a:r>
              <a:rPr lang="en-US" sz="1600" dirty="0">
                <a:latin typeface="Consolas" panose="020B0609020204030204" pitchFamily="49" charset="0"/>
              </a:rPr>
              <a:t>, bd=1, relief="solid")</a:t>
            </a:r>
          </a:p>
          <a:p>
            <a:pPr>
              <a:lnSpc>
                <a:spcPts val="1600"/>
              </a:lnSpc>
            </a:pPr>
            <a:r>
              <a:rPr lang="en-US" sz="1600" dirty="0" err="1">
                <a:latin typeface="Consolas" panose="020B0609020204030204" pitchFamily="49" charset="0"/>
              </a:rPr>
              <a:t>main_frame.grid</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row=0, column=0,</a:t>
            </a:r>
          </a:p>
          <a:p>
            <a:pPr>
              <a:lnSpc>
                <a:spcPts val="1600"/>
              </a:lnSpc>
            </a:pPr>
            <a:r>
              <a:rPr lang="en-US" sz="1600" dirty="0">
                <a:latin typeface="Consolas" panose="020B0609020204030204" pitchFamily="49" charset="0"/>
              </a:rPr>
              <a:t>    sticky="</a:t>
            </a:r>
            <a:r>
              <a:rPr lang="en-US" sz="1600" dirty="0" err="1">
                <a:latin typeface="Consolas" panose="020B0609020204030204" pitchFamily="49" charset="0"/>
              </a:rPr>
              <a:t>nsew</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a:t>
            </a:r>
            <a:r>
              <a:rPr lang="en-US" sz="1600" dirty="0" err="1">
                <a:latin typeface="Consolas" panose="020B0609020204030204" pitchFamily="49" charset="0"/>
              </a:rPr>
              <a:t>padx</a:t>
            </a:r>
            <a:r>
              <a:rPr lang="en-US" sz="1600" dirty="0">
                <a:latin typeface="Consolas" panose="020B0609020204030204" pitchFamily="49" charset="0"/>
              </a:rPr>
              <a:t>=10, </a:t>
            </a:r>
            <a:r>
              <a:rPr lang="en-US" sz="1600" dirty="0" err="1">
                <a:latin typeface="Consolas" panose="020B0609020204030204" pitchFamily="49" charset="0"/>
              </a:rPr>
              <a:t>pady</a:t>
            </a:r>
            <a:r>
              <a:rPr lang="en-US" sz="1600" dirty="0">
                <a:latin typeface="Consolas" panose="020B0609020204030204" pitchFamily="49" charset="0"/>
              </a:rPr>
              <a:t>=10</a:t>
            </a:r>
          </a:p>
          <a:p>
            <a:pPr>
              <a:lnSpc>
                <a:spcPts val="1600"/>
              </a:lnSpc>
            </a:pPr>
            <a:r>
              <a:rPr lang="en-US" sz="1600" dirty="0">
                <a:latin typeface="Consolas" panose="020B0609020204030204" pitchFamily="49" charset="0"/>
              </a:rPr>
              <a:t>)</a:t>
            </a:r>
          </a:p>
          <a:p>
            <a:pPr>
              <a:lnSpc>
                <a:spcPts val="1600"/>
              </a:lnSpc>
            </a:pPr>
            <a:endParaRPr lang="en-US" sz="1600" dirty="0">
              <a:latin typeface="Consolas" panose="020B0609020204030204" pitchFamily="49" charset="0"/>
            </a:endParaRPr>
          </a:p>
          <a:p>
            <a:pPr>
              <a:lnSpc>
                <a:spcPts val="1600"/>
              </a:lnSpc>
            </a:pPr>
            <a:r>
              <a:rPr lang="en-US" sz="1600" dirty="0">
                <a:highlight>
                  <a:srgbClr val="FFFF00"/>
                </a:highlight>
                <a:latin typeface="Consolas" panose="020B0609020204030204" pitchFamily="49" charset="0"/>
              </a:rPr>
              <a:t># Frame for buttons</a:t>
            </a:r>
          </a:p>
          <a:p>
            <a:pPr>
              <a:lnSpc>
                <a:spcPts val="1600"/>
              </a:lnSpc>
            </a:pPr>
            <a:r>
              <a:rPr lang="en-US" sz="1600" dirty="0" err="1">
                <a:latin typeface="Consolas" panose="020B0609020204030204" pitchFamily="49" charset="0"/>
              </a:rPr>
              <a:t>button_frame</a:t>
            </a:r>
            <a:r>
              <a:rPr lang="en-US" sz="1600" dirty="0">
                <a:latin typeface="Consolas" panose="020B0609020204030204" pitchFamily="49" charset="0"/>
              </a:rPr>
              <a:t> = </a:t>
            </a:r>
            <a:r>
              <a:rPr lang="en-US" sz="1600" dirty="0" err="1">
                <a:latin typeface="Consolas" panose="020B0609020204030204" pitchFamily="49" charset="0"/>
              </a:rPr>
              <a:t>tk.Frame</a:t>
            </a:r>
            <a:r>
              <a:rPr lang="en-US" sz="1600" dirty="0">
                <a:latin typeface="Consolas" panose="020B0609020204030204" pitchFamily="49" charset="0"/>
              </a:rPr>
              <a:t>(</a:t>
            </a:r>
            <a:r>
              <a:rPr lang="en-US" sz="1600" dirty="0" err="1">
                <a:latin typeface="Consolas" panose="020B0609020204030204" pitchFamily="49" charset="0"/>
              </a:rPr>
              <a:t>right_frame</a:t>
            </a:r>
            <a:r>
              <a:rPr lang="en-US" sz="1600" dirty="0">
                <a:latin typeface="Consolas" panose="020B0609020204030204" pitchFamily="49" charset="0"/>
              </a:rPr>
              <a:t>)</a:t>
            </a:r>
          </a:p>
          <a:p>
            <a:pPr>
              <a:lnSpc>
                <a:spcPts val="1600"/>
              </a:lnSpc>
            </a:pPr>
            <a:r>
              <a:rPr lang="en-US" sz="1600" dirty="0" err="1">
                <a:latin typeface="Consolas" panose="020B0609020204030204" pitchFamily="49" charset="0"/>
              </a:rPr>
              <a:t>button_frame.grid</a:t>
            </a:r>
            <a:r>
              <a:rPr lang="en-US" sz="1600" dirty="0">
                <a:latin typeface="Consolas" panose="020B0609020204030204" pitchFamily="49" charset="0"/>
              </a:rPr>
              <a:t>(</a:t>
            </a:r>
          </a:p>
          <a:p>
            <a:pPr>
              <a:lnSpc>
                <a:spcPts val="1600"/>
              </a:lnSpc>
            </a:pPr>
            <a:r>
              <a:rPr lang="en-US" sz="1600" dirty="0">
                <a:latin typeface="Consolas" panose="020B0609020204030204" pitchFamily="49" charset="0"/>
              </a:rPr>
              <a:t>    row=1, column=0,</a:t>
            </a:r>
          </a:p>
          <a:p>
            <a:pPr>
              <a:lnSpc>
                <a:spcPts val="1600"/>
              </a:lnSpc>
            </a:pPr>
            <a:r>
              <a:rPr lang="en-US" sz="1600" dirty="0">
                <a:latin typeface="Consolas" panose="020B0609020204030204" pitchFamily="49" charset="0"/>
              </a:rPr>
              <a:t>    sticky="e",</a:t>
            </a:r>
          </a:p>
          <a:p>
            <a:pPr>
              <a:lnSpc>
                <a:spcPts val="1600"/>
              </a:lnSpc>
            </a:pPr>
            <a:r>
              <a:rPr lang="en-US" sz="1600" dirty="0">
                <a:latin typeface="Consolas" panose="020B0609020204030204" pitchFamily="49" charset="0"/>
              </a:rPr>
              <a:t>    </a:t>
            </a:r>
            <a:r>
              <a:rPr lang="en-US" sz="1600" dirty="0" err="1">
                <a:latin typeface="Consolas" panose="020B0609020204030204" pitchFamily="49" charset="0"/>
              </a:rPr>
              <a:t>padx</a:t>
            </a:r>
            <a:r>
              <a:rPr lang="en-US" sz="1600" dirty="0">
                <a:latin typeface="Consolas" panose="020B0609020204030204" pitchFamily="49" charset="0"/>
              </a:rPr>
              <a:t>=5, </a:t>
            </a:r>
            <a:r>
              <a:rPr lang="en-US" sz="1600" dirty="0" err="1">
                <a:latin typeface="Consolas" panose="020B0609020204030204" pitchFamily="49" charset="0"/>
              </a:rPr>
              <a:t>pady</a:t>
            </a:r>
            <a:r>
              <a:rPr lang="en-US" sz="1600" dirty="0">
                <a:latin typeface="Consolas" panose="020B0609020204030204" pitchFamily="49" charset="0"/>
              </a:rPr>
              <a:t>=10</a:t>
            </a:r>
          </a:p>
          <a:p>
            <a:pPr>
              <a:lnSpc>
                <a:spcPts val="1600"/>
              </a:lnSpc>
            </a:pPr>
            <a:r>
              <a:rPr lang="en-US" sz="1600" dirty="0">
                <a:latin typeface="Consolas" panose="020B0609020204030204" pitchFamily="49" charset="0"/>
              </a:rPr>
              <a:t>)</a:t>
            </a:r>
          </a:p>
        </p:txBody>
      </p:sp>
      <p:sp>
        <p:nvSpPr>
          <p:cNvPr id="18" name="Text Placeholder 2">
            <a:extLst>
              <a:ext uri="{FF2B5EF4-FFF2-40B4-BE49-F238E27FC236}">
                <a16:creationId xmlns:a16="http://schemas.microsoft.com/office/drawing/2014/main" id="{876A88C4-7103-AEC1-7CDB-0A552CA85722}"/>
              </a:ext>
            </a:extLst>
          </p:cNvPr>
          <p:cNvSpPr>
            <a:spLocks noGrp="1"/>
          </p:cNvSpPr>
          <p:nvPr>
            <p:ph type="body" sz="quarter" idx="13"/>
          </p:nvPr>
        </p:nvSpPr>
        <p:spPr>
          <a:xfrm>
            <a:off x="114444" y="1133475"/>
            <a:ext cx="11963109" cy="365126"/>
          </a:xfrm>
        </p:spPr>
        <p:txBody>
          <a:bodyPr>
            <a:noAutofit/>
          </a:bodyPr>
          <a:lstStyle/>
          <a:p>
            <a:pPr marL="0" indent="0">
              <a:buNone/>
            </a:pPr>
            <a:r>
              <a:rPr lang="en-US" altLang="ja-JP" dirty="0"/>
              <a:t>Right frame</a:t>
            </a:r>
            <a:r>
              <a:rPr lang="ja-JP" altLang="en-US" dirty="0"/>
              <a:t>のコードブロックの下に以下のものを追加する。</a:t>
            </a:r>
            <a:endParaRPr lang="en-US" dirty="0"/>
          </a:p>
        </p:txBody>
      </p:sp>
      <p:sp>
        <p:nvSpPr>
          <p:cNvPr id="21" name="TextBox 20">
            <a:extLst>
              <a:ext uri="{FF2B5EF4-FFF2-40B4-BE49-F238E27FC236}">
                <a16:creationId xmlns:a16="http://schemas.microsoft.com/office/drawing/2014/main" id="{FB797278-836B-F92B-6727-A106A383BBB7}"/>
              </a:ext>
            </a:extLst>
          </p:cNvPr>
          <p:cNvSpPr txBox="1"/>
          <p:nvPr/>
        </p:nvSpPr>
        <p:spPr>
          <a:xfrm>
            <a:off x="5907314" y="5202735"/>
            <a:ext cx="5531610" cy="923330"/>
          </a:xfrm>
          <a:prstGeom prst="rect">
            <a:avLst/>
          </a:prstGeom>
          <a:noFill/>
        </p:spPr>
        <p:txBody>
          <a:bodyPr wrap="square" rtlCol="0">
            <a:spAutoFit/>
          </a:bodyPr>
          <a:lstStyle/>
          <a:p>
            <a:pPr marL="285750" indent="-285750" algn="just">
              <a:buFont typeface="Arial" panose="020B0604020202020204" pitchFamily="34" charset="0"/>
              <a:buChar char="•"/>
            </a:pPr>
            <a:r>
              <a:rPr lang="en-US" altLang="ja-JP" b="1" spc="-20" dirty="0"/>
              <a:t>Right frame</a:t>
            </a:r>
            <a:r>
              <a:rPr lang="en-US" b="1" spc="-20" dirty="0"/>
              <a:t> grid</a:t>
            </a:r>
            <a:r>
              <a:rPr lang="ja-JP" altLang="en-US" b="1" spc="-20" dirty="0"/>
              <a:t>：</a:t>
            </a:r>
            <a:r>
              <a:rPr lang="ja-JP" altLang="en-US" spc="-20" dirty="0"/>
              <a:t>ウィジェットの広がり方の定義</a:t>
            </a:r>
            <a:endParaRPr lang="en-US" altLang="ja-JP" spc="-20" dirty="0"/>
          </a:p>
          <a:p>
            <a:pPr marL="285750" indent="-285750" algn="just">
              <a:buFont typeface="Arial" panose="020B0604020202020204" pitchFamily="34" charset="0"/>
              <a:buChar char="•"/>
            </a:pPr>
            <a:r>
              <a:rPr lang="en-US" altLang="ja-JP" b="1" dirty="0"/>
              <a:t>Upper frame</a:t>
            </a:r>
            <a:r>
              <a:rPr lang="ja-JP" altLang="en-US" b="1" dirty="0"/>
              <a:t>：</a:t>
            </a:r>
            <a:r>
              <a:rPr lang="ja-JP" altLang="en-US" dirty="0"/>
              <a:t>上側のフレームの定義</a:t>
            </a:r>
            <a:endParaRPr lang="en-US" altLang="ja-JP" dirty="0"/>
          </a:p>
          <a:p>
            <a:pPr marL="285750" indent="-285750" algn="just">
              <a:buFont typeface="Arial" panose="020B0604020202020204" pitchFamily="34" charset="0"/>
              <a:buChar char="•"/>
            </a:pPr>
            <a:r>
              <a:rPr lang="en-US" altLang="ja-JP" b="1" dirty="0"/>
              <a:t>Lower frame</a:t>
            </a:r>
            <a:r>
              <a:rPr lang="ja-JP" altLang="en-US" b="1" dirty="0"/>
              <a:t>：</a:t>
            </a:r>
            <a:r>
              <a:rPr lang="ja-JP" altLang="en-US" dirty="0"/>
              <a:t>下側のフレームの定義</a:t>
            </a:r>
            <a:endParaRPr lang="en-US" altLang="ja-JP" dirty="0"/>
          </a:p>
        </p:txBody>
      </p:sp>
    </p:spTree>
    <p:extLst>
      <p:ext uri="{BB962C8B-B14F-4D97-AF65-F5344CB8AC3E}">
        <p14:creationId xmlns:p14="http://schemas.microsoft.com/office/powerpoint/2010/main" val="3236813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76578-D89B-06A9-FAC6-64C260E58E9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DD3DE3B-0E6D-50EC-972A-638A0BABDE3D}"/>
              </a:ext>
            </a:extLst>
          </p:cNvPr>
          <p:cNvSpPr>
            <a:spLocks noGrp="1"/>
          </p:cNvSpPr>
          <p:nvPr>
            <p:ph type="body" sz="quarter" idx="11"/>
          </p:nvPr>
        </p:nvSpPr>
        <p:spPr/>
        <p:txBody>
          <a:bodyPr/>
          <a:lstStyle/>
          <a:p>
            <a:r>
              <a:rPr lang="en-US" altLang="ja-JP" dirty="0"/>
              <a:t>2-9</a:t>
            </a:r>
            <a:r>
              <a:rPr lang="ja-JP" altLang="en-US" dirty="0"/>
              <a:t>　</a:t>
            </a:r>
            <a:r>
              <a:rPr lang="en-US" altLang="ja-JP" dirty="0"/>
              <a:t>grid</a:t>
            </a:r>
            <a:r>
              <a:rPr lang="ja-JP" altLang="en-US" dirty="0"/>
              <a:t>関数の課題（ヒント</a:t>
            </a:r>
            <a:r>
              <a:rPr lang="en-US" altLang="ja-JP" dirty="0"/>
              <a:t>4</a:t>
            </a:r>
            <a:r>
              <a:rPr lang="ja-JP" altLang="en-US"/>
              <a:t>）</a:t>
            </a:r>
            <a:endParaRPr lang="en-US" altLang="ja-JP" dirty="0"/>
          </a:p>
        </p:txBody>
      </p:sp>
      <p:sp>
        <p:nvSpPr>
          <p:cNvPr id="4" name="Slide Number Placeholder 3">
            <a:extLst>
              <a:ext uri="{FF2B5EF4-FFF2-40B4-BE49-F238E27FC236}">
                <a16:creationId xmlns:a16="http://schemas.microsoft.com/office/drawing/2014/main" id="{968ED0AE-F246-9728-9918-3848CB23426D}"/>
              </a:ext>
            </a:extLst>
          </p:cNvPr>
          <p:cNvSpPr>
            <a:spLocks noGrp="1"/>
          </p:cNvSpPr>
          <p:nvPr>
            <p:ph type="sldNum" sz="quarter" idx="15"/>
          </p:nvPr>
        </p:nvSpPr>
        <p:spPr/>
        <p:txBody>
          <a:bodyPr/>
          <a:lstStyle/>
          <a:p>
            <a:fld id="{CBD12358-51D2-46B3-9BDE-DF29528B9454}" type="slidenum">
              <a:rPr lang="en-US" smtClean="0"/>
              <a:pPr/>
              <a:t>26</a:t>
            </a:fld>
            <a:endParaRPr lang="en-US" dirty="0"/>
          </a:p>
        </p:txBody>
      </p:sp>
      <p:sp>
        <p:nvSpPr>
          <p:cNvPr id="16" name="TextBox 15">
            <a:extLst>
              <a:ext uri="{FF2B5EF4-FFF2-40B4-BE49-F238E27FC236}">
                <a16:creationId xmlns:a16="http://schemas.microsoft.com/office/drawing/2014/main" id="{31FE0A93-9357-F093-FD5F-74353288BA5A}"/>
              </a:ext>
            </a:extLst>
          </p:cNvPr>
          <p:cNvSpPr txBox="1"/>
          <p:nvPr/>
        </p:nvSpPr>
        <p:spPr>
          <a:xfrm>
            <a:off x="519737" y="2670719"/>
            <a:ext cx="4734434" cy="1940468"/>
          </a:xfrm>
          <a:prstGeom prst="rect">
            <a:avLst/>
          </a:prstGeom>
          <a:noFill/>
          <a:ln>
            <a:solidFill>
              <a:schemeClr val="tx1"/>
            </a:solidFill>
          </a:ln>
        </p:spPr>
        <p:txBody>
          <a:bodyPr wrap="square">
            <a:spAutoFit/>
          </a:bodyPr>
          <a:lstStyle/>
          <a:p>
            <a:pPr>
              <a:lnSpc>
                <a:spcPts val="1600"/>
              </a:lnSpc>
            </a:pPr>
            <a:r>
              <a:rPr lang="en-US" sz="1600" dirty="0">
                <a:highlight>
                  <a:srgbClr val="FFFF00"/>
                </a:highlight>
                <a:latin typeface="Consolas" panose="020B0609020204030204" pitchFamily="49" charset="0"/>
              </a:rPr>
              <a:t># button 1</a:t>
            </a:r>
          </a:p>
          <a:p>
            <a:pPr>
              <a:lnSpc>
                <a:spcPts val="1600"/>
              </a:lnSpc>
            </a:pPr>
            <a:r>
              <a:rPr lang="en-US" sz="1600" dirty="0">
                <a:latin typeface="Consolas" panose="020B0609020204030204" pitchFamily="49" charset="0"/>
              </a:rPr>
              <a:t>button1 = </a:t>
            </a:r>
            <a:r>
              <a:rPr lang="en-US" sz="1600" dirty="0" err="1">
                <a:latin typeface="Consolas" panose="020B0609020204030204" pitchFamily="49" charset="0"/>
              </a:rPr>
              <a:t>tk.Button</a:t>
            </a:r>
            <a:r>
              <a:rPr lang="en-US" sz="1600" dirty="0">
                <a:latin typeface="Consolas" panose="020B0609020204030204" pitchFamily="49" charset="0"/>
              </a:rPr>
              <a:t>(</a:t>
            </a:r>
            <a:r>
              <a:rPr lang="en-US" sz="1600" dirty="0" err="1">
                <a:latin typeface="Consolas" panose="020B0609020204030204" pitchFamily="49" charset="0"/>
              </a:rPr>
              <a:t>button_frame</a:t>
            </a:r>
            <a:r>
              <a:rPr lang="en-US" sz="1600" dirty="0">
                <a:latin typeface="Consolas" panose="020B0609020204030204" pitchFamily="49" charset="0"/>
              </a:rPr>
              <a:t>, text="Button 1")</a:t>
            </a:r>
          </a:p>
          <a:p>
            <a:pPr>
              <a:lnSpc>
                <a:spcPts val="1600"/>
              </a:lnSpc>
            </a:pPr>
            <a:r>
              <a:rPr lang="en-US" sz="1600" dirty="0">
                <a:latin typeface="Consolas" panose="020B0609020204030204" pitchFamily="49" charset="0"/>
              </a:rPr>
              <a:t>button1.grid(row=0, column=0, </a:t>
            </a:r>
            <a:r>
              <a:rPr lang="en-US" sz="1600" dirty="0" err="1">
                <a:latin typeface="Consolas" panose="020B0609020204030204" pitchFamily="49" charset="0"/>
              </a:rPr>
              <a:t>padx</a:t>
            </a:r>
            <a:r>
              <a:rPr lang="en-US" sz="1600" dirty="0">
                <a:latin typeface="Consolas" panose="020B0609020204030204" pitchFamily="49" charset="0"/>
              </a:rPr>
              <a:t>=5)</a:t>
            </a:r>
          </a:p>
          <a:p>
            <a:pPr>
              <a:lnSpc>
                <a:spcPts val="1600"/>
              </a:lnSpc>
            </a:pPr>
            <a:endParaRPr lang="en-US" sz="1600" dirty="0">
              <a:latin typeface="Consolas" panose="020B0609020204030204" pitchFamily="49" charset="0"/>
            </a:endParaRPr>
          </a:p>
          <a:p>
            <a:pPr>
              <a:lnSpc>
                <a:spcPts val="1600"/>
              </a:lnSpc>
            </a:pPr>
            <a:r>
              <a:rPr lang="en-US" sz="1600" dirty="0">
                <a:highlight>
                  <a:srgbClr val="FFFF00"/>
                </a:highlight>
                <a:latin typeface="Consolas" panose="020B0609020204030204" pitchFamily="49" charset="0"/>
              </a:rPr>
              <a:t># button 2</a:t>
            </a:r>
          </a:p>
          <a:p>
            <a:pPr>
              <a:lnSpc>
                <a:spcPts val="1600"/>
              </a:lnSpc>
            </a:pPr>
            <a:r>
              <a:rPr lang="en-US" sz="1600" dirty="0">
                <a:latin typeface="Consolas" panose="020B0609020204030204" pitchFamily="49" charset="0"/>
              </a:rPr>
              <a:t>button2 = </a:t>
            </a:r>
            <a:r>
              <a:rPr lang="en-US" sz="1600" dirty="0" err="1">
                <a:latin typeface="Consolas" panose="020B0609020204030204" pitchFamily="49" charset="0"/>
              </a:rPr>
              <a:t>tk.Button</a:t>
            </a:r>
            <a:r>
              <a:rPr lang="en-US" sz="1600" dirty="0">
                <a:latin typeface="Consolas" panose="020B0609020204030204" pitchFamily="49" charset="0"/>
              </a:rPr>
              <a:t>(</a:t>
            </a:r>
            <a:r>
              <a:rPr lang="en-US" sz="1600" dirty="0" err="1">
                <a:latin typeface="Consolas" panose="020B0609020204030204" pitchFamily="49" charset="0"/>
              </a:rPr>
              <a:t>button_frame</a:t>
            </a:r>
            <a:r>
              <a:rPr lang="en-US" sz="1600" dirty="0">
                <a:latin typeface="Consolas" panose="020B0609020204030204" pitchFamily="49" charset="0"/>
              </a:rPr>
              <a:t>, text="Button 2")</a:t>
            </a:r>
          </a:p>
          <a:p>
            <a:pPr>
              <a:lnSpc>
                <a:spcPts val="1600"/>
              </a:lnSpc>
            </a:pPr>
            <a:r>
              <a:rPr lang="en-US" sz="1600" dirty="0">
                <a:latin typeface="Consolas" panose="020B0609020204030204" pitchFamily="49" charset="0"/>
              </a:rPr>
              <a:t>button2.grid(row=0, column=1, </a:t>
            </a:r>
            <a:r>
              <a:rPr lang="en-US" sz="1600" dirty="0" err="1">
                <a:latin typeface="Consolas" panose="020B0609020204030204" pitchFamily="49" charset="0"/>
              </a:rPr>
              <a:t>padx</a:t>
            </a:r>
            <a:r>
              <a:rPr lang="en-US" sz="1600" dirty="0">
                <a:latin typeface="Consolas" panose="020B0609020204030204" pitchFamily="49" charset="0"/>
              </a:rPr>
              <a:t>=5)</a:t>
            </a:r>
          </a:p>
        </p:txBody>
      </p:sp>
      <p:sp>
        <p:nvSpPr>
          <p:cNvPr id="18" name="Text Placeholder 2">
            <a:extLst>
              <a:ext uri="{FF2B5EF4-FFF2-40B4-BE49-F238E27FC236}">
                <a16:creationId xmlns:a16="http://schemas.microsoft.com/office/drawing/2014/main" id="{CF9E59B1-DFA1-DF14-6196-44D70236434D}"/>
              </a:ext>
            </a:extLst>
          </p:cNvPr>
          <p:cNvSpPr>
            <a:spLocks noGrp="1"/>
          </p:cNvSpPr>
          <p:nvPr>
            <p:ph type="body" sz="quarter" idx="13"/>
          </p:nvPr>
        </p:nvSpPr>
        <p:spPr>
          <a:xfrm>
            <a:off x="114444" y="1133474"/>
            <a:ext cx="11963109" cy="789721"/>
          </a:xfrm>
        </p:spPr>
        <p:txBody>
          <a:bodyPr>
            <a:noAutofit/>
          </a:bodyPr>
          <a:lstStyle/>
          <a:p>
            <a:pPr marL="0" indent="0">
              <a:buNone/>
            </a:pPr>
            <a:r>
              <a:rPr lang="ja-JP" altLang="en-US" dirty="0"/>
              <a:t>最後に、</a:t>
            </a:r>
            <a:r>
              <a:rPr lang="en-US" altLang="ja-JP" dirty="0"/>
              <a:t>Frame for buttons</a:t>
            </a:r>
            <a:r>
              <a:rPr lang="ja-JP" altLang="en-US" dirty="0"/>
              <a:t>のコードブロックの下にボタン</a:t>
            </a:r>
            <a:r>
              <a:rPr lang="en-US" altLang="ja-JP" dirty="0"/>
              <a:t>1</a:t>
            </a:r>
            <a:r>
              <a:rPr lang="ja-JP" altLang="en-US" dirty="0"/>
              <a:t>とボタン</a:t>
            </a:r>
            <a:r>
              <a:rPr lang="en-US" altLang="ja-JP" dirty="0"/>
              <a:t>2</a:t>
            </a:r>
            <a:r>
              <a:rPr lang="ja-JP" altLang="en-US" dirty="0"/>
              <a:t>のウィジェットを追加してみよ。</a:t>
            </a:r>
            <a:endParaRPr lang="en-US" dirty="0"/>
          </a:p>
        </p:txBody>
      </p:sp>
      <p:sp>
        <p:nvSpPr>
          <p:cNvPr id="21" name="TextBox 20">
            <a:extLst>
              <a:ext uri="{FF2B5EF4-FFF2-40B4-BE49-F238E27FC236}">
                <a16:creationId xmlns:a16="http://schemas.microsoft.com/office/drawing/2014/main" id="{2B4FD273-1E4C-D0E0-DD67-568CF25DB127}"/>
              </a:ext>
            </a:extLst>
          </p:cNvPr>
          <p:cNvSpPr txBox="1"/>
          <p:nvPr/>
        </p:nvSpPr>
        <p:spPr>
          <a:xfrm>
            <a:off x="7086755" y="5560638"/>
            <a:ext cx="3180295" cy="646331"/>
          </a:xfrm>
          <a:prstGeom prst="rect">
            <a:avLst/>
          </a:prstGeom>
          <a:noFill/>
        </p:spPr>
        <p:txBody>
          <a:bodyPr wrap="square" rtlCol="0">
            <a:spAutoFit/>
          </a:bodyPr>
          <a:lstStyle/>
          <a:p>
            <a:pPr marL="285750" indent="-285750" algn="just">
              <a:buFont typeface="Arial" panose="020B0604020202020204" pitchFamily="34" charset="0"/>
              <a:buChar char="•"/>
            </a:pPr>
            <a:r>
              <a:rPr lang="en-US" altLang="ja-JP" b="1" spc="-20" dirty="0"/>
              <a:t>button 1</a:t>
            </a:r>
            <a:r>
              <a:rPr lang="ja-JP" altLang="en-US" b="1" spc="-20" dirty="0"/>
              <a:t>：</a:t>
            </a:r>
            <a:r>
              <a:rPr lang="ja-JP" altLang="en-US" spc="-20" dirty="0"/>
              <a:t>ボタン</a:t>
            </a:r>
            <a:r>
              <a:rPr lang="en-US" altLang="ja-JP" spc="-20" dirty="0"/>
              <a:t>1</a:t>
            </a:r>
            <a:r>
              <a:rPr lang="ja-JP" altLang="en-US" spc="-20" dirty="0"/>
              <a:t>の定義</a:t>
            </a:r>
            <a:endParaRPr lang="en-US" altLang="ja-JP" spc="-20" dirty="0"/>
          </a:p>
          <a:p>
            <a:pPr marL="285750" indent="-285750" algn="just">
              <a:buFont typeface="Arial" panose="020B0604020202020204" pitchFamily="34" charset="0"/>
              <a:buChar char="•"/>
            </a:pPr>
            <a:r>
              <a:rPr lang="en-US" altLang="ja-JP" b="1" spc="-20" dirty="0"/>
              <a:t>button 2</a:t>
            </a:r>
            <a:r>
              <a:rPr lang="ja-JP" altLang="en-US" b="1" spc="-20" dirty="0"/>
              <a:t>：</a:t>
            </a:r>
            <a:r>
              <a:rPr lang="ja-JP" altLang="en-US" spc="-20" dirty="0"/>
              <a:t>ボタン</a:t>
            </a:r>
            <a:r>
              <a:rPr lang="en-US" altLang="ja-JP" spc="-20" dirty="0"/>
              <a:t>2</a:t>
            </a:r>
            <a:r>
              <a:rPr lang="ja-JP" altLang="en-US" spc="-20" dirty="0"/>
              <a:t>の定義</a:t>
            </a:r>
            <a:endParaRPr lang="en-US" altLang="ja-JP" spc="-20" dirty="0"/>
          </a:p>
        </p:txBody>
      </p:sp>
      <p:grpSp>
        <p:nvGrpSpPr>
          <p:cNvPr id="12" name="Group 11">
            <a:extLst>
              <a:ext uri="{FF2B5EF4-FFF2-40B4-BE49-F238E27FC236}">
                <a16:creationId xmlns:a16="http://schemas.microsoft.com/office/drawing/2014/main" id="{3E692044-197B-BBBA-4C58-F2D032FAF323}"/>
              </a:ext>
            </a:extLst>
          </p:cNvPr>
          <p:cNvGrpSpPr/>
          <p:nvPr/>
        </p:nvGrpSpPr>
        <p:grpSpPr>
          <a:xfrm>
            <a:off x="6142218" y="2130959"/>
            <a:ext cx="5069370" cy="3221915"/>
            <a:chOff x="5285742" y="1783155"/>
            <a:chExt cx="6373114" cy="4229690"/>
          </a:xfrm>
        </p:grpSpPr>
        <p:pic>
          <p:nvPicPr>
            <p:cNvPr id="13" name="Picture 12">
              <a:extLst>
                <a:ext uri="{FF2B5EF4-FFF2-40B4-BE49-F238E27FC236}">
                  <a16:creationId xmlns:a16="http://schemas.microsoft.com/office/drawing/2014/main" id="{437C3033-BD21-C808-EF80-CF1B725E35C3}"/>
                </a:ext>
              </a:extLst>
            </p:cNvPr>
            <p:cNvPicPr>
              <a:picLocks noChangeAspect="1"/>
            </p:cNvPicPr>
            <p:nvPr/>
          </p:nvPicPr>
          <p:blipFill>
            <a:blip r:embed="rId2"/>
            <a:stretch>
              <a:fillRect/>
            </a:stretch>
          </p:blipFill>
          <p:spPr>
            <a:xfrm>
              <a:off x="5285742" y="1783155"/>
              <a:ext cx="6373114" cy="4229690"/>
            </a:xfrm>
            <a:prstGeom prst="rect">
              <a:avLst/>
            </a:prstGeom>
          </p:spPr>
        </p:pic>
        <p:pic>
          <p:nvPicPr>
            <p:cNvPr id="14" name="Picture 13">
              <a:extLst>
                <a:ext uri="{FF2B5EF4-FFF2-40B4-BE49-F238E27FC236}">
                  <a16:creationId xmlns:a16="http://schemas.microsoft.com/office/drawing/2014/main" id="{4D47CD69-1E16-9185-94E1-7981F5D8EF97}"/>
                </a:ext>
              </a:extLst>
            </p:cNvPr>
            <p:cNvPicPr>
              <a:picLocks noChangeAspect="1"/>
            </p:cNvPicPr>
            <p:nvPr/>
          </p:nvPicPr>
          <p:blipFill>
            <a:blip r:embed="rId3"/>
            <a:stretch>
              <a:fillRect/>
            </a:stretch>
          </p:blipFill>
          <p:spPr>
            <a:xfrm>
              <a:off x="5399980" y="2252054"/>
              <a:ext cx="943107" cy="3658111"/>
            </a:xfrm>
            <a:prstGeom prst="rect">
              <a:avLst/>
            </a:prstGeom>
          </p:spPr>
        </p:pic>
        <p:pic>
          <p:nvPicPr>
            <p:cNvPr id="15" name="Picture 14">
              <a:extLst>
                <a:ext uri="{FF2B5EF4-FFF2-40B4-BE49-F238E27FC236}">
                  <a16:creationId xmlns:a16="http://schemas.microsoft.com/office/drawing/2014/main" id="{6EE56157-9393-5CC0-4265-4C147C9C73DD}"/>
                </a:ext>
              </a:extLst>
            </p:cNvPr>
            <p:cNvPicPr>
              <a:picLocks noChangeAspect="1"/>
            </p:cNvPicPr>
            <p:nvPr/>
          </p:nvPicPr>
          <p:blipFill>
            <a:blip r:embed="rId4"/>
            <a:stretch>
              <a:fillRect/>
            </a:stretch>
          </p:blipFill>
          <p:spPr>
            <a:xfrm>
              <a:off x="6357601" y="2247290"/>
              <a:ext cx="5182323" cy="3667637"/>
            </a:xfrm>
            <a:prstGeom prst="rect">
              <a:avLst/>
            </a:prstGeom>
          </p:spPr>
        </p:pic>
        <p:pic>
          <p:nvPicPr>
            <p:cNvPr id="17" name="Picture 16">
              <a:extLst>
                <a:ext uri="{FF2B5EF4-FFF2-40B4-BE49-F238E27FC236}">
                  <a16:creationId xmlns:a16="http://schemas.microsoft.com/office/drawing/2014/main" id="{643EA90B-35BE-A58C-CF9E-B7529B4A3EAF}"/>
                </a:ext>
              </a:extLst>
            </p:cNvPr>
            <p:cNvPicPr>
              <a:picLocks noChangeAspect="1"/>
            </p:cNvPicPr>
            <p:nvPr/>
          </p:nvPicPr>
          <p:blipFill>
            <a:blip r:embed="rId5"/>
            <a:stretch>
              <a:fillRect/>
            </a:stretch>
          </p:blipFill>
          <p:spPr>
            <a:xfrm>
              <a:off x="6533837" y="2367235"/>
              <a:ext cx="4829849" cy="2800741"/>
            </a:xfrm>
            <a:prstGeom prst="rect">
              <a:avLst/>
            </a:prstGeom>
          </p:spPr>
        </p:pic>
        <p:sp>
          <p:nvSpPr>
            <p:cNvPr id="19" name="Rectangle 18">
              <a:extLst>
                <a:ext uri="{FF2B5EF4-FFF2-40B4-BE49-F238E27FC236}">
                  <a16:creationId xmlns:a16="http://schemas.microsoft.com/office/drawing/2014/main" id="{66B488EF-610C-4CA8-EEE0-24A87ABEB01B}"/>
                </a:ext>
              </a:extLst>
            </p:cNvPr>
            <p:cNvSpPr/>
            <p:nvPr/>
          </p:nvSpPr>
          <p:spPr>
            <a:xfrm>
              <a:off x="6558804" y="5212175"/>
              <a:ext cx="4839375" cy="522024"/>
            </a:xfrm>
            <a:prstGeom prst="rect">
              <a:avLst/>
            </a:prstGeom>
            <a:pattFill prst="pct30">
              <a:fgClr>
                <a:schemeClr val="tx1"/>
              </a:fgClr>
              <a:bgClr>
                <a:srgbClr val="F0F0F0"/>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74E45453-6955-4A57-24B5-DD2B2AE28ACF}"/>
                </a:ext>
              </a:extLst>
            </p:cNvPr>
            <p:cNvPicPr>
              <a:picLocks noChangeAspect="1"/>
            </p:cNvPicPr>
            <p:nvPr/>
          </p:nvPicPr>
          <p:blipFill>
            <a:blip r:embed="rId6"/>
            <a:stretch>
              <a:fillRect/>
            </a:stretch>
          </p:blipFill>
          <p:spPr>
            <a:xfrm>
              <a:off x="6558803" y="5212175"/>
              <a:ext cx="4839375" cy="522042"/>
            </a:xfrm>
            <a:prstGeom prst="rect">
              <a:avLst/>
            </a:prstGeom>
          </p:spPr>
        </p:pic>
        <p:pic>
          <p:nvPicPr>
            <p:cNvPr id="22" name="Picture 21">
              <a:extLst>
                <a:ext uri="{FF2B5EF4-FFF2-40B4-BE49-F238E27FC236}">
                  <a16:creationId xmlns:a16="http://schemas.microsoft.com/office/drawing/2014/main" id="{C4AF2702-980E-4B9B-7BBF-4FF00F9D51B0}"/>
                </a:ext>
              </a:extLst>
            </p:cNvPr>
            <p:cNvPicPr>
              <a:picLocks noChangeAspect="1"/>
            </p:cNvPicPr>
            <p:nvPr/>
          </p:nvPicPr>
          <p:blipFill>
            <a:blip r:embed="rId7"/>
            <a:stretch>
              <a:fillRect/>
            </a:stretch>
          </p:blipFill>
          <p:spPr>
            <a:xfrm>
              <a:off x="10547805" y="5286764"/>
              <a:ext cx="809738" cy="438211"/>
            </a:xfrm>
            <a:prstGeom prst="rect">
              <a:avLst/>
            </a:prstGeom>
          </p:spPr>
        </p:pic>
      </p:grpSp>
    </p:spTree>
    <p:extLst>
      <p:ext uri="{BB962C8B-B14F-4D97-AF65-F5344CB8AC3E}">
        <p14:creationId xmlns:p14="http://schemas.microsoft.com/office/powerpoint/2010/main" val="3117518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2FA44BB-4A87-D020-203A-FF9AD4FBCD32}"/>
              </a:ext>
            </a:extLst>
          </p:cNvPr>
          <p:cNvSpPr>
            <a:spLocks noGrp="1"/>
          </p:cNvSpPr>
          <p:nvPr>
            <p:ph type="body" sz="quarter" idx="11"/>
          </p:nvPr>
        </p:nvSpPr>
        <p:spPr/>
        <p:txBody>
          <a:bodyPr/>
          <a:lstStyle/>
          <a:p>
            <a:r>
              <a:rPr lang="en-US" dirty="0"/>
              <a:t>2-10</a:t>
            </a:r>
            <a:r>
              <a:rPr lang="ja-JP" altLang="en-US" dirty="0"/>
              <a:t>　まとめ</a:t>
            </a:r>
            <a:endParaRPr lang="en-US" dirty="0"/>
          </a:p>
        </p:txBody>
      </p:sp>
      <p:sp>
        <p:nvSpPr>
          <p:cNvPr id="6" name="Text Placeholder 5">
            <a:extLst>
              <a:ext uri="{FF2B5EF4-FFF2-40B4-BE49-F238E27FC236}">
                <a16:creationId xmlns:a16="http://schemas.microsoft.com/office/drawing/2014/main" id="{6BF514CD-E3AE-4BF5-F5D4-EED1FD509032}"/>
              </a:ext>
            </a:extLst>
          </p:cNvPr>
          <p:cNvSpPr>
            <a:spLocks noGrp="1"/>
          </p:cNvSpPr>
          <p:nvPr>
            <p:ph type="body" sz="quarter" idx="13"/>
          </p:nvPr>
        </p:nvSpPr>
        <p:spPr>
          <a:xfrm>
            <a:off x="114444" y="1133475"/>
            <a:ext cx="11963109" cy="3610647"/>
          </a:xfrm>
        </p:spPr>
        <p:txBody>
          <a:bodyPr>
            <a:normAutofit/>
          </a:bodyPr>
          <a:lstStyle/>
          <a:p>
            <a:pPr algn="just"/>
            <a:r>
              <a:rPr lang="en-US" altLang="ja-JP" dirty="0" err="1"/>
              <a:t>Tkinter</a:t>
            </a:r>
            <a:r>
              <a:rPr lang="ja-JP" altLang="en-US" dirty="0"/>
              <a:t>では、</a:t>
            </a:r>
            <a:r>
              <a:rPr lang="en-US" altLang="ja-JP" dirty="0"/>
              <a:t>Qt</a:t>
            </a:r>
            <a:r>
              <a:rPr lang="ja-JP" altLang="en-US" dirty="0"/>
              <a:t>のようなスペーサーがないため、 </a:t>
            </a:r>
          </a:p>
          <a:p>
            <a:pPr marL="682625" lvl="1" indent="-339725" algn="just">
              <a:buFont typeface="Courier New" panose="02070309020205020404" pitchFamily="49" charset="0"/>
              <a:buChar char="o"/>
            </a:pPr>
            <a:r>
              <a:rPr lang="en-US" altLang="ja-JP" sz="2400" dirty="0" err="1"/>
              <a:t>columnconfigure</a:t>
            </a:r>
            <a:r>
              <a:rPr lang="ja-JP" altLang="en-US" sz="2400" dirty="0"/>
              <a:t>と</a:t>
            </a:r>
            <a:r>
              <a:rPr lang="en-US" altLang="ja-JP" sz="2400" dirty="0" err="1"/>
              <a:t>rowconfigure</a:t>
            </a:r>
            <a:r>
              <a:rPr lang="ja-JP" altLang="en-US" sz="2400" dirty="0"/>
              <a:t>の</a:t>
            </a:r>
            <a:r>
              <a:rPr lang="en-US" altLang="ja-JP" sz="2400" dirty="0"/>
              <a:t>weight </a:t>
            </a:r>
            <a:r>
              <a:rPr lang="ja-JP" altLang="en-US" sz="2400" dirty="0"/>
              <a:t>設定 </a:t>
            </a:r>
          </a:p>
          <a:p>
            <a:pPr marL="682625" lvl="1" indent="-339725" algn="just">
              <a:buFont typeface="Courier New" panose="02070309020205020404" pitchFamily="49" charset="0"/>
              <a:buChar char="o"/>
            </a:pPr>
            <a:r>
              <a:rPr lang="en-US" altLang="ja-JP" sz="2400" dirty="0"/>
              <a:t>Window</a:t>
            </a:r>
            <a:r>
              <a:rPr lang="ja-JP" altLang="en-US" sz="2400" dirty="0"/>
              <a:t>や</a:t>
            </a:r>
            <a:r>
              <a:rPr lang="en-US" altLang="ja-JP" sz="2400" dirty="0"/>
              <a:t>Frame</a:t>
            </a:r>
            <a:r>
              <a:rPr lang="ja-JP" altLang="en-US" sz="2400" dirty="0"/>
              <a:t>の</a:t>
            </a:r>
            <a:r>
              <a:rPr lang="en-US" altLang="ja-JP" sz="2400" dirty="0"/>
              <a:t>sticky</a:t>
            </a:r>
            <a:r>
              <a:rPr lang="ja-JP" altLang="en-US" sz="2400" dirty="0"/>
              <a:t>引数の設定 </a:t>
            </a:r>
          </a:p>
          <a:p>
            <a:pPr marL="682625" lvl="1" indent="-339725" algn="just">
              <a:buFont typeface="Courier New" panose="02070309020205020404" pitchFamily="49" charset="0"/>
              <a:buChar char="o"/>
            </a:pPr>
            <a:r>
              <a:rPr lang="ja-JP" altLang="en-US" sz="2400" dirty="0"/>
              <a:t>空の</a:t>
            </a:r>
            <a:r>
              <a:rPr lang="en-US" altLang="ja-JP" sz="2400" dirty="0"/>
              <a:t>Frame</a:t>
            </a:r>
            <a:r>
              <a:rPr lang="ja-JP" altLang="en-US" sz="2400" dirty="0"/>
              <a:t>の利用</a:t>
            </a:r>
          </a:p>
          <a:p>
            <a:pPr marL="174625" indent="0" algn="just">
              <a:buNone/>
            </a:pPr>
            <a:r>
              <a:rPr lang="ja-JP" altLang="en-US" dirty="0"/>
              <a:t>によって、余白を調整することができる。</a:t>
            </a:r>
          </a:p>
          <a:p>
            <a:pPr algn="just"/>
            <a:r>
              <a:rPr lang="en-US" altLang="ja-JP"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部の第</a:t>
            </a:r>
            <a:r>
              <a:rPr lang="en-US" altLang="ja-JP" dirty="0"/>
              <a:t>5</a:t>
            </a:r>
            <a:r>
              <a:rPr lang="ja-JP" altLang="en-US" dirty="0"/>
              <a:t>～</a:t>
            </a:r>
            <a:r>
              <a:rPr lang="en-US" altLang="ja-JP" dirty="0"/>
              <a:t>6</a:t>
            </a:r>
            <a:r>
              <a:rPr lang="ja-JP" altLang="en-US" dirty="0"/>
              <a:t>章では、</a:t>
            </a:r>
            <a:r>
              <a:rPr lang="en-US" altLang="ja-JP" dirty="0"/>
              <a:t>Entry</a:t>
            </a:r>
            <a:r>
              <a:rPr lang="ja-JP" altLang="en-US" dirty="0"/>
              <a:t>の使い方とその他の基礎事項が扱われているので、各自で確認すること。</a:t>
            </a:r>
          </a:p>
          <a:p>
            <a:pPr algn="just"/>
            <a:r>
              <a:rPr lang="ja-JP" altLang="en-US" dirty="0"/>
              <a:t>次のスライドから始まる第</a:t>
            </a:r>
            <a:r>
              <a:rPr lang="en-US" altLang="ja-JP" dirty="0"/>
              <a:t>3</a:t>
            </a:r>
            <a:r>
              <a:rPr lang="ja-JP" altLang="en-US" dirty="0"/>
              <a:t>章では、イベントドリブンと</a:t>
            </a:r>
            <a:r>
              <a:rPr lang="en-US" altLang="ja-JP" dirty="0"/>
              <a:t>GUI</a:t>
            </a:r>
            <a:r>
              <a:rPr lang="ja-JP" altLang="en-US"/>
              <a:t>の連携</a:t>
            </a:r>
            <a:r>
              <a:rPr lang="ja-JP" altLang="en-US" dirty="0"/>
              <a:t>させる方法を体験する。</a:t>
            </a:r>
          </a:p>
        </p:txBody>
      </p:sp>
      <p:sp>
        <p:nvSpPr>
          <p:cNvPr id="4" name="Slide Number Placeholder 3">
            <a:extLst>
              <a:ext uri="{FF2B5EF4-FFF2-40B4-BE49-F238E27FC236}">
                <a16:creationId xmlns:a16="http://schemas.microsoft.com/office/drawing/2014/main" id="{E2210615-4F87-C3DD-005D-14BB027D3486}"/>
              </a:ext>
            </a:extLst>
          </p:cNvPr>
          <p:cNvSpPr>
            <a:spLocks noGrp="1"/>
          </p:cNvSpPr>
          <p:nvPr>
            <p:ph type="sldNum" sz="quarter" idx="15"/>
          </p:nvPr>
        </p:nvSpPr>
        <p:spPr/>
        <p:txBody>
          <a:bodyPr/>
          <a:lstStyle/>
          <a:p>
            <a:fld id="{CBD12358-51D2-46B3-9BDE-DF29528B9454}" type="slidenum">
              <a:rPr lang="en-US" smtClean="0"/>
              <a:pPr/>
              <a:t>27</a:t>
            </a:fld>
            <a:endParaRPr lang="en-US" dirty="0"/>
          </a:p>
        </p:txBody>
      </p:sp>
      <p:sp>
        <p:nvSpPr>
          <p:cNvPr id="2" name="TextBox 1">
            <a:extLst>
              <a:ext uri="{FF2B5EF4-FFF2-40B4-BE49-F238E27FC236}">
                <a16:creationId xmlns:a16="http://schemas.microsoft.com/office/drawing/2014/main" id="{AC6A2A69-EF60-2C75-CA92-65CC5A2DE691}"/>
              </a:ext>
            </a:extLst>
          </p:cNvPr>
          <p:cNvSpPr txBox="1"/>
          <p:nvPr/>
        </p:nvSpPr>
        <p:spPr>
          <a:xfrm>
            <a:off x="10934291" y="6190218"/>
            <a:ext cx="1143262" cy="369332"/>
          </a:xfrm>
          <a:prstGeom prst="rect">
            <a:avLst/>
          </a:prstGeom>
          <a:noFill/>
        </p:spPr>
        <p:txBody>
          <a:bodyPr wrap="none" rtlCol="0">
            <a:spAutoFit/>
          </a:bodyPr>
          <a:lstStyle/>
          <a:p>
            <a:r>
              <a:rPr lang="en-US" dirty="0"/>
              <a:t>15</a:t>
            </a:r>
            <a:r>
              <a:rPr lang="ja-JP" altLang="en-US" dirty="0"/>
              <a:t>分休憩</a:t>
            </a:r>
            <a:endParaRPr lang="en-US" dirty="0"/>
          </a:p>
        </p:txBody>
      </p:sp>
    </p:spTree>
    <p:extLst>
      <p:ext uri="{BB962C8B-B14F-4D97-AF65-F5344CB8AC3E}">
        <p14:creationId xmlns:p14="http://schemas.microsoft.com/office/powerpoint/2010/main" val="403542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D3F1DDE-865A-7D63-A6C4-09020D26E1AA}"/>
              </a:ext>
            </a:extLst>
          </p:cNvPr>
          <p:cNvSpPr/>
          <p:nvPr/>
        </p:nvSpPr>
        <p:spPr>
          <a:xfrm>
            <a:off x="7648444" y="2799356"/>
            <a:ext cx="2293275" cy="18288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882808BF-CD81-1AA3-0493-F45403C0D88B}"/>
              </a:ext>
            </a:extLst>
          </p:cNvPr>
          <p:cNvSpPr>
            <a:spLocks noGrp="1"/>
          </p:cNvSpPr>
          <p:nvPr>
            <p:ph type="body" sz="quarter" idx="11"/>
          </p:nvPr>
        </p:nvSpPr>
        <p:spPr/>
        <p:txBody>
          <a:bodyPr/>
          <a:lstStyle/>
          <a:p>
            <a:r>
              <a:rPr lang="en-US" dirty="0"/>
              <a:t>3-1 </a:t>
            </a:r>
            <a:r>
              <a:rPr lang="ja-JP" altLang="en-US" dirty="0"/>
              <a:t>イベントとハンドラの関数</a:t>
            </a:r>
            <a:endParaRPr lang="en-US" dirty="0"/>
          </a:p>
        </p:txBody>
      </p:sp>
      <p:sp>
        <p:nvSpPr>
          <p:cNvPr id="5" name="Title 4">
            <a:extLst>
              <a:ext uri="{FF2B5EF4-FFF2-40B4-BE49-F238E27FC236}">
                <a16:creationId xmlns:a16="http://schemas.microsoft.com/office/drawing/2014/main" id="{1781F30E-3820-05AB-DB7C-705B43436E33}"/>
              </a:ext>
            </a:extLst>
          </p:cNvPr>
          <p:cNvSpPr>
            <a:spLocks noGrp="1"/>
          </p:cNvSpPr>
          <p:nvPr>
            <p:ph type="title"/>
          </p:nvPr>
        </p:nvSpPr>
        <p:spPr/>
        <p:txBody>
          <a:bodyPr/>
          <a:lstStyle/>
          <a:p>
            <a:r>
              <a:rPr lang="en-US" dirty="0"/>
              <a:t>3 </a:t>
            </a:r>
            <a:r>
              <a:rPr lang="ja-JP" altLang="en-US" dirty="0"/>
              <a:t>ユーザーの操作に対応する</a:t>
            </a:r>
            <a:endParaRPr lang="en-US" dirty="0"/>
          </a:p>
        </p:txBody>
      </p:sp>
      <p:sp>
        <p:nvSpPr>
          <p:cNvPr id="7" name="Text Placeholder 6">
            <a:extLst>
              <a:ext uri="{FF2B5EF4-FFF2-40B4-BE49-F238E27FC236}">
                <a16:creationId xmlns:a16="http://schemas.microsoft.com/office/drawing/2014/main" id="{CD172DE9-7D66-59A0-5EFD-B56D0A9E7697}"/>
              </a:ext>
            </a:extLst>
          </p:cNvPr>
          <p:cNvSpPr>
            <a:spLocks noGrp="1"/>
          </p:cNvSpPr>
          <p:nvPr>
            <p:ph type="body" sz="quarter" idx="13"/>
          </p:nvPr>
        </p:nvSpPr>
        <p:spPr>
          <a:xfrm>
            <a:off x="114444" y="1724025"/>
            <a:ext cx="6343506" cy="4686300"/>
          </a:xfrm>
        </p:spPr>
        <p:txBody>
          <a:bodyPr/>
          <a:lstStyle/>
          <a:p>
            <a:pPr algn="just"/>
            <a:r>
              <a:rPr lang="en-US" altLang="ja-JP" dirty="0" err="1"/>
              <a:t>Tkinter</a:t>
            </a:r>
            <a:r>
              <a:rPr lang="ja-JP" altLang="en-US" dirty="0"/>
              <a:t>では、</a:t>
            </a:r>
            <a:r>
              <a:rPr lang="en-US" altLang="ja-JP" dirty="0"/>
              <a:t>GUI</a:t>
            </a:r>
            <a:r>
              <a:rPr lang="ja-JP" altLang="en-US" dirty="0"/>
              <a:t>に関する操作を行った際（ボタンをクリックするなど）、「イベント」が発生する。</a:t>
            </a:r>
            <a:endParaRPr lang="en-US" altLang="ja-JP" dirty="0"/>
          </a:p>
          <a:p>
            <a:pPr algn="just"/>
            <a:r>
              <a:rPr lang="ja-JP" altLang="en-US" dirty="0"/>
              <a:t>イベントは「ハンドラ」の関数を呼び出して「アクション」を行う。</a:t>
            </a:r>
          </a:p>
          <a:p>
            <a:pPr algn="just"/>
            <a:r>
              <a:rPr lang="ja-JP" altLang="en-US" dirty="0"/>
              <a:t>このやり方は（</a:t>
            </a:r>
            <a:r>
              <a:rPr lang="en-US" altLang="ja-JP" dirty="0"/>
              <a:t>1-2</a:t>
            </a:r>
            <a:r>
              <a:rPr lang="ja-JP" altLang="en-US" dirty="0"/>
              <a:t>）で説明した</a:t>
            </a:r>
            <a:r>
              <a:rPr lang="ja-JP" altLang="en-US" dirty="0">
                <a:solidFill>
                  <a:srgbClr val="D67D61"/>
                </a:solidFill>
              </a:rPr>
              <a:t>イベント駆動型プログラミング</a:t>
            </a:r>
            <a:r>
              <a:rPr lang="ja-JP" altLang="en-US" dirty="0"/>
              <a:t>である。</a:t>
            </a:r>
            <a:endParaRPr lang="en-US" altLang="ja-JP" dirty="0"/>
          </a:p>
          <a:p>
            <a:pPr algn="just"/>
            <a:endParaRPr lang="en-US" altLang="ja-JP" dirty="0"/>
          </a:p>
          <a:p>
            <a:pPr marL="0" indent="0" algn="just">
              <a:buNone/>
            </a:pPr>
            <a:endParaRPr lang="en-US" altLang="ja-JP" dirty="0"/>
          </a:p>
          <a:p>
            <a:pPr marL="0" indent="0" algn="just">
              <a:buNone/>
            </a:pPr>
            <a:r>
              <a:rPr lang="ja-JP" altLang="en-US" dirty="0"/>
              <a:t>練習</a:t>
            </a:r>
            <a:r>
              <a:rPr lang="en-US" altLang="ja-JP" dirty="0"/>
              <a:t>7</a:t>
            </a:r>
            <a:r>
              <a:rPr lang="ja-JP" altLang="en-US" dirty="0"/>
              <a:t>：右側のコードのハンドラ関数を編集してみよ。</a:t>
            </a:r>
            <a:endParaRPr lang="en-US" altLang="ja-JP" dirty="0"/>
          </a:p>
        </p:txBody>
      </p:sp>
      <p:sp>
        <p:nvSpPr>
          <p:cNvPr id="4" name="Slide Number Placeholder 3">
            <a:extLst>
              <a:ext uri="{FF2B5EF4-FFF2-40B4-BE49-F238E27FC236}">
                <a16:creationId xmlns:a16="http://schemas.microsoft.com/office/drawing/2014/main" id="{EAD7940F-408D-085B-D575-27885576EE8B}"/>
              </a:ext>
            </a:extLst>
          </p:cNvPr>
          <p:cNvSpPr>
            <a:spLocks noGrp="1"/>
          </p:cNvSpPr>
          <p:nvPr>
            <p:ph type="sldNum" sz="quarter" idx="15"/>
          </p:nvPr>
        </p:nvSpPr>
        <p:spPr/>
        <p:txBody>
          <a:bodyPr/>
          <a:lstStyle/>
          <a:p>
            <a:fld id="{CBD12358-51D2-46B3-9BDE-DF29528B9454}" type="slidenum">
              <a:rPr lang="en-US" smtClean="0"/>
              <a:pPr/>
              <a:t>28</a:t>
            </a:fld>
            <a:endParaRPr lang="en-US" dirty="0"/>
          </a:p>
        </p:txBody>
      </p:sp>
      <p:sp>
        <p:nvSpPr>
          <p:cNvPr id="9" name="TextBox 8">
            <a:extLst>
              <a:ext uri="{FF2B5EF4-FFF2-40B4-BE49-F238E27FC236}">
                <a16:creationId xmlns:a16="http://schemas.microsoft.com/office/drawing/2014/main" id="{BBD38E82-8302-142A-0820-4ECDCAC8E5E2}"/>
              </a:ext>
            </a:extLst>
          </p:cNvPr>
          <p:cNvSpPr txBox="1"/>
          <p:nvPr/>
        </p:nvSpPr>
        <p:spPr>
          <a:xfrm>
            <a:off x="7237106" y="1821150"/>
            <a:ext cx="4224233" cy="4524315"/>
          </a:xfrm>
          <a:prstGeom prst="rect">
            <a:avLst/>
          </a:prstGeom>
          <a:noFill/>
          <a:ln>
            <a:solidFill>
              <a:schemeClr val="tx1"/>
            </a:solidFill>
          </a:ln>
        </p:spPr>
        <p:txBody>
          <a:bodyPr wrap="none" rtlCol="0">
            <a:spAutoFit/>
          </a:bodyPr>
          <a:lstStyle/>
          <a:p>
            <a:pPr>
              <a:buNone/>
            </a:pPr>
            <a:r>
              <a:rPr lang="en-US" sz="1200" b="0" dirty="0">
                <a:effectLst/>
                <a:latin typeface="Consolas" panose="020B0609020204030204" pitchFamily="49" charset="0"/>
              </a:rPr>
              <a:t>import </a:t>
            </a:r>
            <a:r>
              <a:rPr lang="en-US" sz="1200" b="0" dirty="0" err="1">
                <a:effectLst/>
                <a:latin typeface="Consolas" panose="020B0609020204030204" pitchFamily="49" charset="0"/>
              </a:rPr>
              <a:t>tkinter</a:t>
            </a:r>
            <a:r>
              <a:rPr lang="en-US" sz="1200" b="0" dirty="0">
                <a:effectLst/>
                <a:latin typeface="Consolas" panose="020B0609020204030204" pitchFamily="49" charset="0"/>
              </a:rPr>
              <a:t> as </a:t>
            </a:r>
            <a:r>
              <a:rPr lang="en-US" sz="1200" b="0" dirty="0" err="1">
                <a:effectLst/>
                <a:latin typeface="Consolas" panose="020B0609020204030204" pitchFamily="49" charset="0"/>
              </a:rPr>
              <a:t>tk</a:t>
            </a:r>
            <a:endParaRPr lang="en-US" sz="1200" b="0" dirty="0">
              <a:effectLst/>
              <a:latin typeface="Consolas" panose="020B0609020204030204" pitchFamily="49" charset="0"/>
            </a:endParaRPr>
          </a:p>
          <a:p>
            <a:pPr>
              <a:buNone/>
            </a:pPr>
            <a:endParaRPr lang="en-US" sz="1200" b="0" dirty="0">
              <a:effectLst/>
              <a:latin typeface="Consolas" panose="020B0609020204030204" pitchFamily="49" charset="0"/>
            </a:endParaRPr>
          </a:p>
          <a:p>
            <a:pPr>
              <a:buNone/>
            </a:pPr>
            <a:r>
              <a:rPr lang="en-US" sz="1200" b="0" dirty="0">
                <a:solidFill>
                  <a:schemeClr val="bg1"/>
                </a:solidFill>
                <a:effectLst/>
                <a:highlight>
                  <a:srgbClr val="76B29F"/>
                </a:highlight>
                <a:latin typeface="Consolas" panose="020B0609020204030204" pitchFamily="49" charset="0"/>
              </a:rPr>
              <a:t># </a:t>
            </a:r>
            <a:r>
              <a:rPr lang="ja-JP" altLang="en-US" sz="1200" b="0" dirty="0">
                <a:solidFill>
                  <a:schemeClr val="bg1"/>
                </a:solidFill>
                <a:effectLst/>
                <a:highlight>
                  <a:srgbClr val="76B29F"/>
                </a:highlight>
                <a:latin typeface="Consolas" panose="020B0609020204030204" pitchFamily="49" charset="0"/>
              </a:rPr>
              <a:t>ハンドラ</a:t>
            </a:r>
          </a:p>
          <a:p>
            <a:pPr>
              <a:buNone/>
            </a:pPr>
            <a:r>
              <a:rPr lang="en-US" sz="1200" b="0" dirty="0">
                <a:effectLst/>
                <a:latin typeface="Consolas" panose="020B0609020204030204" pitchFamily="49" charset="0"/>
              </a:rPr>
              <a:t>def </a:t>
            </a:r>
            <a:r>
              <a:rPr lang="en-US" sz="1200" b="0" dirty="0" err="1">
                <a:effectLst/>
                <a:latin typeface="Consolas" panose="020B0609020204030204" pitchFamily="49" charset="0"/>
              </a:rPr>
              <a:t>say_hello</a:t>
            </a:r>
            <a:r>
              <a:rPr lang="en-US" sz="1200" b="0" dirty="0">
                <a:effectLst/>
                <a:latin typeface="Consolas" panose="020B0609020204030204" pitchFamily="49" charset="0"/>
              </a:rPr>
              <a:t>():</a:t>
            </a:r>
          </a:p>
          <a:p>
            <a:pPr>
              <a:buNone/>
            </a:pPr>
            <a:r>
              <a:rPr lang="en-US" sz="1200" b="0" dirty="0">
                <a:effectLst/>
                <a:latin typeface="Consolas" panose="020B0609020204030204" pitchFamily="49" charset="0"/>
              </a:rPr>
              <a:t>    </a:t>
            </a:r>
            <a:r>
              <a:rPr lang="en-US" sz="1200" b="0" dirty="0">
                <a:solidFill>
                  <a:schemeClr val="bg1"/>
                </a:solidFill>
                <a:effectLst/>
                <a:highlight>
                  <a:srgbClr val="BB5863"/>
                </a:highlight>
                <a:latin typeface="Consolas" panose="020B0609020204030204" pitchFamily="49" charset="0"/>
              </a:rPr>
              <a:t># </a:t>
            </a:r>
            <a:r>
              <a:rPr lang="ja-JP" altLang="en-US" sz="1200" b="0" dirty="0">
                <a:solidFill>
                  <a:schemeClr val="bg1"/>
                </a:solidFill>
                <a:effectLst/>
                <a:highlight>
                  <a:srgbClr val="BB5863"/>
                </a:highlight>
                <a:latin typeface="Consolas" panose="020B0609020204030204" pitchFamily="49" charset="0"/>
              </a:rPr>
              <a:t>アクション</a:t>
            </a:r>
          </a:p>
          <a:p>
            <a:pPr>
              <a:buNone/>
            </a:pPr>
            <a:r>
              <a:rPr lang="ja-JP" altLang="en-US" sz="1200" b="0" dirty="0">
                <a:effectLst/>
                <a:latin typeface="Consolas" panose="020B0609020204030204" pitchFamily="49" charset="0"/>
              </a:rPr>
              <a:t>    </a:t>
            </a:r>
            <a:r>
              <a:rPr lang="en-US" sz="1200" b="0" dirty="0" err="1">
                <a:effectLst/>
                <a:latin typeface="Consolas" panose="020B0609020204030204" pitchFamily="49" charset="0"/>
              </a:rPr>
              <a:t>label.config</a:t>
            </a:r>
            <a:r>
              <a:rPr lang="en-US" sz="1200" b="0" dirty="0">
                <a:effectLst/>
                <a:latin typeface="Consolas" panose="020B0609020204030204" pitchFamily="49" charset="0"/>
              </a:rPr>
              <a:t>(text="Hello!")</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 GUI</a:t>
            </a:r>
            <a:r>
              <a:rPr lang="ja-JP" altLang="en-US" sz="1200" b="0" dirty="0">
                <a:effectLst/>
                <a:latin typeface="Consolas" panose="020B0609020204030204" pitchFamily="49" charset="0"/>
              </a:rPr>
              <a:t>の初期化</a:t>
            </a:r>
          </a:p>
          <a:p>
            <a:pPr>
              <a:buNone/>
            </a:pPr>
            <a:r>
              <a:rPr lang="en-US" sz="1200" b="0" dirty="0">
                <a:effectLst/>
                <a:latin typeface="Consolas" panose="020B0609020204030204" pitchFamily="49" charset="0"/>
              </a:rPr>
              <a:t>root = </a:t>
            </a:r>
            <a:r>
              <a:rPr lang="en-US" sz="1200" b="0" dirty="0" err="1">
                <a:effectLst/>
                <a:latin typeface="Consolas" panose="020B0609020204030204" pitchFamily="49" charset="0"/>
              </a:rPr>
              <a:t>tk.Tk</a:t>
            </a:r>
            <a:r>
              <a:rPr lang="en-US" sz="1200" b="0" dirty="0">
                <a:effectLst/>
                <a:latin typeface="Consolas" panose="020B0609020204030204" pitchFamily="49" charset="0"/>
              </a:rPr>
              <a:t>()</a:t>
            </a:r>
          </a:p>
          <a:p>
            <a:pPr>
              <a:buNone/>
            </a:pPr>
            <a:r>
              <a:rPr lang="en-US" sz="1200" b="0" dirty="0" err="1">
                <a:effectLst/>
                <a:latin typeface="Consolas" panose="020B0609020204030204" pitchFamily="49" charset="0"/>
              </a:rPr>
              <a:t>root.geometry</a:t>
            </a:r>
            <a:r>
              <a:rPr lang="en-US" sz="1200" b="0" dirty="0">
                <a:effectLst/>
                <a:latin typeface="Consolas" panose="020B0609020204030204" pitchFamily="49" charset="0"/>
              </a:rPr>
              <a:t>("300x100")</a:t>
            </a:r>
          </a:p>
          <a:p>
            <a:pPr>
              <a:buNone/>
            </a:pPr>
            <a:r>
              <a:rPr lang="en-US" sz="1200" b="0" dirty="0" err="1">
                <a:effectLst/>
                <a:latin typeface="Consolas" panose="020B0609020204030204" pitchFamily="49" charset="0"/>
              </a:rPr>
              <a:t>root.title</a:t>
            </a:r>
            <a:r>
              <a:rPr lang="en-US" sz="1200" b="0" dirty="0">
                <a:effectLst/>
                <a:latin typeface="Consolas" panose="020B0609020204030204" pitchFamily="49" charset="0"/>
              </a:rPr>
              <a:t>("Demo")</a:t>
            </a:r>
          </a:p>
          <a:p>
            <a:pPr>
              <a:buNone/>
            </a:pPr>
            <a:r>
              <a:rPr lang="en-US" sz="1200" b="0" dirty="0" err="1">
                <a:effectLst/>
                <a:latin typeface="Consolas" panose="020B0609020204030204" pitchFamily="49" charset="0"/>
              </a:rPr>
              <a:t>root.columnconfigure</a:t>
            </a:r>
            <a:r>
              <a:rPr lang="en-US" sz="1200" b="0" dirty="0">
                <a:effectLst/>
                <a:latin typeface="Consolas" panose="020B0609020204030204" pitchFamily="49" charset="0"/>
              </a:rPr>
              <a:t>(0, weight=1)</a:t>
            </a:r>
          </a:p>
          <a:p>
            <a:pPr>
              <a:buNone/>
            </a:pPr>
            <a:r>
              <a:rPr lang="en-US" sz="1200" b="0" dirty="0">
                <a:effectLst/>
                <a:latin typeface="Consolas" panose="020B0609020204030204" pitchFamily="49" charset="0"/>
              </a:rPr>
              <a:t>label = </a:t>
            </a:r>
            <a:r>
              <a:rPr lang="en-US" sz="1200" b="0" dirty="0" err="1">
                <a:effectLst/>
                <a:latin typeface="Consolas" panose="020B0609020204030204" pitchFamily="49" charset="0"/>
              </a:rPr>
              <a:t>tk.Label</a:t>
            </a:r>
            <a:r>
              <a:rPr lang="en-US" sz="1200" b="0" dirty="0">
                <a:effectLst/>
                <a:latin typeface="Consolas" panose="020B0609020204030204" pitchFamily="49" charset="0"/>
              </a:rPr>
              <a:t>(root, text="Press the button")</a:t>
            </a:r>
          </a:p>
          <a:p>
            <a:pPr>
              <a:buNone/>
            </a:pPr>
            <a:r>
              <a:rPr lang="en-US" sz="1200" b="0" dirty="0" err="1">
                <a:effectLst/>
                <a:latin typeface="Consolas" panose="020B0609020204030204" pitchFamily="49" charset="0"/>
              </a:rPr>
              <a:t>label.grid</a:t>
            </a:r>
            <a:r>
              <a:rPr lang="en-US" sz="1200" b="0" dirty="0">
                <a:effectLst/>
                <a:latin typeface="Consolas" panose="020B0609020204030204" pitchFamily="49" charset="0"/>
              </a:rPr>
              <a:t>(row=0, column=0)</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button = </a:t>
            </a:r>
            <a:r>
              <a:rPr lang="en-US" sz="1200" b="0" dirty="0" err="1">
                <a:effectLst/>
                <a:latin typeface="Consolas" panose="020B0609020204030204" pitchFamily="49" charset="0"/>
              </a:rPr>
              <a:t>tk.Button</a:t>
            </a:r>
            <a:r>
              <a:rPr lang="en-US" sz="1200" b="0" dirty="0">
                <a:effectLst/>
                <a:latin typeface="Consolas" panose="020B0609020204030204" pitchFamily="49" charset="0"/>
              </a:rPr>
              <a:t>(</a:t>
            </a:r>
          </a:p>
          <a:p>
            <a:pPr>
              <a:buNone/>
            </a:pPr>
            <a:r>
              <a:rPr lang="en-US" sz="1200" b="0" dirty="0">
                <a:effectLst/>
                <a:latin typeface="Consolas" panose="020B0609020204030204" pitchFamily="49" charset="0"/>
              </a:rPr>
              <a:t>    root,</a:t>
            </a:r>
          </a:p>
          <a:p>
            <a:pPr>
              <a:buNone/>
            </a:pPr>
            <a:r>
              <a:rPr lang="en-US" sz="1200" b="0" dirty="0">
                <a:effectLst/>
                <a:latin typeface="Consolas" panose="020B0609020204030204" pitchFamily="49" charset="0"/>
              </a:rPr>
              <a:t>    text="Click me",</a:t>
            </a:r>
          </a:p>
          <a:p>
            <a:pPr>
              <a:buNone/>
            </a:pPr>
            <a:r>
              <a:rPr lang="en-US" sz="1200" b="0" dirty="0">
                <a:effectLst/>
                <a:latin typeface="Consolas" panose="020B0609020204030204" pitchFamily="49" charset="0"/>
              </a:rPr>
              <a:t>    command=</a:t>
            </a:r>
            <a:r>
              <a:rPr lang="en-US" sz="1200" b="0" dirty="0" err="1">
                <a:effectLst/>
                <a:latin typeface="Consolas" panose="020B0609020204030204" pitchFamily="49" charset="0"/>
              </a:rPr>
              <a:t>say_hello</a:t>
            </a:r>
            <a:r>
              <a:rPr lang="en-US" sz="1200" b="0" dirty="0">
                <a:effectLst/>
                <a:latin typeface="Consolas" panose="020B0609020204030204" pitchFamily="49" charset="0"/>
              </a:rPr>
              <a:t> </a:t>
            </a:r>
            <a:r>
              <a:rPr lang="en-US" sz="1200" b="0" dirty="0">
                <a:solidFill>
                  <a:schemeClr val="bg1"/>
                </a:solidFill>
                <a:effectLst/>
                <a:highlight>
                  <a:srgbClr val="4A82A5"/>
                </a:highlight>
                <a:latin typeface="Consolas" panose="020B0609020204030204" pitchFamily="49" charset="0"/>
              </a:rPr>
              <a:t># </a:t>
            </a:r>
            <a:r>
              <a:rPr lang="ja-JP" altLang="en-US" sz="1200" b="0" dirty="0">
                <a:solidFill>
                  <a:schemeClr val="bg1"/>
                </a:solidFill>
                <a:effectLst/>
                <a:highlight>
                  <a:srgbClr val="4A82A5"/>
                </a:highlight>
                <a:latin typeface="Consolas" panose="020B0609020204030204" pitchFamily="49" charset="0"/>
              </a:rPr>
              <a:t>イベント：ボタンをクリック</a:t>
            </a:r>
          </a:p>
          <a:p>
            <a:pPr>
              <a:buNone/>
            </a:pPr>
            <a:r>
              <a:rPr lang="en-US" altLang="ja-JP" sz="1200" b="0" dirty="0">
                <a:effectLst/>
                <a:latin typeface="Consolas" panose="020B0609020204030204" pitchFamily="49" charset="0"/>
              </a:rPr>
              <a:t>)</a:t>
            </a:r>
          </a:p>
          <a:p>
            <a:pPr>
              <a:buNone/>
            </a:pPr>
            <a:r>
              <a:rPr lang="en-US" sz="1200" b="0" dirty="0" err="1">
                <a:effectLst/>
                <a:latin typeface="Consolas" panose="020B0609020204030204" pitchFamily="49" charset="0"/>
              </a:rPr>
              <a:t>button.grid</a:t>
            </a:r>
            <a:r>
              <a:rPr lang="en-US" sz="1200" b="0" dirty="0">
                <a:effectLst/>
                <a:latin typeface="Consolas" panose="020B0609020204030204" pitchFamily="49" charset="0"/>
              </a:rPr>
              <a:t>(row=1, column=0)</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 </a:t>
            </a:r>
            <a:r>
              <a:rPr lang="ja-JP" altLang="en-US" sz="1200" b="0" dirty="0">
                <a:effectLst/>
                <a:latin typeface="Consolas" panose="020B0609020204030204" pitchFamily="49" charset="0"/>
              </a:rPr>
              <a:t>イベントループ</a:t>
            </a:r>
          </a:p>
          <a:p>
            <a:pPr>
              <a:buNone/>
            </a:pPr>
            <a:r>
              <a:rPr lang="en-US" sz="1200" b="0" dirty="0" err="1">
                <a:effectLst/>
                <a:latin typeface="Consolas" panose="020B0609020204030204" pitchFamily="49" charset="0"/>
              </a:rPr>
              <a:t>root.mainloop</a:t>
            </a:r>
            <a:r>
              <a:rPr lang="en-US" sz="1200" b="0" dirty="0">
                <a:effectLst/>
                <a:latin typeface="Consolas" panose="020B0609020204030204" pitchFamily="49" charset="0"/>
              </a:rPr>
              <a:t>()</a:t>
            </a:r>
          </a:p>
        </p:txBody>
      </p:sp>
      <p:sp>
        <p:nvSpPr>
          <p:cNvPr id="12" name="Rectangle 11">
            <a:extLst>
              <a:ext uri="{FF2B5EF4-FFF2-40B4-BE49-F238E27FC236}">
                <a16:creationId xmlns:a16="http://schemas.microsoft.com/office/drawing/2014/main" id="{B80432BC-680C-CD54-CE33-1B4396E6DC75}"/>
              </a:ext>
            </a:extLst>
          </p:cNvPr>
          <p:cNvSpPr/>
          <p:nvPr/>
        </p:nvSpPr>
        <p:spPr>
          <a:xfrm>
            <a:off x="11276517" y="5173382"/>
            <a:ext cx="91440" cy="1828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BE61EBA-6F63-AEFE-3321-882C89932A67}"/>
              </a:ext>
            </a:extLst>
          </p:cNvPr>
          <p:cNvSpPr/>
          <p:nvPr/>
        </p:nvSpPr>
        <p:spPr>
          <a:xfrm>
            <a:off x="8057067" y="2235197"/>
            <a:ext cx="91440" cy="1828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Connector: Elbow 15">
            <a:extLst>
              <a:ext uri="{FF2B5EF4-FFF2-40B4-BE49-F238E27FC236}">
                <a16:creationId xmlns:a16="http://schemas.microsoft.com/office/drawing/2014/main" id="{EECECC10-3C3A-856C-FAC0-11F7B30F5E96}"/>
              </a:ext>
            </a:extLst>
          </p:cNvPr>
          <p:cNvCxnSpPr>
            <a:cxnSpLocks/>
            <a:stCxn id="12" idx="3"/>
            <a:endCxn id="14" idx="3"/>
          </p:cNvCxnSpPr>
          <p:nvPr/>
        </p:nvCxnSpPr>
        <p:spPr>
          <a:xfrm flipH="1" flipV="1">
            <a:off x="8148507" y="2326637"/>
            <a:ext cx="3219450" cy="2938185"/>
          </a:xfrm>
          <a:prstGeom prst="bentConnector3">
            <a:avLst>
              <a:gd name="adj1" fmla="val -710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B76DE1C-6CC7-F996-9557-17B3027B5820}"/>
              </a:ext>
            </a:extLst>
          </p:cNvPr>
          <p:cNvCxnSpPr/>
          <p:nvPr/>
        </p:nvCxnSpPr>
        <p:spPr>
          <a:xfrm flipV="1">
            <a:off x="6457950" y="2982236"/>
            <a:ext cx="1190494" cy="237402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2146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fade">
                                      <p:cBhvr>
                                        <p:cTn id="13"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95A29DB-C51A-6AB7-761C-2878E78F69DE}"/>
              </a:ext>
            </a:extLst>
          </p:cNvPr>
          <p:cNvSpPr/>
          <p:nvPr/>
        </p:nvSpPr>
        <p:spPr>
          <a:xfrm>
            <a:off x="10927556" y="2295524"/>
            <a:ext cx="873920" cy="176213"/>
          </a:xfrm>
          <a:prstGeom prst="rect">
            <a:avLst/>
          </a:prstGeom>
          <a:solidFill>
            <a:srgbClr val="4F9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6112DA6-3D88-4B54-B960-0FEBFCDBAD06}"/>
              </a:ext>
            </a:extLst>
          </p:cNvPr>
          <p:cNvSpPr/>
          <p:nvPr/>
        </p:nvSpPr>
        <p:spPr>
          <a:xfrm>
            <a:off x="9753599" y="2295524"/>
            <a:ext cx="1019175" cy="17621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563D807F-6FA0-CCE4-F89F-2D83D36A1D32}"/>
              </a:ext>
            </a:extLst>
          </p:cNvPr>
          <p:cNvSpPr>
            <a:spLocks noGrp="1"/>
          </p:cNvSpPr>
          <p:nvPr>
            <p:ph type="body" sz="quarter" idx="11"/>
          </p:nvPr>
        </p:nvSpPr>
        <p:spPr/>
        <p:txBody>
          <a:bodyPr/>
          <a:lstStyle/>
          <a:p>
            <a:r>
              <a:rPr lang="en-US" dirty="0"/>
              <a:t>3-2</a:t>
            </a:r>
            <a:r>
              <a:rPr lang="ja-JP" altLang="en-US" dirty="0"/>
              <a:t>　メッセージボックスの使い方</a:t>
            </a:r>
            <a:endParaRPr lang="en-US" dirty="0"/>
          </a:p>
        </p:txBody>
      </p:sp>
      <p:sp>
        <p:nvSpPr>
          <p:cNvPr id="7" name="Text Placeholder 6">
            <a:extLst>
              <a:ext uri="{FF2B5EF4-FFF2-40B4-BE49-F238E27FC236}">
                <a16:creationId xmlns:a16="http://schemas.microsoft.com/office/drawing/2014/main" id="{5FC948E1-591F-2092-7DF7-85012EBEDDB7}"/>
              </a:ext>
            </a:extLst>
          </p:cNvPr>
          <p:cNvSpPr>
            <a:spLocks noGrp="1"/>
          </p:cNvSpPr>
          <p:nvPr>
            <p:ph type="body" sz="quarter" idx="13"/>
          </p:nvPr>
        </p:nvSpPr>
        <p:spPr>
          <a:xfrm>
            <a:off x="114444" y="1133474"/>
            <a:ext cx="7377553" cy="4498069"/>
          </a:xfrm>
        </p:spPr>
        <p:txBody>
          <a:bodyPr>
            <a:noAutofit/>
          </a:bodyPr>
          <a:lstStyle/>
          <a:p>
            <a:pPr algn="just"/>
            <a:r>
              <a:rPr lang="ja-JP" altLang="en-US" dirty="0"/>
              <a:t>ハンドラ関数を使ってメッセージボックスを表示することも可能である。</a:t>
            </a:r>
            <a:endParaRPr lang="en-US" altLang="ja-JP" dirty="0"/>
          </a:p>
          <a:p>
            <a:pPr algn="dist"/>
            <a:r>
              <a:rPr lang="ja-JP" altLang="en-US" dirty="0"/>
              <a:t>まず、</a:t>
            </a:r>
            <a:r>
              <a:rPr lang="en-US" altLang="ja-JP" dirty="0" err="1"/>
              <a:t>Tkinter</a:t>
            </a:r>
            <a:r>
              <a:rPr lang="ja-JP" altLang="en-US" dirty="0"/>
              <a:t>から「</a:t>
            </a:r>
            <a:r>
              <a:rPr lang="en-US" altLang="ja-JP" dirty="0" err="1"/>
              <a:t>messagebox</a:t>
            </a:r>
            <a:r>
              <a:rPr lang="ja-JP" altLang="en-US" dirty="0"/>
              <a:t>」をインポートし、</a:t>
            </a:r>
            <a:endParaRPr lang="en-US" altLang="ja-JP" dirty="0"/>
          </a:p>
          <a:p>
            <a:pPr indent="0" algn="just">
              <a:buNone/>
            </a:pPr>
            <a:r>
              <a:rPr lang="ja-JP" altLang="en-US" dirty="0"/>
              <a:t>ハンドラ関数内で「</a:t>
            </a:r>
            <a:r>
              <a:rPr lang="en-US" altLang="ja-JP" dirty="0" err="1"/>
              <a:t>showinfo</a:t>
            </a:r>
            <a:r>
              <a:rPr lang="ja-JP" altLang="en-US" dirty="0"/>
              <a:t>」関数を使用する。</a:t>
            </a:r>
            <a:endParaRPr lang="en-US" altLang="ja-JP" dirty="0"/>
          </a:p>
          <a:p>
            <a:pPr algn="just"/>
            <a:r>
              <a:rPr lang="en-US" altLang="ja-JP" dirty="0" err="1"/>
              <a:t>showinfo</a:t>
            </a:r>
            <a:r>
              <a:rPr lang="ja-JP" altLang="en-US" dirty="0"/>
              <a:t>関数に</a:t>
            </a:r>
            <a:endParaRPr lang="en-US" altLang="ja-JP" dirty="0"/>
          </a:p>
          <a:p>
            <a:pPr marL="742950" lvl="1" indent="-400050" algn="just">
              <a:buFont typeface="Courier New" panose="02070309020205020404" pitchFamily="49" charset="0"/>
              <a:buChar char="o"/>
            </a:pPr>
            <a:r>
              <a:rPr lang="en-US" altLang="ja-JP" sz="2400" dirty="0"/>
              <a:t>1</a:t>
            </a:r>
            <a:r>
              <a:rPr lang="ja-JP" altLang="en-US" sz="2400" dirty="0"/>
              <a:t>番目の引数にはメッセージボックスのウィンドウタイトルを設定し、</a:t>
            </a:r>
            <a:endParaRPr lang="en-US" altLang="ja-JP" sz="2400" dirty="0"/>
          </a:p>
          <a:p>
            <a:pPr marL="742950" lvl="1" indent="-400050" algn="just">
              <a:buFont typeface="Courier New" panose="02070309020205020404" pitchFamily="49" charset="0"/>
              <a:buChar char="o"/>
            </a:pPr>
            <a:r>
              <a:rPr lang="en-US" altLang="ja-JP" sz="2400" dirty="0"/>
              <a:t>2</a:t>
            </a:r>
            <a:r>
              <a:rPr lang="ja-JP" altLang="en-US" sz="2400" dirty="0"/>
              <a:t>番目の引数には表示したいメッセージを指定する。</a:t>
            </a:r>
            <a:endParaRPr lang="en-US" altLang="ja-JP" sz="2400" dirty="0"/>
          </a:p>
          <a:p>
            <a:pPr algn="just"/>
            <a:r>
              <a:rPr lang="ja-JP" altLang="en-US" dirty="0"/>
              <a:t>ハンドラ関数は、ボタンの「</a:t>
            </a:r>
            <a:r>
              <a:rPr lang="en-US" altLang="ja-JP" dirty="0"/>
              <a:t>command</a:t>
            </a:r>
            <a:r>
              <a:rPr lang="ja-JP" altLang="en-US" dirty="0"/>
              <a:t>」から呼び出される。</a:t>
            </a:r>
            <a:endParaRPr lang="en-US" altLang="ja-JP" dirty="0"/>
          </a:p>
          <a:p>
            <a:pPr algn="just"/>
            <a:endParaRPr lang="en-US" altLang="ja-JP" dirty="0"/>
          </a:p>
        </p:txBody>
      </p:sp>
      <p:sp>
        <p:nvSpPr>
          <p:cNvPr id="5" name="Slide Number Placeholder 4">
            <a:extLst>
              <a:ext uri="{FF2B5EF4-FFF2-40B4-BE49-F238E27FC236}">
                <a16:creationId xmlns:a16="http://schemas.microsoft.com/office/drawing/2014/main" id="{6BA13947-0386-F71C-B4F4-44472EB649D3}"/>
              </a:ext>
            </a:extLst>
          </p:cNvPr>
          <p:cNvSpPr>
            <a:spLocks noGrp="1"/>
          </p:cNvSpPr>
          <p:nvPr>
            <p:ph type="sldNum" sz="quarter" idx="15"/>
          </p:nvPr>
        </p:nvSpPr>
        <p:spPr/>
        <p:txBody>
          <a:bodyPr/>
          <a:lstStyle/>
          <a:p>
            <a:fld id="{CBD12358-51D2-46B3-9BDE-DF29528B9454}" type="slidenum">
              <a:rPr lang="en-US" smtClean="0"/>
              <a:pPr/>
              <a:t>29</a:t>
            </a:fld>
            <a:endParaRPr lang="en-US" dirty="0"/>
          </a:p>
        </p:txBody>
      </p:sp>
      <p:sp>
        <p:nvSpPr>
          <p:cNvPr id="9" name="TextBox 8">
            <a:extLst>
              <a:ext uri="{FF2B5EF4-FFF2-40B4-BE49-F238E27FC236}">
                <a16:creationId xmlns:a16="http://schemas.microsoft.com/office/drawing/2014/main" id="{086A7478-EA45-DCD7-2B3A-687553E03207}"/>
              </a:ext>
            </a:extLst>
          </p:cNvPr>
          <p:cNvSpPr txBox="1"/>
          <p:nvPr/>
        </p:nvSpPr>
        <p:spPr>
          <a:xfrm>
            <a:off x="7646779" y="1325076"/>
            <a:ext cx="4368504" cy="4893647"/>
          </a:xfrm>
          <a:prstGeom prst="rect">
            <a:avLst/>
          </a:prstGeom>
          <a:noFill/>
          <a:ln>
            <a:solidFill>
              <a:schemeClr val="tx1"/>
            </a:solidFill>
          </a:ln>
        </p:spPr>
        <p:txBody>
          <a:bodyPr wrap="none" rtlCol="0">
            <a:spAutoFit/>
          </a:bodyPr>
          <a:lstStyle/>
          <a:p>
            <a:r>
              <a:rPr lang="en-US" sz="1200" dirty="0">
                <a:highlight>
                  <a:srgbClr val="FFFF00"/>
                </a:highlight>
                <a:latin typeface="Consolas" panose="020B0609020204030204" pitchFamily="49" charset="0"/>
              </a:rPr>
              <a:t>from </a:t>
            </a:r>
            <a:r>
              <a:rPr lang="en-US" sz="1200" dirty="0" err="1">
                <a:highlight>
                  <a:srgbClr val="FFFF00"/>
                </a:highlight>
                <a:latin typeface="Consolas" panose="020B0609020204030204" pitchFamily="49" charset="0"/>
              </a:rPr>
              <a:t>tkinter</a:t>
            </a:r>
            <a:r>
              <a:rPr lang="en-US" sz="1200" dirty="0">
                <a:highlight>
                  <a:srgbClr val="FFFF00"/>
                </a:highlight>
                <a:latin typeface="Consolas" panose="020B0609020204030204" pitchFamily="49" charset="0"/>
              </a:rPr>
              <a:t> import </a:t>
            </a:r>
            <a:r>
              <a:rPr lang="en-US" sz="1200" dirty="0" err="1">
                <a:highlight>
                  <a:srgbClr val="FFFF00"/>
                </a:highlight>
                <a:latin typeface="Consolas" panose="020B0609020204030204" pitchFamily="49" charset="0"/>
              </a:rPr>
              <a:t>messagebox</a:t>
            </a:r>
            <a:endParaRPr lang="en-US" sz="1200" b="0" dirty="0">
              <a:effectLst/>
              <a:highlight>
                <a:srgbClr val="FFFF00"/>
              </a:highlight>
              <a:latin typeface="Consolas" panose="020B0609020204030204" pitchFamily="49" charset="0"/>
            </a:endParaRPr>
          </a:p>
          <a:p>
            <a:pPr>
              <a:buNone/>
            </a:pPr>
            <a:r>
              <a:rPr lang="en-US" sz="1200" b="0" dirty="0">
                <a:effectLst/>
                <a:latin typeface="Consolas" panose="020B0609020204030204" pitchFamily="49" charset="0"/>
              </a:rPr>
              <a:t>import </a:t>
            </a:r>
            <a:r>
              <a:rPr lang="en-US" sz="1200" b="0" dirty="0" err="1">
                <a:effectLst/>
                <a:latin typeface="Consolas" panose="020B0609020204030204" pitchFamily="49" charset="0"/>
              </a:rPr>
              <a:t>tkinter</a:t>
            </a:r>
            <a:r>
              <a:rPr lang="en-US" sz="1200" b="0" dirty="0">
                <a:effectLst/>
                <a:latin typeface="Consolas" panose="020B0609020204030204" pitchFamily="49" charset="0"/>
              </a:rPr>
              <a:t> as </a:t>
            </a:r>
            <a:r>
              <a:rPr lang="en-US" sz="1200" b="0" dirty="0" err="1">
                <a:effectLst/>
                <a:latin typeface="Consolas" panose="020B0609020204030204" pitchFamily="49" charset="0"/>
              </a:rPr>
              <a:t>tk</a:t>
            </a:r>
            <a:endParaRPr lang="en-US" sz="1200" b="0" dirty="0">
              <a:effectLst/>
              <a:latin typeface="Consolas" panose="020B0609020204030204" pitchFamily="49" charset="0"/>
            </a:endParaRPr>
          </a:p>
          <a:p>
            <a:pPr>
              <a:buNone/>
            </a:pPr>
            <a:endParaRPr lang="en-US" sz="1200" b="0" dirty="0">
              <a:effectLst/>
              <a:latin typeface="Consolas" panose="020B0609020204030204" pitchFamily="49" charset="0"/>
            </a:endParaRPr>
          </a:p>
          <a:p>
            <a:pPr>
              <a:buNone/>
            </a:pPr>
            <a:r>
              <a:rPr lang="en-US" sz="1200" b="0" dirty="0">
                <a:effectLst/>
                <a:highlight>
                  <a:srgbClr val="FFFF00"/>
                </a:highlight>
                <a:latin typeface="Consolas" panose="020B0609020204030204" pitchFamily="49" charset="0"/>
              </a:rPr>
              <a:t># </a:t>
            </a:r>
            <a:r>
              <a:rPr lang="ja-JP" altLang="en-US" sz="1200" b="0" dirty="0">
                <a:effectLst/>
                <a:highlight>
                  <a:srgbClr val="FFFF00"/>
                </a:highlight>
                <a:latin typeface="Consolas" panose="020B0609020204030204" pitchFamily="49" charset="0"/>
              </a:rPr>
              <a:t>ハンドラ関数</a:t>
            </a:r>
          </a:p>
          <a:p>
            <a:pPr>
              <a:buNone/>
            </a:pPr>
            <a:r>
              <a:rPr lang="en-US" sz="1200" b="0" dirty="0">
                <a:effectLst/>
                <a:highlight>
                  <a:srgbClr val="FFFF00"/>
                </a:highlight>
                <a:latin typeface="Consolas" panose="020B0609020204030204" pitchFamily="49" charset="0"/>
              </a:rPr>
              <a:t>def morning():</a:t>
            </a:r>
          </a:p>
          <a:p>
            <a:pPr>
              <a:buNone/>
            </a:pPr>
            <a:r>
              <a:rPr lang="en-US" sz="1200" b="0" dirty="0">
                <a:effectLst/>
                <a:latin typeface="Consolas" panose="020B0609020204030204" pitchFamily="49" charset="0"/>
              </a:rPr>
              <a:t>    </a:t>
            </a:r>
            <a:r>
              <a:rPr lang="en-US" sz="1200" b="0" dirty="0" err="1">
                <a:effectLst/>
                <a:highlight>
                  <a:srgbClr val="FFFF00"/>
                </a:highlight>
                <a:latin typeface="Consolas" panose="020B0609020204030204" pitchFamily="49" charset="0"/>
              </a:rPr>
              <a:t>messagebox.showinfo</a:t>
            </a:r>
            <a:r>
              <a:rPr lang="en-US" sz="1200" b="0" dirty="0">
                <a:effectLst/>
                <a:latin typeface="Consolas" panose="020B0609020204030204" pitchFamily="49" charset="0"/>
              </a:rPr>
              <a:t>(</a:t>
            </a:r>
            <a:r>
              <a:rPr lang="en-US" sz="1200" b="0" dirty="0">
                <a:solidFill>
                  <a:schemeClr val="bg1"/>
                </a:solidFill>
                <a:effectLst/>
                <a:latin typeface="Consolas" panose="020B0609020204030204" pitchFamily="49" charset="0"/>
              </a:rPr>
              <a:t>“6:00~10:30</a:t>
            </a:r>
            <a:r>
              <a:rPr lang="en-US" altLang="ja-JP" sz="1200" b="0" dirty="0">
                <a:solidFill>
                  <a:schemeClr val="bg1"/>
                </a:solidFill>
                <a:effectLst/>
                <a:latin typeface="Consolas" panose="020B0609020204030204" pitchFamily="49" charset="0"/>
              </a:rPr>
              <a:t>”</a:t>
            </a:r>
            <a:r>
              <a:rPr lang="en-US" altLang="ja-JP" sz="1200" b="0" dirty="0">
                <a:effectLst/>
                <a:latin typeface="Consolas" panose="020B0609020204030204" pitchFamily="49" charset="0"/>
              </a:rPr>
              <a:t>, </a:t>
            </a:r>
            <a:r>
              <a:rPr lang="en-US" altLang="ja-JP" sz="1200" b="0" dirty="0">
                <a:solidFill>
                  <a:schemeClr val="bg1"/>
                </a:solidFill>
                <a:effectLst/>
                <a:latin typeface="Consolas" panose="020B0609020204030204" pitchFamily="49" charset="0"/>
              </a:rPr>
              <a:t>“</a:t>
            </a:r>
            <a:r>
              <a:rPr lang="ja-JP" altLang="en-US" sz="1200" b="0" dirty="0">
                <a:solidFill>
                  <a:schemeClr val="bg1"/>
                </a:solidFill>
                <a:effectLst/>
                <a:latin typeface="Consolas" panose="020B0609020204030204" pitchFamily="49" charset="0"/>
              </a:rPr>
              <a:t>おはよう</a:t>
            </a:r>
            <a:r>
              <a:rPr lang="en-US" altLang="ja-JP" sz="1200" b="0" dirty="0">
                <a:solidFill>
                  <a:schemeClr val="bg1"/>
                </a:solidFill>
                <a:effectLst/>
                <a:latin typeface="Consolas" panose="020B0609020204030204" pitchFamily="49" charset="0"/>
              </a:rPr>
              <a:t>!"</a:t>
            </a:r>
            <a:r>
              <a:rPr lang="en-US" altLang="ja-JP" sz="1200" b="0" dirty="0">
                <a:effectLst/>
                <a:latin typeface="Consolas" panose="020B0609020204030204" pitchFamily="49" charset="0"/>
              </a:rPr>
              <a:t>)</a:t>
            </a:r>
          </a:p>
          <a:p>
            <a:pPr>
              <a:buNone/>
            </a:pPr>
            <a:endParaRPr lang="en-US" altLang="ja-JP" sz="1200" b="0" dirty="0">
              <a:effectLst/>
              <a:latin typeface="Consolas" panose="020B0609020204030204" pitchFamily="49" charset="0"/>
            </a:endParaRPr>
          </a:p>
          <a:p>
            <a:pPr>
              <a:buNone/>
            </a:pPr>
            <a:r>
              <a:rPr lang="en-US" sz="1200" b="0" dirty="0">
                <a:effectLst/>
                <a:latin typeface="Consolas" panose="020B0609020204030204" pitchFamily="49" charset="0"/>
              </a:rPr>
              <a:t>root = </a:t>
            </a:r>
            <a:r>
              <a:rPr lang="en-US" sz="1200" b="0" dirty="0" err="1">
                <a:effectLst/>
                <a:latin typeface="Consolas" panose="020B0609020204030204" pitchFamily="49" charset="0"/>
              </a:rPr>
              <a:t>tk.Tk</a:t>
            </a:r>
            <a:r>
              <a:rPr lang="en-US" sz="1200" b="0" dirty="0">
                <a:effectLst/>
                <a:latin typeface="Consolas" panose="020B0609020204030204" pitchFamily="49" charset="0"/>
              </a:rPr>
              <a:t>()</a:t>
            </a:r>
          </a:p>
          <a:p>
            <a:pPr>
              <a:buNone/>
            </a:pPr>
            <a:r>
              <a:rPr lang="en-US" sz="1200" b="0" dirty="0" err="1">
                <a:effectLst/>
                <a:latin typeface="Consolas" panose="020B0609020204030204" pitchFamily="49" charset="0"/>
              </a:rPr>
              <a:t>root.title</a:t>
            </a:r>
            <a:r>
              <a:rPr lang="en-US" sz="1200" b="0" dirty="0">
                <a:effectLst/>
                <a:latin typeface="Consolas" panose="020B0609020204030204" pitchFamily="49" charset="0"/>
              </a:rPr>
              <a:t>(</a:t>
            </a:r>
            <a:r>
              <a:rPr lang="ja-JP" altLang="en-US" sz="1200" dirty="0">
                <a:latin typeface="Consolas" panose="020B0609020204030204" pitchFamily="49" charset="0"/>
              </a:rPr>
              <a:t>“</a:t>
            </a:r>
            <a:r>
              <a:rPr lang="ja-JP" altLang="en-US" sz="1200" b="0" dirty="0">
                <a:effectLst/>
                <a:latin typeface="Consolas" panose="020B0609020204030204" pitchFamily="49" charset="0"/>
              </a:rPr>
              <a:t>イベントドリブン</a:t>
            </a:r>
            <a:r>
              <a:rPr lang="en-US" altLang="ja-JP" sz="1200" b="0" dirty="0">
                <a:effectLst/>
                <a:latin typeface="Consolas" panose="020B0609020204030204" pitchFamily="49" charset="0"/>
              </a:rPr>
              <a:t>”)</a:t>
            </a:r>
          </a:p>
          <a:p>
            <a:pPr>
              <a:buNone/>
            </a:pPr>
            <a:r>
              <a:rPr lang="en-US" sz="1200" b="0" dirty="0" err="1">
                <a:effectLst/>
                <a:latin typeface="Consolas" panose="020B0609020204030204" pitchFamily="49" charset="0"/>
              </a:rPr>
              <a:t>root.geometry</a:t>
            </a:r>
            <a:r>
              <a:rPr lang="en-US" sz="1200" b="0" dirty="0">
                <a:effectLst/>
                <a:latin typeface="Consolas" panose="020B0609020204030204" pitchFamily="49" charset="0"/>
              </a:rPr>
              <a:t>("250x120")</a:t>
            </a:r>
          </a:p>
          <a:p>
            <a:pPr>
              <a:buNone/>
            </a:pPr>
            <a:endParaRPr lang="en-US" sz="1200" b="0" dirty="0">
              <a:effectLst/>
              <a:latin typeface="Consolas" panose="020B0609020204030204" pitchFamily="49" charset="0"/>
            </a:endParaRPr>
          </a:p>
          <a:p>
            <a:pPr>
              <a:buNone/>
            </a:pPr>
            <a:r>
              <a:rPr lang="en-US" sz="1200" b="0" dirty="0" err="1">
                <a:effectLst/>
                <a:latin typeface="Consolas" panose="020B0609020204030204" pitchFamily="49" charset="0"/>
              </a:rPr>
              <a:t>root.columnconfigure</a:t>
            </a:r>
            <a:r>
              <a:rPr lang="en-US" sz="1200" b="0" dirty="0">
                <a:effectLst/>
                <a:latin typeface="Consolas" panose="020B0609020204030204" pitchFamily="49" charset="0"/>
              </a:rPr>
              <a:t>(0, weight=1)</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 </a:t>
            </a:r>
            <a:r>
              <a:rPr lang="ja-JP" altLang="en-US" sz="1200" b="0" dirty="0">
                <a:effectLst/>
                <a:latin typeface="Consolas" panose="020B0609020204030204" pitchFamily="49" charset="0"/>
              </a:rPr>
              <a:t>ラベル</a:t>
            </a:r>
          </a:p>
          <a:p>
            <a:pPr>
              <a:buNone/>
            </a:pPr>
            <a:r>
              <a:rPr lang="en-US" sz="1200" b="0" dirty="0">
                <a:effectLst/>
                <a:latin typeface="Consolas" panose="020B0609020204030204" pitchFamily="49" charset="0"/>
              </a:rPr>
              <a:t>label = </a:t>
            </a:r>
            <a:r>
              <a:rPr lang="en-US" sz="1200" b="0" dirty="0" err="1">
                <a:effectLst/>
                <a:latin typeface="Consolas" panose="020B0609020204030204" pitchFamily="49" charset="0"/>
              </a:rPr>
              <a:t>tk.Label</a:t>
            </a:r>
            <a:r>
              <a:rPr lang="en-US" sz="1200" b="0" dirty="0">
                <a:effectLst/>
                <a:latin typeface="Consolas" panose="020B0609020204030204" pitchFamily="49" charset="0"/>
              </a:rPr>
              <a:t>(root, text="Press the button")</a:t>
            </a:r>
          </a:p>
          <a:p>
            <a:pPr>
              <a:buNone/>
            </a:pPr>
            <a:r>
              <a:rPr lang="en-US" sz="1200" b="0" dirty="0" err="1">
                <a:effectLst/>
                <a:latin typeface="Consolas" panose="020B0609020204030204" pitchFamily="49" charset="0"/>
              </a:rPr>
              <a:t>label.grid</a:t>
            </a:r>
            <a:r>
              <a:rPr lang="en-US" sz="1200" b="0" dirty="0">
                <a:effectLst/>
                <a:latin typeface="Consolas" panose="020B0609020204030204" pitchFamily="49" charset="0"/>
              </a:rPr>
              <a:t>(row=0, column=0)</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 Button</a:t>
            </a:r>
            <a:r>
              <a:rPr lang="ja-JP" altLang="en-US" sz="1200" b="0" dirty="0">
                <a:effectLst/>
                <a:latin typeface="Consolas" panose="020B0609020204030204" pitchFamily="49" charset="0"/>
              </a:rPr>
              <a:t>ウィジェットの生成と配置</a:t>
            </a:r>
          </a:p>
          <a:p>
            <a:pPr>
              <a:buNone/>
            </a:pPr>
            <a:r>
              <a:rPr lang="en-US" sz="1200" b="0" dirty="0" err="1">
                <a:effectLst/>
                <a:latin typeface="Consolas" panose="020B0609020204030204" pitchFamily="49" charset="0"/>
              </a:rPr>
              <a:t>button_morning</a:t>
            </a:r>
            <a:r>
              <a:rPr lang="en-US" sz="1200" b="0" dirty="0">
                <a:effectLst/>
                <a:latin typeface="Consolas" panose="020B0609020204030204" pitchFamily="49" charset="0"/>
              </a:rPr>
              <a:t> = tk. Button(</a:t>
            </a:r>
          </a:p>
          <a:p>
            <a:pPr>
              <a:buNone/>
            </a:pPr>
            <a:r>
              <a:rPr lang="en-US" sz="1200" b="0" dirty="0">
                <a:effectLst/>
                <a:latin typeface="Consolas" panose="020B0609020204030204" pitchFamily="49" charset="0"/>
              </a:rPr>
              <a:t>    root,</a:t>
            </a:r>
          </a:p>
          <a:p>
            <a:pPr>
              <a:buNone/>
            </a:pPr>
            <a:r>
              <a:rPr lang="en-US" sz="1200" b="0" dirty="0">
                <a:effectLst/>
                <a:latin typeface="Consolas" panose="020B0609020204030204" pitchFamily="49" charset="0"/>
              </a:rPr>
              <a:t>    text=“</a:t>
            </a:r>
            <a:r>
              <a:rPr lang="ja-JP" altLang="en-US" sz="1200" dirty="0">
                <a:latin typeface="Consolas" panose="020B0609020204030204" pitchFamily="49" charset="0"/>
              </a:rPr>
              <a:t>おはよう</a:t>
            </a:r>
            <a:r>
              <a:rPr lang="en-US" altLang="ja-JP" sz="1200" b="0" dirty="0">
                <a:effectLst/>
                <a:latin typeface="Consolas" panose="020B0609020204030204" pitchFamily="49" charset="0"/>
              </a:rPr>
              <a:t>",</a:t>
            </a:r>
          </a:p>
          <a:p>
            <a:pPr>
              <a:buNone/>
            </a:pPr>
            <a:r>
              <a:rPr lang="en-US" altLang="ja-JP" sz="1200" b="0" dirty="0">
                <a:effectLst/>
                <a:latin typeface="Consolas" panose="020B0609020204030204" pitchFamily="49" charset="0"/>
              </a:rPr>
              <a:t>    </a:t>
            </a:r>
            <a:r>
              <a:rPr lang="en-US" sz="1200" b="0" dirty="0">
                <a:effectLst/>
                <a:latin typeface="Consolas" panose="020B0609020204030204" pitchFamily="49" charset="0"/>
              </a:rPr>
              <a:t>command=</a:t>
            </a:r>
            <a:r>
              <a:rPr lang="en-US" sz="1200" b="0" dirty="0">
                <a:effectLst/>
                <a:highlight>
                  <a:srgbClr val="FFFF00"/>
                </a:highlight>
                <a:latin typeface="Consolas" panose="020B0609020204030204" pitchFamily="49" charset="0"/>
              </a:rPr>
              <a:t>morning</a:t>
            </a:r>
          </a:p>
          <a:p>
            <a:pPr>
              <a:buNone/>
            </a:pPr>
            <a:r>
              <a:rPr lang="en-US" sz="1200" b="0" dirty="0">
                <a:effectLst/>
                <a:latin typeface="Consolas" panose="020B0609020204030204" pitchFamily="49" charset="0"/>
              </a:rPr>
              <a:t>)</a:t>
            </a:r>
          </a:p>
          <a:p>
            <a:pPr>
              <a:buNone/>
            </a:pPr>
            <a:r>
              <a:rPr lang="en-US" sz="1200" dirty="0" err="1">
                <a:latin typeface="Consolas" panose="020B0609020204030204" pitchFamily="49" charset="0"/>
              </a:rPr>
              <a:t>button_morning.</a:t>
            </a:r>
            <a:r>
              <a:rPr lang="en-US" sz="1200" b="0" dirty="0" err="1">
                <a:effectLst/>
                <a:latin typeface="Consolas" panose="020B0609020204030204" pitchFamily="49" charset="0"/>
              </a:rPr>
              <a:t>grid</a:t>
            </a:r>
            <a:r>
              <a:rPr lang="en-US" sz="1200" b="0" dirty="0">
                <a:effectLst/>
                <a:latin typeface="Consolas" panose="020B0609020204030204" pitchFamily="49" charset="0"/>
              </a:rPr>
              <a:t>(row=1, column=0)</a:t>
            </a:r>
          </a:p>
          <a:p>
            <a:pPr>
              <a:buNone/>
            </a:pPr>
            <a:endParaRPr lang="en-US" sz="1200" b="0" dirty="0">
              <a:effectLst/>
              <a:latin typeface="Consolas" panose="020B0609020204030204" pitchFamily="49" charset="0"/>
            </a:endParaRPr>
          </a:p>
          <a:p>
            <a:pPr>
              <a:buNone/>
            </a:pPr>
            <a:r>
              <a:rPr lang="en-US" sz="1200" b="0" dirty="0" err="1">
                <a:effectLst/>
                <a:latin typeface="Consolas" panose="020B0609020204030204" pitchFamily="49" charset="0"/>
              </a:rPr>
              <a:t>root.mainloop</a:t>
            </a:r>
            <a:r>
              <a:rPr lang="en-US" sz="1200" b="0" dirty="0">
                <a:effectLst/>
                <a:latin typeface="Consolas" panose="020B0609020204030204" pitchFamily="49" charset="0"/>
              </a:rPr>
              <a:t>()</a:t>
            </a:r>
          </a:p>
        </p:txBody>
      </p:sp>
    </p:spTree>
    <p:extLst>
      <p:ext uri="{BB962C8B-B14F-4D97-AF65-F5344CB8AC3E}">
        <p14:creationId xmlns:p14="http://schemas.microsoft.com/office/powerpoint/2010/main" val="335088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fade">
                                      <p:cBhvr>
                                        <p:cTn id="18" dur="500"/>
                                        <p:tgtEl>
                                          <p:spTgt spid="9">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500"/>
                                        <p:tgtEl>
                                          <p:spTgt spid="9">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fade">
                                      <p:cBhvr>
                                        <p:cTn id="24" dur="500"/>
                                        <p:tgtEl>
                                          <p:spTgt spid="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500"/>
                                        <p:tgtEl>
                                          <p:spTgt spid="7">
                                            <p:txEl>
                                              <p:pRg st="3" end="3"/>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fade">
                                      <p:cBhvr>
                                        <p:cTn id="32" dur="500"/>
                                        <p:tgtEl>
                                          <p:spTgt spid="7">
                                            <p:txEl>
                                              <p:pRg st="4" end="4"/>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fade">
                                      <p:cBhvr>
                                        <p:cTn id="40" dur="500"/>
                                        <p:tgtEl>
                                          <p:spTgt spid="7">
                                            <p:txEl>
                                              <p:pRg st="5" end="5"/>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
                                            <p:txEl>
                                              <p:pRg st="6" end="6"/>
                                            </p:txEl>
                                          </p:spTgt>
                                        </p:tgtEl>
                                        <p:attrNameLst>
                                          <p:attrName>style.visibility</p:attrName>
                                        </p:attrNameLst>
                                      </p:cBhvr>
                                      <p:to>
                                        <p:strVal val="visible"/>
                                      </p:to>
                                    </p:set>
                                    <p:animEffect transition="in" filter="fade">
                                      <p:cBhvr>
                                        <p:cTn id="48" dur="500"/>
                                        <p:tgtEl>
                                          <p:spTgt spid="7">
                                            <p:txEl>
                                              <p:pRg st="6" end="6"/>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9">
                                            <p:txEl>
                                              <p:pRg st="21" end="21"/>
                                            </p:txEl>
                                          </p:spTgt>
                                        </p:tgtEl>
                                        <p:attrNameLst>
                                          <p:attrName>style.visibility</p:attrName>
                                        </p:attrNameLst>
                                      </p:cBhvr>
                                      <p:to>
                                        <p:strVal val="visible"/>
                                      </p:to>
                                    </p:set>
                                    <p:animEffect transition="in" filter="fade">
                                      <p:cBhvr>
                                        <p:cTn id="51" dur="500"/>
                                        <p:tgtEl>
                                          <p:spTgt spid="9">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8605A2-203C-A374-EF3A-4252D8C37E79}"/>
              </a:ext>
            </a:extLst>
          </p:cNvPr>
          <p:cNvSpPr>
            <a:spLocks noGrp="1"/>
          </p:cNvSpPr>
          <p:nvPr>
            <p:ph type="body" sz="quarter" idx="11"/>
          </p:nvPr>
        </p:nvSpPr>
        <p:spPr/>
        <p:txBody>
          <a:bodyPr/>
          <a:lstStyle/>
          <a:p>
            <a:r>
              <a:rPr lang="en-US" dirty="0"/>
              <a:t>3-3</a:t>
            </a:r>
            <a:r>
              <a:rPr lang="ja-JP" altLang="en-US" dirty="0"/>
              <a:t>　メッセージボックスの練習</a:t>
            </a:r>
            <a:endParaRPr lang="en-US" dirty="0"/>
          </a:p>
        </p:txBody>
      </p:sp>
      <p:sp>
        <p:nvSpPr>
          <p:cNvPr id="3" name="Text Placeholder 2">
            <a:extLst>
              <a:ext uri="{FF2B5EF4-FFF2-40B4-BE49-F238E27FC236}">
                <a16:creationId xmlns:a16="http://schemas.microsoft.com/office/drawing/2014/main" id="{27959186-0D6A-D064-C5DB-09A460960A48}"/>
              </a:ext>
            </a:extLst>
          </p:cNvPr>
          <p:cNvSpPr>
            <a:spLocks noGrp="1"/>
          </p:cNvSpPr>
          <p:nvPr>
            <p:ph type="body" sz="quarter" idx="13"/>
          </p:nvPr>
        </p:nvSpPr>
        <p:spPr>
          <a:xfrm>
            <a:off x="114444" y="1133475"/>
            <a:ext cx="11963109" cy="698500"/>
          </a:xfrm>
        </p:spPr>
        <p:txBody>
          <a:bodyPr>
            <a:normAutofit lnSpcReduction="10000"/>
          </a:bodyPr>
          <a:lstStyle/>
          <a:p>
            <a:pPr marL="0" indent="0" algn="just">
              <a:buNone/>
            </a:pPr>
            <a:r>
              <a:rPr lang="ja-JP" altLang="en-US" dirty="0"/>
              <a:t>練習</a:t>
            </a:r>
            <a:r>
              <a:rPr lang="en-US" altLang="ja-JP" dirty="0"/>
              <a:t>8</a:t>
            </a:r>
            <a:r>
              <a:rPr lang="ja-JP" altLang="en-US" dirty="0"/>
              <a:t>：練習</a:t>
            </a:r>
            <a:r>
              <a:rPr lang="en-US" altLang="ja-JP" dirty="0"/>
              <a:t>7</a:t>
            </a:r>
            <a:r>
              <a:rPr lang="ja-JP" altLang="en-US" dirty="0"/>
              <a:t>のコードに</a:t>
            </a:r>
            <a:r>
              <a:rPr lang="en-US" altLang="ja-JP" dirty="0"/>
              <a:t>2</a:t>
            </a:r>
            <a:r>
              <a:rPr lang="ja-JP" altLang="en-US" dirty="0"/>
              <a:t>つのボタン（こんにちはとこんばんはのボタン）を追加してみよ。ヒントはリスト</a:t>
            </a:r>
            <a:r>
              <a:rPr lang="en-US" altLang="ja-JP" dirty="0"/>
              <a:t>2</a:t>
            </a:r>
            <a:r>
              <a:rPr lang="ja-JP" altLang="en-US" dirty="0"/>
              <a:t>（</a:t>
            </a:r>
            <a:r>
              <a:rPr lang="en-US" altLang="ja-JP" dirty="0"/>
              <a:t>p. 54</a:t>
            </a:r>
            <a:r>
              <a:rPr lang="ja-JP" altLang="en-US" dirty="0"/>
              <a:t>）をすること。</a:t>
            </a:r>
            <a:endParaRPr lang="en-US" altLang="ja-JP" dirty="0"/>
          </a:p>
        </p:txBody>
      </p:sp>
      <p:sp>
        <p:nvSpPr>
          <p:cNvPr id="4" name="Slide Number Placeholder 3">
            <a:extLst>
              <a:ext uri="{FF2B5EF4-FFF2-40B4-BE49-F238E27FC236}">
                <a16:creationId xmlns:a16="http://schemas.microsoft.com/office/drawing/2014/main" id="{DBDA6EF4-4D9C-A1ED-F34E-821BE120F834}"/>
              </a:ext>
            </a:extLst>
          </p:cNvPr>
          <p:cNvSpPr>
            <a:spLocks noGrp="1"/>
          </p:cNvSpPr>
          <p:nvPr>
            <p:ph type="sldNum" sz="quarter" idx="15"/>
          </p:nvPr>
        </p:nvSpPr>
        <p:spPr/>
        <p:txBody>
          <a:bodyPr/>
          <a:lstStyle/>
          <a:p>
            <a:fld id="{CBD12358-51D2-46B3-9BDE-DF29528B9454}" type="slidenum">
              <a:rPr lang="en-US" smtClean="0"/>
              <a:pPr/>
              <a:t>30</a:t>
            </a:fld>
            <a:endParaRPr lang="en-US" dirty="0"/>
          </a:p>
        </p:txBody>
      </p:sp>
      <p:pic>
        <p:nvPicPr>
          <p:cNvPr id="12" name="Picture 11">
            <a:extLst>
              <a:ext uri="{FF2B5EF4-FFF2-40B4-BE49-F238E27FC236}">
                <a16:creationId xmlns:a16="http://schemas.microsoft.com/office/drawing/2014/main" id="{B0A8E45E-BF57-DBA7-E47A-05E424ED13C8}"/>
              </a:ext>
            </a:extLst>
          </p:cNvPr>
          <p:cNvPicPr>
            <a:picLocks noChangeAspect="1"/>
          </p:cNvPicPr>
          <p:nvPr/>
        </p:nvPicPr>
        <p:blipFill>
          <a:blip r:embed="rId2"/>
          <a:stretch>
            <a:fillRect/>
          </a:stretch>
        </p:blipFill>
        <p:spPr>
          <a:xfrm>
            <a:off x="2816172" y="2229757"/>
            <a:ext cx="6559652" cy="3725387"/>
          </a:xfrm>
          <a:prstGeom prst="rect">
            <a:avLst/>
          </a:prstGeom>
        </p:spPr>
      </p:pic>
      <p:sp>
        <p:nvSpPr>
          <p:cNvPr id="14" name="TextBox 13">
            <a:extLst>
              <a:ext uri="{FF2B5EF4-FFF2-40B4-BE49-F238E27FC236}">
                <a16:creationId xmlns:a16="http://schemas.microsoft.com/office/drawing/2014/main" id="{E9994651-0941-6D77-D3EE-2563296E8828}"/>
              </a:ext>
            </a:extLst>
          </p:cNvPr>
          <p:cNvSpPr txBox="1"/>
          <p:nvPr/>
        </p:nvSpPr>
        <p:spPr>
          <a:xfrm>
            <a:off x="114444" y="6066972"/>
            <a:ext cx="9014006" cy="369332"/>
          </a:xfrm>
          <a:prstGeom prst="rect">
            <a:avLst/>
          </a:prstGeom>
          <a:noFill/>
        </p:spPr>
        <p:txBody>
          <a:bodyPr wrap="none" rtlCol="0">
            <a:spAutoFit/>
          </a:bodyPr>
          <a:lstStyle/>
          <a:p>
            <a:r>
              <a:rPr lang="en-US" altLang="ja-JP" dirty="0"/>
              <a:t>※ </a:t>
            </a:r>
            <a:r>
              <a:rPr lang="ja-JP" altLang="en-US" dirty="0"/>
              <a:t>ハンドラ関数をうまく活用することで（計算など）、いろいろな処理が使える。</a:t>
            </a:r>
            <a:endParaRPr lang="en-US" dirty="0"/>
          </a:p>
        </p:txBody>
      </p:sp>
    </p:spTree>
    <p:extLst>
      <p:ext uri="{BB962C8B-B14F-4D97-AF65-F5344CB8AC3E}">
        <p14:creationId xmlns:p14="http://schemas.microsoft.com/office/powerpoint/2010/main" val="330842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BF5EF9-147D-3DF8-982C-E464DC04A577}"/>
              </a:ext>
            </a:extLst>
          </p:cNvPr>
          <p:cNvSpPr>
            <a:spLocks noGrp="1"/>
          </p:cNvSpPr>
          <p:nvPr>
            <p:ph type="body" sz="quarter" idx="11"/>
          </p:nvPr>
        </p:nvSpPr>
        <p:spPr/>
        <p:txBody>
          <a:bodyPr/>
          <a:lstStyle/>
          <a:p>
            <a:r>
              <a:rPr lang="en-US" dirty="0"/>
              <a:t>3-4</a:t>
            </a:r>
            <a:r>
              <a:rPr lang="ja-JP" altLang="en-US" dirty="0"/>
              <a:t>　</a:t>
            </a:r>
            <a:r>
              <a:rPr lang="en-US" altLang="ja-JP" dirty="0"/>
              <a:t>bind</a:t>
            </a:r>
            <a:r>
              <a:rPr lang="ja-JP" altLang="en-US" dirty="0"/>
              <a:t>関数</a:t>
            </a:r>
            <a:endParaRPr lang="en-US" dirty="0"/>
          </a:p>
        </p:txBody>
      </p:sp>
      <p:sp>
        <p:nvSpPr>
          <p:cNvPr id="3" name="Text Placeholder 2">
            <a:extLst>
              <a:ext uri="{FF2B5EF4-FFF2-40B4-BE49-F238E27FC236}">
                <a16:creationId xmlns:a16="http://schemas.microsoft.com/office/drawing/2014/main" id="{B72B0681-E2D5-0197-D731-1555743AC3C2}"/>
              </a:ext>
            </a:extLst>
          </p:cNvPr>
          <p:cNvSpPr>
            <a:spLocks noGrp="1"/>
          </p:cNvSpPr>
          <p:nvPr>
            <p:ph type="body" sz="quarter" idx="13"/>
          </p:nvPr>
        </p:nvSpPr>
        <p:spPr>
          <a:xfrm>
            <a:off x="114445" y="1133475"/>
            <a:ext cx="5321156" cy="5276850"/>
          </a:xfrm>
        </p:spPr>
        <p:txBody>
          <a:bodyPr/>
          <a:lstStyle/>
          <a:p>
            <a:pPr algn="just"/>
            <a:r>
              <a:rPr lang="en-US" altLang="ja-JP" dirty="0"/>
              <a:t>bind</a:t>
            </a:r>
            <a:r>
              <a:rPr lang="ja-JP" altLang="en-US" dirty="0"/>
              <a:t>関数を使うと、キー入力やマウス操作などのイベントに処理を割り当てることができます。</a:t>
            </a:r>
            <a:endParaRPr lang="en-US" altLang="ja-JP" dirty="0"/>
          </a:p>
          <a:p>
            <a:pPr algn="just"/>
            <a:r>
              <a:rPr lang="ja-JP" altLang="en-US" dirty="0"/>
              <a:t>この例では、</a:t>
            </a:r>
            <a:r>
              <a:rPr lang="en-US" altLang="ja-JP" dirty="0"/>
              <a:t>Esc</a:t>
            </a:r>
            <a:r>
              <a:rPr lang="ja-JP" altLang="en-US" dirty="0"/>
              <a:t>キーが押されたときに確認メッセージを表示し、プログラムを終了します。</a:t>
            </a:r>
            <a:endParaRPr lang="en-US" altLang="ja-JP" dirty="0"/>
          </a:p>
          <a:p>
            <a:pPr algn="just"/>
            <a:r>
              <a:rPr lang="en-US" altLang="ja-JP" dirty="0"/>
              <a:t>bind()</a:t>
            </a:r>
            <a:r>
              <a:rPr lang="ja-JP" altLang="en-US" dirty="0"/>
              <a:t>では、イベントが発生すると指定したハンドラ関数が呼び出されます。</a:t>
            </a:r>
            <a:endParaRPr lang="en-US" altLang="ja-JP" dirty="0"/>
          </a:p>
          <a:p>
            <a:pPr marL="0" indent="0" algn="just">
              <a:buNone/>
            </a:pPr>
            <a:endParaRPr lang="en-US" dirty="0"/>
          </a:p>
          <a:p>
            <a:pPr marL="0" indent="0" algn="just">
              <a:buNone/>
            </a:pPr>
            <a:endParaRPr lang="en-US" dirty="0"/>
          </a:p>
          <a:p>
            <a:pPr marL="0" indent="0" algn="just">
              <a:buNone/>
            </a:pPr>
            <a:r>
              <a:rPr lang="ja-JP" altLang="en-US" dirty="0"/>
              <a:t>練習</a:t>
            </a:r>
            <a:r>
              <a:rPr lang="en-US" altLang="ja-JP" dirty="0"/>
              <a:t>9</a:t>
            </a:r>
            <a:r>
              <a:rPr lang="ja-JP" altLang="en-US" dirty="0"/>
              <a:t>：例を参照にして、「</a:t>
            </a:r>
            <a:r>
              <a:rPr lang="en-US" altLang="ja-JP" dirty="0"/>
              <a:t>Enter</a:t>
            </a:r>
            <a:r>
              <a:rPr lang="ja-JP" altLang="en-US" dirty="0"/>
              <a:t>」キーが対応できるプログラムを作成せよ（ヒント：</a:t>
            </a:r>
            <a:r>
              <a:rPr lang="en-US" altLang="ja-JP" dirty="0"/>
              <a:t>&lt;Return&gt;</a:t>
            </a:r>
            <a:r>
              <a:rPr lang="ja-JP" altLang="en-US" dirty="0"/>
              <a:t>）。</a:t>
            </a:r>
            <a:endParaRPr lang="en-US" dirty="0"/>
          </a:p>
        </p:txBody>
      </p:sp>
      <p:sp>
        <p:nvSpPr>
          <p:cNvPr id="4" name="Slide Number Placeholder 3">
            <a:extLst>
              <a:ext uri="{FF2B5EF4-FFF2-40B4-BE49-F238E27FC236}">
                <a16:creationId xmlns:a16="http://schemas.microsoft.com/office/drawing/2014/main" id="{82FFE311-7F92-F6C9-0F60-0FD515BED86C}"/>
              </a:ext>
            </a:extLst>
          </p:cNvPr>
          <p:cNvSpPr>
            <a:spLocks noGrp="1"/>
          </p:cNvSpPr>
          <p:nvPr>
            <p:ph type="sldNum" sz="quarter" idx="15"/>
          </p:nvPr>
        </p:nvSpPr>
        <p:spPr/>
        <p:txBody>
          <a:bodyPr/>
          <a:lstStyle/>
          <a:p>
            <a:fld id="{CBD12358-51D2-46B3-9BDE-DF29528B9454}" type="slidenum">
              <a:rPr lang="en-US" smtClean="0"/>
              <a:pPr/>
              <a:t>31</a:t>
            </a:fld>
            <a:endParaRPr lang="en-US" dirty="0"/>
          </a:p>
        </p:txBody>
      </p:sp>
      <p:sp>
        <p:nvSpPr>
          <p:cNvPr id="5" name="TextBox 4">
            <a:extLst>
              <a:ext uri="{FF2B5EF4-FFF2-40B4-BE49-F238E27FC236}">
                <a16:creationId xmlns:a16="http://schemas.microsoft.com/office/drawing/2014/main" id="{0C05C0F4-C14C-753A-DFAF-659B9299B98C}"/>
              </a:ext>
            </a:extLst>
          </p:cNvPr>
          <p:cNvSpPr txBox="1"/>
          <p:nvPr/>
        </p:nvSpPr>
        <p:spPr>
          <a:xfrm>
            <a:off x="6095998" y="1144617"/>
            <a:ext cx="5791970" cy="4708981"/>
          </a:xfrm>
          <a:prstGeom prst="rect">
            <a:avLst/>
          </a:prstGeom>
          <a:noFill/>
          <a:ln>
            <a:solidFill>
              <a:schemeClr val="tx1"/>
            </a:solidFill>
          </a:ln>
        </p:spPr>
        <p:txBody>
          <a:bodyPr wrap="none" rtlCol="0">
            <a:spAutoFit/>
          </a:bodyPr>
          <a:lstStyle/>
          <a:p>
            <a:r>
              <a:rPr lang="en-US" sz="1200" dirty="0">
                <a:latin typeface="Consolas" panose="020B0609020204030204" pitchFamily="49" charset="0"/>
              </a:rPr>
              <a:t>from </a:t>
            </a:r>
            <a:r>
              <a:rPr lang="en-US" sz="1200" dirty="0" err="1">
                <a:latin typeface="Consolas" panose="020B0609020204030204" pitchFamily="49" charset="0"/>
              </a:rPr>
              <a:t>tkinter</a:t>
            </a:r>
            <a:r>
              <a:rPr lang="en-US" sz="1200" dirty="0">
                <a:latin typeface="Consolas" panose="020B0609020204030204" pitchFamily="49" charset="0"/>
              </a:rPr>
              <a:t> import </a:t>
            </a:r>
            <a:r>
              <a:rPr lang="en-US" sz="1200" dirty="0" err="1">
                <a:latin typeface="Consolas" panose="020B0609020204030204" pitchFamily="49" charset="0"/>
              </a:rPr>
              <a:t>messagebox</a:t>
            </a:r>
            <a:endParaRPr lang="en-US" sz="1200" dirty="0">
              <a:latin typeface="Consolas" panose="020B0609020204030204" pitchFamily="49" charset="0"/>
            </a:endParaRPr>
          </a:p>
          <a:p>
            <a:r>
              <a:rPr lang="en-US" sz="1200" dirty="0">
                <a:latin typeface="Consolas" panose="020B0609020204030204" pitchFamily="49" charset="0"/>
              </a:rPr>
              <a:t>import </a:t>
            </a:r>
            <a:r>
              <a:rPr lang="en-US" sz="1200" dirty="0" err="1">
                <a:latin typeface="Consolas" panose="020B0609020204030204" pitchFamily="49" charset="0"/>
              </a:rPr>
              <a:t>tkinter</a:t>
            </a:r>
            <a:r>
              <a:rPr lang="en-US" sz="1200" dirty="0">
                <a:latin typeface="Consolas" panose="020B0609020204030204" pitchFamily="49" charset="0"/>
              </a:rPr>
              <a:t> as </a:t>
            </a:r>
            <a:r>
              <a:rPr lang="en-US" sz="1200" dirty="0" err="1">
                <a:latin typeface="Consolas" panose="020B0609020204030204" pitchFamily="49" charset="0"/>
              </a:rPr>
              <a:t>tk</a:t>
            </a:r>
            <a:endParaRPr lang="en-US" sz="1200" dirty="0">
              <a:latin typeface="Consolas" panose="020B0609020204030204" pitchFamily="49" charset="0"/>
            </a:endParaRPr>
          </a:p>
          <a:p>
            <a:endParaRPr lang="en-US" sz="1200" dirty="0">
              <a:latin typeface="Consolas" panose="020B0609020204030204" pitchFamily="49" charset="0"/>
            </a:endParaRPr>
          </a:p>
          <a:p>
            <a:endParaRPr lang="en-US" sz="1200" dirty="0">
              <a:latin typeface="Consolas" panose="020B0609020204030204" pitchFamily="49" charset="0"/>
            </a:endParaRPr>
          </a:p>
          <a:p>
            <a:r>
              <a:rPr lang="en-US" sz="1200" dirty="0">
                <a:latin typeface="Consolas" panose="020B0609020204030204" pitchFamily="49" charset="0"/>
              </a:rPr>
              <a:t>def </a:t>
            </a:r>
            <a:r>
              <a:rPr lang="en-US" sz="1200" dirty="0" err="1">
                <a:latin typeface="Consolas" panose="020B0609020204030204" pitchFamily="49" charset="0"/>
              </a:rPr>
              <a:t>button_response</a:t>
            </a:r>
            <a:r>
              <a:rPr lang="en-US" sz="1200" dirty="0">
                <a:latin typeface="Consolas" panose="020B0609020204030204" pitchFamily="49" charset="0"/>
              </a:rPr>
              <a:t>():</a:t>
            </a:r>
          </a:p>
          <a:p>
            <a:r>
              <a:rPr lang="en-US" sz="1200" dirty="0">
                <a:latin typeface="Consolas" panose="020B0609020204030204" pitchFamily="49" charset="0"/>
              </a:rPr>
              <a:t>    </a:t>
            </a:r>
            <a:r>
              <a:rPr lang="en-US" sz="1200" dirty="0" err="1">
                <a:latin typeface="Consolas" panose="020B0609020204030204" pitchFamily="49" charset="0"/>
              </a:rPr>
              <a:t>messagebox.showinfo</a:t>
            </a:r>
            <a:r>
              <a:rPr lang="en-US" sz="1200" dirty="0">
                <a:latin typeface="Consolas" panose="020B0609020204030204" pitchFamily="49" charset="0"/>
              </a:rPr>
              <a:t>("Message", "Button clicked!")</a:t>
            </a:r>
          </a:p>
          <a:p>
            <a:endParaRPr lang="en-US" sz="1200" dirty="0">
              <a:latin typeface="Consolas" panose="020B0609020204030204" pitchFamily="49" charset="0"/>
            </a:endParaRPr>
          </a:p>
          <a:p>
            <a:r>
              <a:rPr lang="en-US" sz="1200" dirty="0">
                <a:latin typeface="Consolas" panose="020B0609020204030204" pitchFamily="49" charset="0"/>
              </a:rPr>
              <a:t>def </a:t>
            </a:r>
            <a:r>
              <a:rPr lang="en-US" sz="1200" dirty="0" err="1">
                <a:latin typeface="Consolas" panose="020B0609020204030204" pitchFamily="49" charset="0"/>
              </a:rPr>
              <a:t>close_program</a:t>
            </a:r>
            <a:r>
              <a:rPr lang="en-US" sz="1200" dirty="0">
                <a:latin typeface="Consolas" panose="020B0609020204030204" pitchFamily="49" charset="0"/>
              </a:rPr>
              <a:t>(</a:t>
            </a:r>
            <a:r>
              <a:rPr lang="en-US" sz="1200" dirty="0">
                <a:highlight>
                  <a:srgbClr val="FFFF00"/>
                </a:highlight>
                <a:latin typeface="Consolas" panose="020B0609020204030204" pitchFamily="49" charset="0"/>
              </a:rPr>
              <a:t>event</a:t>
            </a:r>
            <a:r>
              <a:rPr lang="en-US" sz="1200" dirty="0">
                <a:latin typeface="Consolas" panose="020B0609020204030204" pitchFamily="49" charset="0"/>
              </a:rPr>
              <a:t>):</a:t>
            </a:r>
          </a:p>
          <a:p>
            <a:r>
              <a:rPr lang="en-US" sz="1200" dirty="0">
                <a:latin typeface="Consolas" panose="020B0609020204030204" pitchFamily="49" charset="0"/>
              </a:rPr>
              <a:t>    if </a:t>
            </a:r>
            <a:r>
              <a:rPr lang="en-US" sz="1200" dirty="0" err="1">
                <a:latin typeface="Consolas" panose="020B0609020204030204" pitchFamily="49" charset="0"/>
              </a:rPr>
              <a:t>messagebox.askyesno</a:t>
            </a:r>
            <a:r>
              <a:rPr lang="en-US" sz="1200" dirty="0">
                <a:latin typeface="Consolas" panose="020B0609020204030204" pitchFamily="49" charset="0"/>
              </a:rPr>
              <a:t>("Warning", "Close the program?"):</a:t>
            </a:r>
          </a:p>
          <a:p>
            <a:r>
              <a:rPr lang="en-US" sz="1200" dirty="0">
                <a:latin typeface="Consolas" panose="020B0609020204030204" pitchFamily="49" charset="0"/>
              </a:rPr>
              <a:t>        </a:t>
            </a:r>
            <a:r>
              <a:rPr lang="en-US" sz="1200" dirty="0" err="1">
                <a:latin typeface="Consolas" panose="020B0609020204030204" pitchFamily="49" charset="0"/>
              </a:rPr>
              <a:t>root.destroy</a:t>
            </a:r>
            <a:r>
              <a:rPr lang="en-US" sz="1200" dirty="0">
                <a:latin typeface="Consolas" panose="020B0609020204030204" pitchFamily="49" charset="0"/>
              </a:rPr>
              <a:t>()</a:t>
            </a:r>
          </a:p>
          <a:p>
            <a:endParaRPr lang="en-US" sz="1200" dirty="0">
              <a:latin typeface="Consolas" panose="020B0609020204030204" pitchFamily="49" charset="0"/>
            </a:endParaRPr>
          </a:p>
          <a:p>
            <a:r>
              <a:rPr lang="en-US" sz="1200" dirty="0">
                <a:latin typeface="Consolas" panose="020B0609020204030204" pitchFamily="49" charset="0"/>
              </a:rPr>
              <a:t>root = </a:t>
            </a:r>
            <a:r>
              <a:rPr lang="en-US" sz="1200" dirty="0" err="1">
                <a:latin typeface="Consolas" panose="020B0609020204030204" pitchFamily="49" charset="0"/>
              </a:rPr>
              <a:t>tk.Tk</a:t>
            </a:r>
            <a:r>
              <a:rPr lang="en-US" sz="1200" dirty="0">
                <a:latin typeface="Consolas" panose="020B0609020204030204" pitchFamily="49" charset="0"/>
              </a:rPr>
              <a:t>()</a:t>
            </a:r>
          </a:p>
          <a:p>
            <a:r>
              <a:rPr lang="en-US" sz="1200" dirty="0" err="1">
                <a:latin typeface="Consolas" panose="020B0609020204030204" pitchFamily="49" charset="0"/>
              </a:rPr>
              <a:t>root.title</a:t>
            </a:r>
            <a:r>
              <a:rPr lang="en-US" sz="1200" dirty="0">
                <a:latin typeface="Consolas" panose="020B0609020204030204" pitchFamily="49" charset="0"/>
              </a:rPr>
              <a:t>("Bind demo")</a:t>
            </a:r>
          </a:p>
          <a:p>
            <a:r>
              <a:rPr lang="en-US" sz="1200" dirty="0" err="1">
                <a:latin typeface="Consolas" panose="020B0609020204030204" pitchFamily="49" charset="0"/>
              </a:rPr>
              <a:t>root.geometry</a:t>
            </a:r>
            <a:r>
              <a:rPr lang="en-US" sz="1200" dirty="0">
                <a:latin typeface="Consolas" panose="020B0609020204030204" pitchFamily="49" charset="0"/>
              </a:rPr>
              <a:t>("250x150")</a:t>
            </a:r>
          </a:p>
          <a:p>
            <a:endParaRPr lang="en-US" sz="1200" dirty="0">
              <a:latin typeface="Consolas" panose="020B0609020204030204" pitchFamily="49" charset="0"/>
            </a:endParaRPr>
          </a:p>
          <a:p>
            <a:r>
              <a:rPr lang="en-US" sz="1200" dirty="0" err="1">
                <a:latin typeface="Consolas" panose="020B0609020204030204" pitchFamily="49" charset="0"/>
              </a:rPr>
              <a:t>root.grid_rowconfigure</a:t>
            </a:r>
            <a:r>
              <a:rPr lang="en-US" sz="1200" dirty="0">
                <a:latin typeface="Consolas" panose="020B0609020204030204" pitchFamily="49" charset="0"/>
              </a:rPr>
              <a:t>(0, weight=1)</a:t>
            </a:r>
          </a:p>
          <a:p>
            <a:r>
              <a:rPr lang="en-US" sz="1200" dirty="0" err="1">
                <a:latin typeface="Consolas" panose="020B0609020204030204" pitchFamily="49" charset="0"/>
              </a:rPr>
              <a:t>root.grid_columnconfigure</a:t>
            </a:r>
            <a:r>
              <a:rPr lang="en-US" sz="1200" dirty="0">
                <a:latin typeface="Consolas" panose="020B0609020204030204" pitchFamily="49" charset="0"/>
              </a:rPr>
              <a:t>(0, weight=1)</a:t>
            </a:r>
          </a:p>
          <a:p>
            <a:endParaRPr lang="en-US" sz="1200" dirty="0">
              <a:latin typeface="Consolas" panose="020B0609020204030204" pitchFamily="49" charset="0"/>
            </a:endParaRPr>
          </a:p>
          <a:p>
            <a:r>
              <a:rPr lang="en-US" sz="1200" dirty="0">
                <a:latin typeface="Consolas" panose="020B0609020204030204" pitchFamily="49" charset="0"/>
              </a:rPr>
              <a:t>button = </a:t>
            </a:r>
            <a:r>
              <a:rPr lang="en-US" sz="1200" dirty="0" err="1">
                <a:latin typeface="Consolas" panose="020B0609020204030204" pitchFamily="49" charset="0"/>
              </a:rPr>
              <a:t>tk.Button</a:t>
            </a:r>
            <a:r>
              <a:rPr lang="en-US" sz="1200" dirty="0">
                <a:latin typeface="Consolas" panose="020B0609020204030204" pitchFamily="49" charset="0"/>
              </a:rPr>
              <a:t>(root, text="Click Me", command=</a:t>
            </a:r>
            <a:r>
              <a:rPr lang="en-US" sz="1200" dirty="0" err="1">
                <a:latin typeface="Consolas" panose="020B0609020204030204" pitchFamily="49" charset="0"/>
              </a:rPr>
              <a:t>button_response</a:t>
            </a:r>
            <a:r>
              <a:rPr lang="en-US" sz="1200" dirty="0">
                <a:latin typeface="Consolas" panose="020B0609020204030204" pitchFamily="49" charset="0"/>
              </a:rPr>
              <a:t>)</a:t>
            </a:r>
          </a:p>
          <a:p>
            <a:r>
              <a:rPr lang="en-US" sz="1200" dirty="0" err="1">
                <a:latin typeface="Consolas" panose="020B0609020204030204" pitchFamily="49" charset="0"/>
              </a:rPr>
              <a:t>button.grid</a:t>
            </a:r>
            <a:r>
              <a:rPr lang="en-US" sz="1200" dirty="0">
                <a:latin typeface="Consolas" panose="020B0609020204030204" pitchFamily="49" charset="0"/>
              </a:rPr>
              <a:t>(row=0, column=0, </a:t>
            </a:r>
            <a:r>
              <a:rPr lang="en-US" sz="1200" dirty="0" err="1">
                <a:latin typeface="Consolas" panose="020B0609020204030204" pitchFamily="49" charset="0"/>
              </a:rPr>
              <a:t>padx</a:t>
            </a:r>
            <a:r>
              <a:rPr lang="en-US" sz="1200" dirty="0">
                <a:latin typeface="Consolas" panose="020B0609020204030204" pitchFamily="49" charset="0"/>
              </a:rPr>
              <a:t>=20, </a:t>
            </a:r>
            <a:r>
              <a:rPr lang="en-US" sz="1200" dirty="0" err="1">
                <a:latin typeface="Consolas" panose="020B0609020204030204" pitchFamily="49" charset="0"/>
              </a:rPr>
              <a:t>pady</a:t>
            </a:r>
            <a:r>
              <a:rPr lang="en-US" sz="1200" dirty="0">
                <a:latin typeface="Consolas" panose="020B0609020204030204" pitchFamily="49" charset="0"/>
              </a:rPr>
              <a:t>=20)</a:t>
            </a:r>
          </a:p>
          <a:p>
            <a:endParaRPr lang="en-US" sz="1200" dirty="0">
              <a:latin typeface="Consolas" panose="020B0609020204030204" pitchFamily="49" charset="0"/>
            </a:endParaRPr>
          </a:p>
          <a:p>
            <a:r>
              <a:rPr lang="en-US" sz="1200" dirty="0">
                <a:highlight>
                  <a:srgbClr val="FFFF00"/>
                </a:highlight>
                <a:latin typeface="Consolas" panose="020B0609020204030204" pitchFamily="49" charset="0"/>
              </a:rPr>
              <a:t># </a:t>
            </a:r>
            <a:r>
              <a:rPr lang="ja-JP" altLang="en-US" sz="1200" dirty="0">
                <a:highlight>
                  <a:srgbClr val="FFFF00"/>
                </a:highlight>
                <a:latin typeface="Consolas" panose="020B0609020204030204" pitchFamily="49" charset="0"/>
              </a:rPr>
              <a:t>「</a:t>
            </a:r>
            <a:r>
              <a:rPr lang="en-US" altLang="ja-JP" sz="1200" dirty="0">
                <a:highlight>
                  <a:srgbClr val="FFFF00"/>
                </a:highlight>
                <a:latin typeface="Consolas" panose="020B0609020204030204" pitchFamily="49" charset="0"/>
              </a:rPr>
              <a:t>Esc</a:t>
            </a:r>
            <a:r>
              <a:rPr lang="ja-JP" altLang="en-US" sz="1200" dirty="0">
                <a:highlight>
                  <a:srgbClr val="FFFF00"/>
                </a:highlight>
                <a:latin typeface="Consolas" panose="020B0609020204030204" pitchFamily="49" charset="0"/>
              </a:rPr>
              <a:t>」キーが押されたら</a:t>
            </a:r>
            <a:r>
              <a:rPr lang="en-US" altLang="ja-JP" sz="1200" dirty="0">
                <a:highlight>
                  <a:srgbClr val="FFFF00"/>
                </a:highlight>
                <a:latin typeface="Consolas" panose="020B0609020204030204" pitchFamily="49" charset="0"/>
              </a:rPr>
              <a:t>…</a:t>
            </a:r>
          </a:p>
          <a:p>
            <a:r>
              <a:rPr lang="en-US" sz="1200" dirty="0" err="1">
                <a:highlight>
                  <a:srgbClr val="FFFF00"/>
                </a:highlight>
                <a:latin typeface="Consolas" panose="020B0609020204030204" pitchFamily="49" charset="0"/>
              </a:rPr>
              <a:t>root.bind</a:t>
            </a:r>
            <a:r>
              <a:rPr lang="en-US" sz="1200" dirty="0">
                <a:highlight>
                  <a:srgbClr val="FFFF00"/>
                </a:highlight>
                <a:latin typeface="Consolas" panose="020B0609020204030204" pitchFamily="49" charset="0"/>
              </a:rPr>
              <a:t>("&lt;Escape&gt;", </a:t>
            </a:r>
            <a:r>
              <a:rPr lang="en-US" sz="1200" dirty="0" err="1">
                <a:highlight>
                  <a:srgbClr val="FFFF00"/>
                </a:highlight>
                <a:latin typeface="Consolas" panose="020B0609020204030204" pitchFamily="49" charset="0"/>
              </a:rPr>
              <a:t>close_program</a:t>
            </a:r>
            <a:r>
              <a:rPr lang="en-US" sz="1200" dirty="0">
                <a:highlight>
                  <a:srgbClr val="FFFF00"/>
                </a:highlight>
                <a:latin typeface="Consolas" panose="020B0609020204030204" pitchFamily="49" charset="0"/>
              </a:rPr>
              <a:t>)</a:t>
            </a:r>
          </a:p>
          <a:p>
            <a:endParaRPr lang="en-US" sz="1200" dirty="0">
              <a:latin typeface="Consolas" panose="020B0609020204030204" pitchFamily="49" charset="0"/>
            </a:endParaRPr>
          </a:p>
          <a:p>
            <a:r>
              <a:rPr lang="en-US" sz="1200" dirty="0" err="1">
                <a:latin typeface="Consolas" panose="020B0609020204030204" pitchFamily="49" charset="0"/>
              </a:rPr>
              <a:t>root.mainloop</a:t>
            </a:r>
            <a:r>
              <a:rPr lang="en-US" sz="1200" dirty="0">
                <a:latin typeface="Consolas" panose="020B0609020204030204" pitchFamily="49" charset="0"/>
              </a:rPr>
              <a:t>()</a:t>
            </a:r>
            <a:endParaRPr lang="en-US" sz="1200" b="0" dirty="0">
              <a:effectLst/>
              <a:latin typeface="Consolas" panose="020B0609020204030204" pitchFamily="49" charset="0"/>
            </a:endParaRPr>
          </a:p>
        </p:txBody>
      </p:sp>
      <p:sp>
        <p:nvSpPr>
          <p:cNvPr id="6" name="TextBox 5">
            <a:extLst>
              <a:ext uri="{FF2B5EF4-FFF2-40B4-BE49-F238E27FC236}">
                <a16:creationId xmlns:a16="http://schemas.microsoft.com/office/drawing/2014/main" id="{D1C886E3-660A-812E-FB2A-DD161648D60C}"/>
              </a:ext>
            </a:extLst>
          </p:cNvPr>
          <p:cNvSpPr txBox="1"/>
          <p:nvPr/>
        </p:nvSpPr>
        <p:spPr>
          <a:xfrm>
            <a:off x="6095998" y="6001265"/>
            <a:ext cx="2039276" cy="369332"/>
          </a:xfrm>
          <a:prstGeom prst="rect">
            <a:avLst/>
          </a:prstGeom>
          <a:noFill/>
        </p:spPr>
        <p:txBody>
          <a:bodyPr wrap="none" rtlCol="0">
            <a:spAutoFit/>
          </a:bodyPr>
          <a:lstStyle/>
          <a:p>
            <a:r>
              <a:rPr lang="en-US" dirty="0"/>
              <a:t>pp. 57</a:t>
            </a:r>
            <a:r>
              <a:rPr lang="en-US" altLang="ja-JP" dirty="0"/>
              <a:t>―70</a:t>
            </a:r>
            <a:r>
              <a:rPr lang="ja-JP" altLang="en-US" dirty="0"/>
              <a:t>を参照</a:t>
            </a:r>
            <a:endParaRPr lang="en-US" dirty="0"/>
          </a:p>
        </p:txBody>
      </p:sp>
    </p:spTree>
    <p:extLst>
      <p:ext uri="{BB962C8B-B14F-4D97-AF65-F5344CB8AC3E}">
        <p14:creationId xmlns:p14="http://schemas.microsoft.com/office/powerpoint/2010/main" val="2593302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F3FA8-D3B2-37E3-8BCB-19D744829762}"/>
              </a:ext>
            </a:extLst>
          </p:cNvPr>
          <p:cNvSpPr>
            <a:spLocks noGrp="1"/>
          </p:cNvSpPr>
          <p:nvPr>
            <p:ph type="body" sz="quarter" idx="11"/>
          </p:nvPr>
        </p:nvSpPr>
        <p:spPr/>
        <p:txBody>
          <a:bodyPr/>
          <a:lstStyle/>
          <a:p>
            <a:r>
              <a:rPr lang="en-US" dirty="0"/>
              <a:t>3-5</a:t>
            </a:r>
            <a:r>
              <a:rPr lang="ja-JP" altLang="en-US" dirty="0"/>
              <a:t>　まとめ</a:t>
            </a:r>
            <a:endParaRPr lang="en-US" dirty="0"/>
          </a:p>
        </p:txBody>
      </p:sp>
      <p:sp>
        <p:nvSpPr>
          <p:cNvPr id="3" name="Text Placeholder 2">
            <a:extLst>
              <a:ext uri="{FF2B5EF4-FFF2-40B4-BE49-F238E27FC236}">
                <a16:creationId xmlns:a16="http://schemas.microsoft.com/office/drawing/2014/main" id="{E72104A7-3829-9EA2-0E21-A935E035C039}"/>
              </a:ext>
            </a:extLst>
          </p:cNvPr>
          <p:cNvSpPr>
            <a:spLocks noGrp="1"/>
          </p:cNvSpPr>
          <p:nvPr>
            <p:ph type="body" sz="quarter" idx="13"/>
          </p:nvPr>
        </p:nvSpPr>
        <p:spPr/>
        <p:txBody>
          <a:bodyPr/>
          <a:lstStyle/>
          <a:p>
            <a:r>
              <a:rPr lang="ja-JP" altLang="en-US" dirty="0"/>
              <a:t>教科書の第</a:t>
            </a:r>
            <a:r>
              <a:rPr lang="en-US" altLang="ja-JP" dirty="0"/>
              <a:t>2</a:t>
            </a:r>
            <a:r>
              <a:rPr lang="ja-JP" altLang="en-US" dirty="0"/>
              <a:t>部と第</a:t>
            </a:r>
            <a:r>
              <a:rPr lang="en-US" altLang="ja-JP" dirty="0"/>
              <a:t>3</a:t>
            </a:r>
            <a:r>
              <a:rPr lang="ja-JP" altLang="en-US" dirty="0"/>
              <a:t>部には、詳細なアプリの事例とソースコードが含まれている。</a:t>
            </a:r>
            <a:endParaRPr lang="en-US" altLang="ja-JP" dirty="0"/>
          </a:p>
          <a:p>
            <a:r>
              <a:rPr lang="ja-JP" altLang="en-US" dirty="0"/>
              <a:t>必要に応じてそれらを参照し、</a:t>
            </a:r>
            <a:r>
              <a:rPr lang="ja-JP" altLang="en-US" dirty="0">
                <a:solidFill>
                  <a:srgbClr val="FF0000"/>
                </a:solidFill>
              </a:rPr>
              <a:t>オリジナル</a:t>
            </a:r>
            <a:r>
              <a:rPr lang="ja-JP" altLang="en-US" dirty="0"/>
              <a:t>のアプリを作成せよ。</a:t>
            </a:r>
            <a:endParaRPr lang="en-US" altLang="ja-JP" dirty="0"/>
          </a:p>
          <a:p>
            <a:r>
              <a:rPr lang="ja-JP" altLang="en-US" dirty="0"/>
              <a:t>締切：</a:t>
            </a:r>
            <a:r>
              <a:rPr lang="en-US" altLang="ja-JP" dirty="0"/>
              <a:t>10</a:t>
            </a:r>
            <a:r>
              <a:rPr lang="ja-JP" altLang="en-US" dirty="0"/>
              <a:t>月</a:t>
            </a:r>
            <a:r>
              <a:rPr lang="en-US" altLang="ja-JP" dirty="0"/>
              <a:t>9</a:t>
            </a:r>
            <a:r>
              <a:rPr lang="ja-JP" altLang="en-US" dirty="0"/>
              <a:t>日</a:t>
            </a:r>
            <a:r>
              <a:rPr lang="en-US" altLang="ja-JP" dirty="0"/>
              <a:t>16:10</a:t>
            </a:r>
            <a:r>
              <a:rPr lang="ja-JP" altLang="en-US" dirty="0"/>
              <a:t>までに、チームのグループへ提出すること。</a:t>
            </a:r>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pPr marL="0" indent="0">
              <a:buNone/>
            </a:pPr>
            <a:r>
              <a:rPr lang="en-US" altLang="ja-JP" sz="1800" dirty="0">
                <a:solidFill>
                  <a:srgbClr val="FF0000"/>
                </a:solidFill>
              </a:rPr>
              <a:t>※ </a:t>
            </a:r>
            <a:r>
              <a:rPr lang="ja-JP" altLang="en-US" sz="1800" dirty="0">
                <a:solidFill>
                  <a:srgbClr val="FF0000"/>
                </a:solidFill>
              </a:rPr>
              <a:t>教科書の例題アプリをコピーした場合、レポートおよび発表は評価しない。</a:t>
            </a:r>
            <a:endParaRPr lang="en-US" altLang="ja-JP" sz="1800" dirty="0">
              <a:solidFill>
                <a:srgbClr val="FF0000"/>
              </a:solidFill>
            </a:endParaRPr>
          </a:p>
        </p:txBody>
      </p:sp>
      <p:sp>
        <p:nvSpPr>
          <p:cNvPr id="4" name="Slide Number Placeholder 3">
            <a:extLst>
              <a:ext uri="{FF2B5EF4-FFF2-40B4-BE49-F238E27FC236}">
                <a16:creationId xmlns:a16="http://schemas.microsoft.com/office/drawing/2014/main" id="{CED8AE4C-0F72-A1FB-E9A1-B5EC671ED169}"/>
              </a:ext>
            </a:extLst>
          </p:cNvPr>
          <p:cNvSpPr>
            <a:spLocks noGrp="1"/>
          </p:cNvSpPr>
          <p:nvPr>
            <p:ph type="sldNum" sz="quarter" idx="15"/>
          </p:nvPr>
        </p:nvSpPr>
        <p:spPr/>
        <p:txBody>
          <a:bodyPr/>
          <a:lstStyle/>
          <a:p>
            <a:fld id="{CBD12358-51D2-46B3-9BDE-DF29528B9454}" type="slidenum">
              <a:rPr lang="en-US" smtClean="0"/>
              <a:pPr/>
              <a:t>32</a:t>
            </a:fld>
            <a:endParaRPr lang="en-US" dirty="0"/>
          </a:p>
        </p:txBody>
      </p:sp>
    </p:spTree>
    <p:extLst>
      <p:ext uri="{BB962C8B-B14F-4D97-AF65-F5344CB8AC3E}">
        <p14:creationId xmlns:p14="http://schemas.microsoft.com/office/powerpoint/2010/main" val="1989974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Effect transition="in" filter="fade">
                                      <p:cBhvr>
                                        <p:cTn id="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CBECDD3-C558-24E7-083A-92D8D93B7A0D}"/>
              </a:ext>
            </a:extLst>
          </p:cNvPr>
          <p:cNvSpPr>
            <a:spLocks noGrp="1"/>
          </p:cNvSpPr>
          <p:nvPr>
            <p:ph type="body" sz="quarter" idx="11"/>
          </p:nvPr>
        </p:nvSpPr>
        <p:spPr/>
        <p:txBody>
          <a:bodyPr/>
          <a:lstStyle/>
          <a:p>
            <a:r>
              <a:rPr lang="en-US" dirty="0"/>
              <a:t>4-1</a:t>
            </a:r>
            <a:r>
              <a:rPr lang="ja-JP" altLang="en-US" dirty="0"/>
              <a:t>　</a:t>
            </a:r>
            <a:r>
              <a:rPr lang="en-US" dirty="0"/>
              <a:t>How-Now-Wow</a:t>
            </a:r>
            <a:r>
              <a:rPr lang="ja-JP" altLang="en-US" dirty="0"/>
              <a:t>マトリクス</a:t>
            </a:r>
            <a:endParaRPr lang="en-US" dirty="0"/>
          </a:p>
        </p:txBody>
      </p:sp>
      <p:sp>
        <p:nvSpPr>
          <p:cNvPr id="5" name="Title 4">
            <a:extLst>
              <a:ext uri="{FF2B5EF4-FFF2-40B4-BE49-F238E27FC236}">
                <a16:creationId xmlns:a16="http://schemas.microsoft.com/office/drawing/2014/main" id="{459BA948-AC18-673E-74EA-6E009A330F72}"/>
              </a:ext>
            </a:extLst>
          </p:cNvPr>
          <p:cNvSpPr>
            <a:spLocks noGrp="1"/>
          </p:cNvSpPr>
          <p:nvPr>
            <p:ph type="title"/>
          </p:nvPr>
        </p:nvSpPr>
        <p:spPr/>
        <p:txBody>
          <a:bodyPr/>
          <a:lstStyle/>
          <a:p>
            <a:r>
              <a:rPr lang="en-US" dirty="0"/>
              <a:t>4. </a:t>
            </a:r>
            <a:r>
              <a:rPr lang="ja-JP" altLang="en-US" dirty="0"/>
              <a:t>課題設定</a:t>
            </a:r>
            <a:endParaRPr lang="en-US" dirty="0"/>
          </a:p>
        </p:txBody>
      </p:sp>
      <p:sp>
        <p:nvSpPr>
          <p:cNvPr id="7" name="Text Placeholder 6">
            <a:extLst>
              <a:ext uri="{FF2B5EF4-FFF2-40B4-BE49-F238E27FC236}">
                <a16:creationId xmlns:a16="http://schemas.microsoft.com/office/drawing/2014/main" id="{4C3A901A-64FB-66E7-2BC6-C6816AADC6F4}"/>
              </a:ext>
            </a:extLst>
          </p:cNvPr>
          <p:cNvSpPr>
            <a:spLocks noGrp="1"/>
          </p:cNvSpPr>
          <p:nvPr>
            <p:ph type="body" sz="quarter" idx="13"/>
          </p:nvPr>
        </p:nvSpPr>
        <p:spPr>
          <a:xfrm>
            <a:off x="114444" y="1724025"/>
            <a:ext cx="11963109" cy="933114"/>
          </a:xfrm>
        </p:spPr>
        <p:txBody>
          <a:bodyPr/>
          <a:lstStyle/>
          <a:p>
            <a:r>
              <a:rPr lang="ja-JP" altLang="en-US" dirty="0"/>
              <a:t>日常生活に「あれば、便利な」アプリを作成せよ。</a:t>
            </a:r>
            <a:endParaRPr lang="en-US" altLang="ja-JP" dirty="0"/>
          </a:p>
          <a:p>
            <a:r>
              <a:rPr lang="ja-JP" altLang="en-US" dirty="0"/>
              <a:t>新しいアプリを議論するのは結構難しくて、時間内の制約でできないものもある。</a:t>
            </a:r>
            <a:endParaRPr lang="en-US" dirty="0"/>
          </a:p>
        </p:txBody>
      </p:sp>
      <p:sp>
        <p:nvSpPr>
          <p:cNvPr id="3" name="Slide Number Placeholder 2">
            <a:extLst>
              <a:ext uri="{FF2B5EF4-FFF2-40B4-BE49-F238E27FC236}">
                <a16:creationId xmlns:a16="http://schemas.microsoft.com/office/drawing/2014/main" id="{762B3263-B316-B8D2-747E-47CEFCE3C19A}"/>
              </a:ext>
            </a:extLst>
          </p:cNvPr>
          <p:cNvSpPr>
            <a:spLocks noGrp="1"/>
          </p:cNvSpPr>
          <p:nvPr>
            <p:ph type="sldNum" sz="quarter" idx="15"/>
          </p:nvPr>
        </p:nvSpPr>
        <p:spPr/>
        <p:txBody>
          <a:bodyPr/>
          <a:lstStyle/>
          <a:p>
            <a:fld id="{CBD12358-51D2-46B3-9BDE-DF29528B9454}" type="slidenum">
              <a:rPr lang="en-US" smtClean="0"/>
              <a:pPr/>
              <a:t>33</a:t>
            </a:fld>
            <a:endParaRPr lang="en-US" dirty="0"/>
          </a:p>
        </p:txBody>
      </p:sp>
      <p:grpSp>
        <p:nvGrpSpPr>
          <p:cNvPr id="18" name="Group 17">
            <a:extLst>
              <a:ext uri="{FF2B5EF4-FFF2-40B4-BE49-F238E27FC236}">
                <a16:creationId xmlns:a16="http://schemas.microsoft.com/office/drawing/2014/main" id="{8B0B5B36-C2A6-71E7-3F17-08F0B90514B0}"/>
              </a:ext>
            </a:extLst>
          </p:cNvPr>
          <p:cNvGrpSpPr/>
          <p:nvPr/>
        </p:nvGrpSpPr>
        <p:grpSpPr>
          <a:xfrm>
            <a:off x="518095" y="2850776"/>
            <a:ext cx="11155810" cy="3573513"/>
            <a:chOff x="301084" y="2574848"/>
            <a:chExt cx="11561014" cy="3870957"/>
          </a:xfrm>
        </p:grpSpPr>
        <p:sp>
          <p:nvSpPr>
            <p:cNvPr id="8" name="Rectangle 7">
              <a:extLst>
                <a:ext uri="{FF2B5EF4-FFF2-40B4-BE49-F238E27FC236}">
                  <a16:creationId xmlns:a16="http://schemas.microsoft.com/office/drawing/2014/main" id="{8DAFB0E1-0BA6-FD4A-CF5B-9671F88D379D}"/>
                </a:ext>
              </a:extLst>
            </p:cNvPr>
            <p:cNvSpPr/>
            <p:nvPr/>
          </p:nvSpPr>
          <p:spPr>
            <a:xfrm>
              <a:off x="2997200" y="2574848"/>
              <a:ext cx="3225800" cy="1739900"/>
            </a:xfrm>
            <a:prstGeom prst="rect">
              <a:avLst/>
            </a:prstGeom>
            <a:pattFill prst="wdDnDiag">
              <a:fgClr>
                <a:schemeClr val="bg1">
                  <a:lumMod val="85000"/>
                </a:schemeClr>
              </a:fgClr>
              <a:bgClr>
                <a:schemeClr val="bg1"/>
              </a:bgClr>
            </a:patt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価値観なし</a:t>
              </a:r>
              <a:endParaRPr lang="en-US" dirty="0">
                <a:solidFill>
                  <a:schemeClr val="tx1"/>
                </a:solidFill>
              </a:endParaRPr>
            </a:p>
          </p:txBody>
        </p:sp>
        <p:sp>
          <p:nvSpPr>
            <p:cNvPr id="9" name="Rectangle 8">
              <a:extLst>
                <a:ext uri="{FF2B5EF4-FFF2-40B4-BE49-F238E27FC236}">
                  <a16:creationId xmlns:a16="http://schemas.microsoft.com/office/drawing/2014/main" id="{50055F66-4E65-F6C6-D9FA-FA86F537B61A}"/>
                </a:ext>
              </a:extLst>
            </p:cNvPr>
            <p:cNvSpPr/>
            <p:nvPr/>
          </p:nvSpPr>
          <p:spPr>
            <a:xfrm>
              <a:off x="6223000" y="2574848"/>
              <a:ext cx="3225800" cy="1739900"/>
            </a:xfrm>
            <a:prstGeom prst="rect">
              <a:avLst/>
            </a:prstGeom>
            <a:solidFill>
              <a:srgbClr val="FFC5C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solidFill>
                </a:rPr>
                <a:t>How</a:t>
              </a:r>
            </a:p>
            <a:p>
              <a:pPr algn="ctr"/>
              <a:r>
                <a:rPr lang="ja-JP" altLang="en-US" sz="1400" dirty="0">
                  <a:solidFill>
                    <a:schemeClr val="tx1"/>
                  </a:solidFill>
                </a:rPr>
                <a:t>（独創的だが、実行が難しい）</a:t>
              </a:r>
              <a:endParaRPr lang="en-US" dirty="0">
                <a:solidFill>
                  <a:schemeClr val="tx1"/>
                </a:solidFill>
              </a:endParaRPr>
            </a:p>
          </p:txBody>
        </p:sp>
        <p:sp>
          <p:nvSpPr>
            <p:cNvPr id="10" name="Rectangle 9">
              <a:extLst>
                <a:ext uri="{FF2B5EF4-FFF2-40B4-BE49-F238E27FC236}">
                  <a16:creationId xmlns:a16="http://schemas.microsoft.com/office/drawing/2014/main" id="{FB345421-DA75-2858-0267-14AECFC1F879}"/>
                </a:ext>
              </a:extLst>
            </p:cNvPr>
            <p:cNvSpPr/>
            <p:nvPr/>
          </p:nvSpPr>
          <p:spPr>
            <a:xfrm>
              <a:off x="2997200" y="4314748"/>
              <a:ext cx="3225800" cy="1739900"/>
            </a:xfrm>
            <a:prstGeom prst="rect">
              <a:avLst/>
            </a:prstGeom>
            <a:solidFill>
              <a:srgbClr val="FFEEB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dirty="0">
                  <a:solidFill>
                    <a:srgbClr val="000000"/>
                  </a:solidFill>
                  <a:latin typeface="Avenir Next LT Pro Light"/>
                </a:rPr>
                <a:t>N</a:t>
              </a:r>
              <a:r>
                <a:rPr kumimoji="0" lang="en-US" altLang="ja-JP" sz="1800" b="0" i="0" u="none" strike="noStrike" kern="1200" cap="none" spc="0" normalizeH="0" baseline="0" noProof="0" dirty="0">
                  <a:ln>
                    <a:noFill/>
                  </a:ln>
                  <a:solidFill>
                    <a:srgbClr val="000000"/>
                  </a:solidFill>
                  <a:effectLst/>
                  <a:uLnTx/>
                  <a:uFillTx/>
                  <a:latin typeface="Avenir Next LT Pro Light"/>
                  <a:ea typeface="+mn-ea"/>
                  <a:cs typeface="+mn-cs"/>
                </a:rPr>
                <a:t>ow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000000"/>
                  </a:solidFill>
                  <a:effectLst/>
                  <a:uLnTx/>
                  <a:uFillTx/>
                  <a:latin typeface="Avenir Next LT Pro Light"/>
                  <a:ea typeface="+mn-ea"/>
                  <a:cs typeface="+mn-cs"/>
                </a:rPr>
                <a:t>（独創</a:t>
              </a:r>
              <a:r>
                <a:rPr lang="ja-JP" altLang="en-US" sz="1400" dirty="0">
                  <a:solidFill>
                    <a:srgbClr val="000000"/>
                  </a:solidFill>
                  <a:latin typeface="Avenir Next LT Pro Light"/>
                </a:rPr>
                <a:t>がない</a:t>
              </a:r>
              <a:r>
                <a:rPr kumimoji="0" lang="ja-JP" altLang="en-US" sz="1400" b="0" i="0" u="none" strike="noStrike" kern="1200" cap="none" spc="0" normalizeH="0" baseline="0" noProof="0" dirty="0">
                  <a:ln>
                    <a:noFill/>
                  </a:ln>
                  <a:solidFill>
                    <a:srgbClr val="000000"/>
                  </a:solidFill>
                  <a:effectLst/>
                  <a:uLnTx/>
                  <a:uFillTx/>
                  <a:latin typeface="Avenir Next LT Pro Light"/>
                  <a:ea typeface="+mn-ea"/>
                  <a:cs typeface="+mn-cs"/>
                </a:rPr>
                <a:t>、実行しやすい）</a:t>
              </a:r>
              <a:endParaRPr kumimoji="0" lang="en-US" sz="1800" b="0" i="0" u="none" strike="noStrike" kern="1200" cap="none" spc="0" normalizeH="0" baseline="0" noProof="0" dirty="0">
                <a:ln>
                  <a:noFill/>
                </a:ln>
                <a:solidFill>
                  <a:srgbClr val="000000"/>
                </a:solidFill>
                <a:effectLst/>
                <a:uLnTx/>
                <a:uFillTx/>
                <a:latin typeface="Avenir Next LT Pro Light"/>
                <a:ea typeface="+mn-ea"/>
                <a:cs typeface="+mn-cs"/>
              </a:endParaRPr>
            </a:p>
          </p:txBody>
        </p:sp>
        <p:sp>
          <p:nvSpPr>
            <p:cNvPr id="11" name="Rectangle 10">
              <a:extLst>
                <a:ext uri="{FF2B5EF4-FFF2-40B4-BE49-F238E27FC236}">
                  <a16:creationId xmlns:a16="http://schemas.microsoft.com/office/drawing/2014/main" id="{8642F8A4-A124-7497-1203-FF1AACE8D741}"/>
                </a:ext>
              </a:extLst>
            </p:cNvPr>
            <p:cNvSpPr/>
            <p:nvPr/>
          </p:nvSpPr>
          <p:spPr>
            <a:xfrm>
              <a:off x="6223000" y="4313478"/>
              <a:ext cx="3225800" cy="1739900"/>
            </a:xfrm>
            <a:prstGeom prst="rect">
              <a:avLst/>
            </a:prstGeom>
            <a:solidFill>
              <a:srgbClr val="C9F1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dirty="0">
                  <a:solidFill>
                    <a:srgbClr val="000000"/>
                  </a:solidFill>
                  <a:latin typeface="Avenir Next LT Pro Light"/>
                </a:rPr>
                <a:t>Wow</a:t>
              </a:r>
              <a:endParaRPr kumimoji="0" lang="en-US" altLang="ja-JP" sz="1800" b="0" i="0" u="none" strike="noStrike" kern="1200" cap="none" spc="0" normalizeH="0" baseline="0" noProof="0" dirty="0">
                <a:ln>
                  <a:noFill/>
                </a:ln>
                <a:solidFill>
                  <a:srgbClr val="000000"/>
                </a:solidFill>
                <a:effectLst/>
                <a:uLnTx/>
                <a:uFillTx/>
                <a:latin typeface="Avenir Next LT Pr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000000"/>
                  </a:solidFill>
                  <a:effectLst/>
                  <a:uLnTx/>
                  <a:uFillTx/>
                  <a:latin typeface="Avenir Next LT Pro Light"/>
                  <a:ea typeface="+mn-ea"/>
                  <a:cs typeface="+mn-cs"/>
                </a:rPr>
                <a:t>（新規性あり、実行しやすい）</a:t>
              </a:r>
              <a:endParaRPr kumimoji="0" lang="en-US" sz="1800" b="0" i="0" u="none" strike="noStrike" kern="1200" cap="none" spc="0" normalizeH="0" baseline="0" noProof="0" dirty="0">
                <a:ln>
                  <a:noFill/>
                </a:ln>
                <a:solidFill>
                  <a:srgbClr val="000000"/>
                </a:solidFill>
                <a:effectLst/>
                <a:uLnTx/>
                <a:uFillTx/>
                <a:latin typeface="Avenir Next LT Pro Light"/>
                <a:ea typeface="+mn-ea"/>
                <a:cs typeface="+mn-cs"/>
              </a:endParaRPr>
            </a:p>
          </p:txBody>
        </p:sp>
        <p:cxnSp>
          <p:nvCxnSpPr>
            <p:cNvPr id="12" name="Straight Arrow Connector 11">
              <a:extLst>
                <a:ext uri="{FF2B5EF4-FFF2-40B4-BE49-F238E27FC236}">
                  <a16:creationId xmlns:a16="http://schemas.microsoft.com/office/drawing/2014/main" id="{BC3B8377-0196-4F9A-3800-891D1449112B}"/>
                </a:ext>
              </a:extLst>
            </p:cNvPr>
            <p:cNvCxnSpPr/>
            <p:nvPr/>
          </p:nvCxnSpPr>
          <p:spPr>
            <a:xfrm flipV="1">
              <a:off x="2768600" y="2581198"/>
              <a:ext cx="0" cy="3479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3B2D4AA-7445-7463-9B9B-F4A2C1154ABA}"/>
                </a:ext>
              </a:extLst>
            </p:cNvPr>
            <p:cNvSpPr txBox="1"/>
            <p:nvPr/>
          </p:nvSpPr>
          <p:spPr>
            <a:xfrm rot="16200000">
              <a:off x="2259653" y="4130081"/>
              <a:ext cx="877163" cy="369332"/>
            </a:xfrm>
            <a:prstGeom prst="rect">
              <a:avLst/>
            </a:prstGeom>
            <a:solidFill>
              <a:schemeClr val="bg1"/>
            </a:solidFill>
          </p:spPr>
          <p:txBody>
            <a:bodyPr wrap="none" rtlCol="0">
              <a:spAutoFit/>
            </a:bodyPr>
            <a:lstStyle/>
            <a:p>
              <a:r>
                <a:rPr lang="ja-JP" altLang="en-US" dirty="0"/>
                <a:t>難しさ</a:t>
              </a:r>
              <a:endParaRPr lang="en-US" dirty="0"/>
            </a:p>
          </p:txBody>
        </p:sp>
        <p:cxnSp>
          <p:nvCxnSpPr>
            <p:cNvPr id="14" name="Straight Arrow Connector 13">
              <a:extLst>
                <a:ext uri="{FF2B5EF4-FFF2-40B4-BE49-F238E27FC236}">
                  <a16:creationId xmlns:a16="http://schemas.microsoft.com/office/drawing/2014/main" id="{06480F48-B2FE-7A54-AA60-09866A6BA6E2}"/>
                </a:ext>
              </a:extLst>
            </p:cNvPr>
            <p:cNvCxnSpPr>
              <a:cxnSpLocks/>
            </p:cNvCxnSpPr>
            <p:nvPr/>
          </p:nvCxnSpPr>
          <p:spPr>
            <a:xfrm>
              <a:off x="2997200" y="6261658"/>
              <a:ext cx="6451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020427E6-64D9-81FE-BD64-75F1C6E0F912}"/>
                </a:ext>
              </a:extLst>
            </p:cNvPr>
            <p:cNvSpPr txBox="1"/>
            <p:nvPr/>
          </p:nvSpPr>
          <p:spPr>
            <a:xfrm>
              <a:off x="5792038" y="6076473"/>
              <a:ext cx="877163" cy="369332"/>
            </a:xfrm>
            <a:prstGeom prst="rect">
              <a:avLst/>
            </a:prstGeom>
            <a:solidFill>
              <a:schemeClr val="bg1"/>
            </a:solidFill>
          </p:spPr>
          <p:txBody>
            <a:bodyPr wrap="none" rtlCol="0">
              <a:spAutoFit/>
            </a:bodyPr>
            <a:lstStyle/>
            <a:p>
              <a:r>
                <a:rPr lang="ja-JP" altLang="en-US" dirty="0"/>
                <a:t>新規性</a:t>
              </a:r>
              <a:endParaRPr lang="en-US" dirty="0"/>
            </a:p>
          </p:txBody>
        </p:sp>
        <p:sp>
          <p:nvSpPr>
            <p:cNvPr id="16" name="TextBox 15">
              <a:extLst>
                <a:ext uri="{FF2B5EF4-FFF2-40B4-BE49-F238E27FC236}">
                  <a16:creationId xmlns:a16="http://schemas.microsoft.com/office/drawing/2014/main" id="{F1B71C74-52B4-BFDA-CF9A-B1FB35D6A5A2}"/>
                </a:ext>
              </a:extLst>
            </p:cNvPr>
            <p:cNvSpPr txBox="1"/>
            <p:nvPr/>
          </p:nvSpPr>
          <p:spPr>
            <a:xfrm>
              <a:off x="301084" y="3444798"/>
              <a:ext cx="1882583" cy="1754326"/>
            </a:xfrm>
            <a:prstGeom prst="rect">
              <a:avLst/>
            </a:prstGeom>
            <a:noFill/>
          </p:spPr>
          <p:txBody>
            <a:bodyPr wrap="square" rtlCol="0">
              <a:spAutoFit/>
            </a:bodyPr>
            <a:lstStyle/>
            <a:p>
              <a:pPr algn="just"/>
              <a:r>
                <a:rPr lang="en-US" dirty="0"/>
                <a:t>How-Now-Wow</a:t>
              </a:r>
              <a:r>
                <a:rPr lang="ja-JP" altLang="en-US" dirty="0"/>
                <a:t>マトリクスを使って、思いつくアイディアを適切な箱の中に入れる。</a:t>
              </a:r>
              <a:endParaRPr lang="en-US" dirty="0"/>
            </a:p>
          </p:txBody>
        </p:sp>
        <p:sp>
          <p:nvSpPr>
            <p:cNvPr id="17" name="TextBox 16">
              <a:extLst>
                <a:ext uri="{FF2B5EF4-FFF2-40B4-BE49-F238E27FC236}">
                  <a16:creationId xmlns:a16="http://schemas.microsoft.com/office/drawing/2014/main" id="{DED332AD-6E93-467F-EB79-28A6ECBC3423}"/>
                </a:ext>
              </a:extLst>
            </p:cNvPr>
            <p:cNvSpPr txBox="1"/>
            <p:nvPr/>
          </p:nvSpPr>
          <p:spPr>
            <a:xfrm>
              <a:off x="9778701" y="3713313"/>
              <a:ext cx="2083397" cy="1600294"/>
            </a:xfrm>
            <a:prstGeom prst="rect">
              <a:avLst/>
            </a:prstGeom>
            <a:noFill/>
          </p:spPr>
          <p:txBody>
            <a:bodyPr wrap="square" rtlCol="0">
              <a:spAutoFit/>
            </a:bodyPr>
            <a:lstStyle/>
            <a:p>
              <a:pPr algn="just"/>
              <a:r>
                <a:rPr lang="en-US" dirty="0"/>
                <a:t>Wow</a:t>
              </a:r>
              <a:r>
                <a:rPr lang="ja-JP" altLang="en-US" dirty="0"/>
                <a:t>の箱の中に入っているアイディアをアプリとして実装してみよ。</a:t>
              </a:r>
              <a:endParaRPr lang="en-US" dirty="0"/>
            </a:p>
          </p:txBody>
        </p:sp>
      </p:grpSp>
    </p:spTree>
    <p:extLst>
      <p:ext uri="{BB962C8B-B14F-4D97-AF65-F5344CB8AC3E}">
        <p14:creationId xmlns:p14="http://schemas.microsoft.com/office/powerpoint/2010/main" val="2575555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B343198-5AE9-B0AF-FC64-DE4D0FD4DD3E}"/>
              </a:ext>
            </a:extLst>
          </p:cNvPr>
          <p:cNvSpPr>
            <a:spLocks noGrp="1"/>
          </p:cNvSpPr>
          <p:nvPr>
            <p:ph type="body" sz="quarter" idx="11"/>
          </p:nvPr>
        </p:nvSpPr>
        <p:spPr/>
        <p:txBody>
          <a:bodyPr/>
          <a:lstStyle/>
          <a:p>
            <a:r>
              <a:rPr lang="en-US" dirty="0"/>
              <a:t>4-2</a:t>
            </a:r>
            <a:r>
              <a:rPr lang="ja-JP" altLang="en-US" dirty="0"/>
              <a:t>　事例（</a:t>
            </a:r>
            <a:r>
              <a:rPr lang="en-US" altLang="ja-JP" dirty="0"/>
              <a:t>AI</a:t>
            </a:r>
            <a:r>
              <a:rPr lang="ja-JP" altLang="en-US" dirty="0"/>
              <a:t>物体カウンター紹介展示）</a:t>
            </a:r>
            <a:endParaRPr lang="en-US" dirty="0"/>
          </a:p>
        </p:txBody>
      </p:sp>
      <p:sp>
        <p:nvSpPr>
          <p:cNvPr id="7" name="Text Placeholder 6">
            <a:extLst>
              <a:ext uri="{FF2B5EF4-FFF2-40B4-BE49-F238E27FC236}">
                <a16:creationId xmlns:a16="http://schemas.microsoft.com/office/drawing/2014/main" id="{02F5D0A9-BC17-F86D-6175-DD889462C534}"/>
              </a:ext>
            </a:extLst>
          </p:cNvPr>
          <p:cNvSpPr>
            <a:spLocks noGrp="1"/>
          </p:cNvSpPr>
          <p:nvPr>
            <p:ph type="body" sz="quarter" idx="13"/>
          </p:nvPr>
        </p:nvSpPr>
        <p:spPr>
          <a:xfrm>
            <a:off x="114444" y="1133475"/>
            <a:ext cx="5232107" cy="5276850"/>
          </a:xfrm>
        </p:spPr>
        <p:txBody>
          <a:bodyPr/>
          <a:lstStyle/>
          <a:p>
            <a:pPr algn="just"/>
            <a:r>
              <a:rPr lang="ja-JP" altLang="en-US" dirty="0"/>
              <a:t>作った</a:t>
            </a:r>
            <a:r>
              <a:rPr lang="en-US" altLang="ja-JP" dirty="0"/>
              <a:t>YOLOv8</a:t>
            </a:r>
            <a:r>
              <a:rPr lang="ja-JP" altLang="en-US" dirty="0"/>
              <a:t>の展示は</a:t>
            </a:r>
            <a:r>
              <a:rPr lang="en-US" altLang="ja-JP" dirty="0"/>
              <a:t>CUI</a:t>
            </a:r>
            <a:r>
              <a:rPr lang="ja-JP" altLang="en-US" dirty="0"/>
              <a:t>ソフトで、毎回学生・展示する先生に「</a:t>
            </a:r>
            <a:r>
              <a:rPr lang="en-US" altLang="ja-JP" dirty="0"/>
              <a:t>README.md</a:t>
            </a:r>
            <a:r>
              <a:rPr lang="ja-JP" altLang="en-US" dirty="0"/>
              <a:t>」を使って、使い方を説明しないといけない。</a:t>
            </a:r>
            <a:endParaRPr lang="en-US" altLang="ja-JP" dirty="0"/>
          </a:p>
          <a:p>
            <a:pPr algn="just"/>
            <a:r>
              <a:rPr lang="ja-JP" altLang="en-US" dirty="0"/>
              <a:t>また、パソコンのスペックと検知したいものによって、ソースコードの編集が必要になるが、</a:t>
            </a:r>
            <a:r>
              <a:rPr lang="en-US" altLang="ja-JP" dirty="0"/>
              <a:t> YOLOv8</a:t>
            </a:r>
            <a:r>
              <a:rPr lang="ja-JP" altLang="en-US" dirty="0"/>
              <a:t>・</a:t>
            </a:r>
            <a:r>
              <a:rPr lang="en-US" altLang="ja-JP" dirty="0"/>
              <a:t>Python</a:t>
            </a:r>
            <a:r>
              <a:rPr lang="ja-JP" altLang="en-US" dirty="0"/>
              <a:t>の基礎を持っていなければ編集できない。</a:t>
            </a:r>
            <a:endParaRPr lang="en-US" altLang="ja-JP" dirty="0"/>
          </a:p>
          <a:p>
            <a:pPr algn="just"/>
            <a:r>
              <a:rPr lang="ja-JP" altLang="en-US" dirty="0"/>
              <a:t>処理する動画（パソコンのスペックに適応）のサイズおよび検知するものを</a:t>
            </a:r>
            <a:r>
              <a:rPr lang="en-US" altLang="ja-JP" dirty="0"/>
              <a:t>GUI</a:t>
            </a:r>
            <a:r>
              <a:rPr lang="ja-JP" altLang="en-US" dirty="0"/>
              <a:t>で選択できるようにした。</a:t>
            </a:r>
            <a:endParaRPr lang="en-US" altLang="ja-JP" dirty="0"/>
          </a:p>
          <a:p>
            <a:pPr algn="just"/>
            <a:r>
              <a:rPr lang="ja-JP" altLang="en-US" dirty="0"/>
              <a:t>「</a:t>
            </a:r>
            <a:r>
              <a:rPr lang="en-US" altLang="ja-JP" dirty="0"/>
              <a:t>*.</a:t>
            </a:r>
            <a:r>
              <a:rPr lang="en-US" altLang="ja-JP" dirty="0" err="1"/>
              <a:t>onnx</a:t>
            </a:r>
            <a:r>
              <a:rPr lang="ja-JP" altLang="en-US" dirty="0"/>
              <a:t>」と「</a:t>
            </a:r>
            <a:r>
              <a:rPr lang="en-US" altLang="ja-JP" dirty="0"/>
              <a:t>detection.txt</a:t>
            </a:r>
            <a:r>
              <a:rPr lang="ja-JP" altLang="en-US" dirty="0"/>
              <a:t>」で、検知モデルと検知リストを更新できる。</a:t>
            </a:r>
            <a:endParaRPr lang="en-US" dirty="0"/>
          </a:p>
        </p:txBody>
      </p:sp>
      <p:sp>
        <p:nvSpPr>
          <p:cNvPr id="5" name="Slide Number Placeholder 4">
            <a:extLst>
              <a:ext uri="{FF2B5EF4-FFF2-40B4-BE49-F238E27FC236}">
                <a16:creationId xmlns:a16="http://schemas.microsoft.com/office/drawing/2014/main" id="{17A002FB-5ED8-9488-CA5F-DBA21348922A}"/>
              </a:ext>
            </a:extLst>
          </p:cNvPr>
          <p:cNvSpPr>
            <a:spLocks noGrp="1"/>
          </p:cNvSpPr>
          <p:nvPr>
            <p:ph type="sldNum" sz="quarter" idx="15"/>
          </p:nvPr>
        </p:nvSpPr>
        <p:spPr/>
        <p:txBody>
          <a:bodyPr/>
          <a:lstStyle/>
          <a:p>
            <a:fld id="{CBD12358-51D2-46B3-9BDE-DF29528B9454}" type="slidenum">
              <a:rPr lang="en-US" smtClean="0"/>
              <a:pPr/>
              <a:t>34</a:t>
            </a:fld>
            <a:endParaRPr lang="en-US" dirty="0"/>
          </a:p>
        </p:txBody>
      </p:sp>
      <p:pic>
        <p:nvPicPr>
          <p:cNvPr id="2" name="Recording 2026-10-06 182424">
            <a:hlinkClick r:id="" action="ppaction://media"/>
            <a:extLst>
              <a:ext uri="{FF2B5EF4-FFF2-40B4-BE49-F238E27FC236}">
                <a16:creationId xmlns:a16="http://schemas.microsoft.com/office/drawing/2014/main" id="{CEBE3DF6-22B9-188C-E8BC-7B9E9D83815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020694" y="1133475"/>
            <a:ext cx="5464734" cy="4410821"/>
          </a:xfrm>
          <a:prstGeom prst="rect">
            <a:avLst/>
          </a:prstGeom>
        </p:spPr>
      </p:pic>
      <p:sp>
        <p:nvSpPr>
          <p:cNvPr id="3" name="TextBox 2">
            <a:extLst>
              <a:ext uri="{FF2B5EF4-FFF2-40B4-BE49-F238E27FC236}">
                <a16:creationId xmlns:a16="http://schemas.microsoft.com/office/drawing/2014/main" id="{225B63E2-F909-9129-1B48-206E20CA204A}"/>
              </a:ext>
            </a:extLst>
          </p:cNvPr>
          <p:cNvSpPr txBox="1"/>
          <p:nvPr/>
        </p:nvSpPr>
        <p:spPr>
          <a:xfrm>
            <a:off x="6219635" y="5680821"/>
            <a:ext cx="5066852" cy="646331"/>
          </a:xfrm>
          <a:prstGeom prst="rect">
            <a:avLst/>
          </a:prstGeom>
          <a:noFill/>
        </p:spPr>
        <p:txBody>
          <a:bodyPr wrap="square" rtlCol="0">
            <a:spAutoFit/>
          </a:bodyPr>
          <a:lstStyle/>
          <a:p>
            <a:pPr algn="just"/>
            <a:r>
              <a:rPr lang="en-US" altLang="ja-JP" dirty="0"/>
              <a:t>AI</a:t>
            </a:r>
            <a:r>
              <a:rPr lang="ja-JP" altLang="en-US" dirty="0"/>
              <a:t>の出力を</a:t>
            </a:r>
            <a:r>
              <a:rPr lang="en-US" altLang="ja-JP" dirty="0"/>
              <a:t>GUI</a:t>
            </a:r>
            <a:r>
              <a:rPr lang="ja-JP" altLang="en-US" dirty="0"/>
              <a:t>で可視化することで、初心者でもその効果をより理解しやすくなる！</a:t>
            </a:r>
            <a:endParaRPr lang="en-US" dirty="0"/>
          </a:p>
        </p:txBody>
      </p:sp>
    </p:spTree>
    <p:extLst>
      <p:ext uri="{BB962C8B-B14F-4D97-AF65-F5344CB8AC3E}">
        <p14:creationId xmlns:p14="http://schemas.microsoft.com/office/powerpoint/2010/main" val="150954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46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ADD5D-D60B-A07D-74F1-A276AB06CCAA}"/>
              </a:ext>
            </a:extLst>
          </p:cNvPr>
          <p:cNvSpPr>
            <a:spLocks noGrp="1"/>
          </p:cNvSpPr>
          <p:nvPr>
            <p:ph type="title"/>
          </p:nvPr>
        </p:nvSpPr>
        <p:spPr/>
        <p:txBody>
          <a:bodyPr/>
          <a:lstStyle/>
          <a:p>
            <a:r>
              <a:rPr lang="en-US" dirty="0"/>
              <a:t>5. </a:t>
            </a:r>
            <a:r>
              <a:rPr lang="ja-JP" altLang="en-US" dirty="0"/>
              <a:t>レポートのテンプレート</a:t>
            </a:r>
            <a:endParaRPr lang="en-US" dirty="0"/>
          </a:p>
        </p:txBody>
      </p:sp>
      <p:sp>
        <p:nvSpPr>
          <p:cNvPr id="3" name="Slide Number Placeholder 2">
            <a:extLst>
              <a:ext uri="{FF2B5EF4-FFF2-40B4-BE49-F238E27FC236}">
                <a16:creationId xmlns:a16="http://schemas.microsoft.com/office/drawing/2014/main" id="{E0CAFC0B-077C-950D-A259-A3CEC2E67D39}"/>
              </a:ext>
            </a:extLst>
          </p:cNvPr>
          <p:cNvSpPr>
            <a:spLocks noGrp="1"/>
          </p:cNvSpPr>
          <p:nvPr>
            <p:ph type="sldNum" sz="quarter" idx="15"/>
          </p:nvPr>
        </p:nvSpPr>
        <p:spPr/>
        <p:txBody>
          <a:bodyPr/>
          <a:lstStyle/>
          <a:p>
            <a:fld id="{CBD12358-51D2-46B3-9BDE-DF29528B9454}" type="slidenum">
              <a:rPr lang="en-US" smtClean="0"/>
              <a:pPr/>
              <a:t>35</a:t>
            </a:fld>
            <a:endParaRPr lang="en-US" dirty="0"/>
          </a:p>
        </p:txBody>
      </p:sp>
      <p:sp>
        <p:nvSpPr>
          <p:cNvPr id="4" name="Text Placeholder 3">
            <a:extLst>
              <a:ext uri="{FF2B5EF4-FFF2-40B4-BE49-F238E27FC236}">
                <a16:creationId xmlns:a16="http://schemas.microsoft.com/office/drawing/2014/main" id="{56A46A91-CC1F-D52E-A50B-A25370057B4D}"/>
              </a:ext>
            </a:extLst>
          </p:cNvPr>
          <p:cNvSpPr>
            <a:spLocks noGrp="1"/>
          </p:cNvSpPr>
          <p:nvPr>
            <p:ph type="body" sz="quarter" idx="13"/>
          </p:nvPr>
        </p:nvSpPr>
        <p:spPr>
          <a:xfrm>
            <a:off x="114444" y="1133475"/>
            <a:ext cx="11977151" cy="1491391"/>
          </a:xfrm>
        </p:spPr>
        <p:txBody>
          <a:bodyPr>
            <a:normAutofit/>
          </a:bodyPr>
          <a:lstStyle/>
          <a:p>
            <a:r>
              <a:rPr lang="ja-JP" altLang="en-US" dirty="0"/>
              <a:t>レポートのテンプレートでは、以下のアイコンを使用できまる。</a:t>
            </a:r>
            <a:endParaRPr lang="en-US" altLang="ja-JP" dirty="0"/>
          </a:p>
          <a:p>
            <a:r>
              <a:rPr lang="en-US" altLang="ja-JP" dirty="0"/>
              <a:t>Microsoft Word Document </a:t>
            </a:r>
            <a:r>
              <a:rPr lang="ja-JP" altLang="en-US" dirty="0"/>
              <a:t>をダブルクリックすると、</a:t>
            </a:r>
            <a:r>
              <a:rPr lang="en-US" altLang="ja-JP" dirty="0"/>
              <a:t>Word </a:t>
            </a:r>
            <a:r>
              <a:rPr lang="ja-JP" altLang="en-US" dirty="0"/>
              <a:t>ファイルが開く。</a:t>
            </a:r>
            <a:endParaRPr lang="en-US" altLang="ja-JP" dirty="0"/>
          </a:p>
          <a:p>
            <a:r>
              <a:rPr lang="ja-JP" altLang="en-US" spc="-40" dirty="0"/>
              <a:t>開いたら、［</a:t>
            </a:r>
            <a:r>
              <a:rPr lang="en-US" altLang="ja-JP" spc="-40" dirty="0"/>
              <a:t>File</a:t>
            </a:r>
            <a:r>
              <a:rPr lang="ja-JP" altLang="en-US" spc="-40" dirty="0"/>
              <a:t>］→［</a:t>
            </a:r>
            <a:r>
              <a:rPr lang="en-US" altLang="ja-JP" spc="-40" dirty="0"/>
              <a:t>Save As</a:t>
            </a:r>
            <a:r>
              <a:rPr lang="ja-JP" altLang="en-US" spc="-40" dirty="0"/>
              <a:t>］の順に操作して、新しいファイルとして保存できる。</a:t>
            </a:r>
            <a:endParaRPr lang="en-US" spc="-40" dirty="0"/>
          </a:p>
        </p:txBody>
      </p:sp>
      <p:graphicFrame>
        <p:nvGraphicFramePr>
          <p:cNvPr id="6" name="Object 5">
            <a:extLst>
              <a:ext uri="{FF2B5EF4-FFF2-40B4-BE49-F238E27FC236}">
                <a16:creationId xmlns:a16="http://schemas.microsoft.com/office/drawing/2014/main" id="{FC05989B-B85D-38B8-1FAB-992647F4E4EB}"/>
              </a:ext>
            </a:extLst>
          </p:cNvPr>
          <p:cNvGraphicFramePr>
            <a:graphicFrameLocks noChangeAspect="1"/>
          </p:cNvGraphicFramePr>
          <p:nvPr>
            <p:extLst>
              <p:ext uri="{D42A27DB-BD31-4B8C-83A1-F6EECF244321}">
                <p14:modId xmlns:p14="http://schemas.microsoft.com/office/powerpoint/2010/main" val="3204975121"/>
              </p:ext>
            </p:extLst>
          </p:nvPr>
        </p:nvGraphicFramePr>
        <p:xfrm>
          <a:off x="5069194" y="3851238"/>
          <a:ext cx="2024619" cy="1708272"/>
        </p:xfrm>
        <a:graphic>
          <a:graphicData uri="http://schemas.openxmlformats.org/presentationml/2006/ole">
            <mc:AlternateContent xmlns:mc="http://schemas.openxmlformats.org/markup-compatibility/2006">
              <mc:Choice xmlns:v="urn:schemas-microsoft-com:vml" Requires="v">
                <p:oleObj name="Document" showAsIcon="1" r:id="rId2" imgW="914400" imgH="771525" progId="Word.Document.12">
                  <p:embed/>
                </p:oleObj>
              </mc:Choice>
              <mc:Fallback>
                <p:oleObj name="Document" showAsIcon="1" r:id="rId2" imgW="914400" imgH="771525" progId="Word.Document.12">
                  <p:embed/>
                  <p:pic>
                    <p:nvPicPr>
                      <p:cNvPr id="6" name="Object 5">
                        <a:extLst>
                          <a:ext uri="{FF2B5EF4-FFF2-40B4-BE49-F238E27FC236}">
                            <a16:creationId xmlns:a16="http://schemas.microsoft.com/office/drawing/2014/main" id="{FC05989B-B85D-38B8-1FAB-992647F4E4EB}"/>
                          </a:ext>
                        </a:extLst>
                      </p:cNvPr>
                      <p:cNvPicPr/>
                      <p:nvPr/>
                    </p:nvPicPr>
                    <p:blipFill>
                      <a:blip r:embed="rId3"/>
                      <a:stretch>
                        <a:fillRect/>
                      </a:stretch>
                    </p:blipFill>
                    <p:spPr>
                      <a:xfrm>
                        <a:off x="5069194" y="3851238"/>
                        <a:ext cx="2024619" cy="1708272"/>
                      </a:xfrm>
                      <a:prstGeom prst="rect">
                        <a:avLst/>
                      </a:prstGeom>
                    </p:spPr>
                  </p:pic>
                </p:oleObj>
              </mc:Fallback>
            </mc:AlternateContent>
          </a:graphicData>
        </a:graphic>
      </p:graphicFrame>
      <p:sp>
        <p:nvSpPr>
          <p:cNvPr id="9" name="Arrow: Right 8">
            <a:extLst>
              <a:ext uri="{FF2B5EF4-FFF2-40B4-BE49-F238E27FC236}">
                <a16:creationId xmlns:a16="http://schemas.microsoft.com/office/drawing/2014/main" id="{E7C7031D-A1D4-5C0F-C497-93C092697261}"/>
              </a:ext>
            </a:extLst>
          </p:cNvPr>
          <p:cNvSpPr/>
          <p:nvPr/>
        </p:nvSpPr>
        <p:spPr>
          <a:xfrm>
            <a:off x="3732904" y="422074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35B17139-CFFE-0919-B79A-F59FD80EBDCE}"/>
              </a:ext>
            </a:extLst>
          </p:cNvPr>
          <p:cNvSpPr/>
          <p:nvPr/>
        </p:nvSpPr>
        <p:spPr>
          <a:xfrm rot="10800000">
            <a:off x="7451695" y="422074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3001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F543C-E2F7-C1D3-FC5E-4CFD08EFD7DC}"/>
              </a:ext>
            </a:extLst>
          </p:cNvPr>
          <p:cNvSpPr>
            <a:spLocks noGrp="1"/>
          </p:cNvSpPr>
          <p:nvPr>
            <p:ph type="title"/>
          </p:nvPr>
        </p:nvSpPr>
        <p:spPr/>
        <p:txBody>
          <a:bodyPr/>
          <a:lstStyle/>
          <a:p>
            <a:r>
              <a:rPr lang="en-US" dirty="0"/>
              <a:t>6. </a:t>
            </a:r>
            <a:r>
              <a:rPr lang="ja-JP" altLang="en-US" dirty="0"/>
              <a:t>スケジュール</a:t>
            </a:r>
            <a:endParaRPr lang="en-US" dirty="0"/>
          </a:p>
        </p:txBody>
      </p:sp>
      <p:sp>
        <p:nvSpPr>
          <p:cNvPr id="3" name="Slide Number Placeholder 2">
            <a:extLst>
              <a:ext uri="{FF2B5EF4-FFF2-40B4-BE49-F238E27FC236}">
                <a16:creationId xmlns:a16="http://schemas.microsoft.com/office/drawing/2014/main" id="{F7166E8F-DBF8-CC9A-B8F2-DCAEB00E734F}"/>
              </a:ext>
            </a:extLst>
          </p:cNvPr>
          <p:cNvSpPr>
            <a:spLocks noGrp="1"/>
          </p:cNvSpPr>
          <p:nvPr>
            <p:ph type="sldNum" sz="quarter" idx="15"/>
          </p:nvPr>
        </p:nvSpPr>
        <p:spPr/>
        <p:txBody>
          <a:bodyPr/>
          <a:lstStyle/>
          <a:p>
            <a:fld id="{CBD12358-51D2-46B3-9BDE-DF29528B9454}" type="slidenum">
              <a:rPr lang="en-US" smtClean="0"/>
              <a:pPr/>
              <a:t>36</a:t>
            </a:fld>
            <a:endParaRPr lang="en-US" dirty="0"/>
          </a:p>
        </p:txBody>
      </p:sp>
      <p:pic>
        <p:nvPicPr>
          <p:cNvPr id="15" name="Graphic 14">
            <a:extLst>
              <a:ext uri="{FF2B5EF4-FFF2-40B4-BE49-F238E27FC236}">
                <a16:creationId xmlns:a16="http://schemas.microsoft.com/office/drawing/2014/main" id="{A54919F6-C96A-A2F2-6291-1142049CC0B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219994" y="1870347"/>
            <a:ext cx="9752012" cy="3999848"/>
          </a:xfrm>
          <a:prstGeom prst="rect">
            <a:avLst/>
          </a:prstGeom>
        </p:spPr>
      </p:pic>
    </p:spTree>
    <p:extLst>
      <p:ext uri="{BB962C8B-B14F-4D97-AF65-F5344CB8AC3E}">
        <p14:creationId xmlns:p14="http://schemas.microsoft.com/office/powerpoint/2010/main" val="110573339"/>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7FFD73E-D96B-4428-99CD-717A4897D3B4}">
  <ds:schemaRefs>
    <ds:schemaRef ds:uri="http://schemas.microsoft.com/sharepoint/v3/contenttype/forms"/>
  </ds:schemaRefs>
</ds:datastoreItem>
</file>

<file path=customXml/itemProps2.xml><?xml version="1.0" encoding="utf-8"?>
<ds:datastoreItem xmlns:ds="http://schemas.openxmlformats.org/officeDocument/2006/customXml" ds:itemID="{1285E733-8340-4FDD-A6FC-B22F1B75E4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3165DE6-2DCE-44FC-94B7-A499559DBF88}">
  <ds:schemaRefs>
    <ds:schemaRef ds:uri="http://purl.org/dc/dcmitype/"/>
    <ds:schemaRef ds:uri="http://purl.org/dc/terms/"/>
    <ds:schemaRef ds:uri="http://schemas.microsoft.com/office/2006/metadata/properties"/>
    <ds:schemaRef ds:uri="230e9df3-be65-4c73-a93b-d1236ebd677e"/>
    <ds:schemaRef ds:uri="71af3243-3dd4-4a8d-8c0d-dd76da1f02a5"/>
    <ds:schemaRef ds:uri="http://purl.org/dc/elements/1.1/"/>
    <ds:schemaRef ds:uri="16c05727-aa75-4e4a-9b5f-8a80a1165891"/>
    <ds:schemaRef ds:uri="http://schemas.openxmlformats.org/package/2006/metadata/core-properties"/>
    <ds:schemaRef ds:uri="http://schemas.microsoft.com/office/2006/documentManagement/types"/>
    <ds:schemaRef ds:uri="http://schemas.microsoft.com/office/infopath/2007/PartnerControls"/>
    <ds:schemaRef ds:uri="http://schemas.microsoft.com/sharepoint/v3"/>
    <ds:schemaRef ds:uri="http://www.w3.org/XML/1998/namespace"/>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emplate/>
  <TotalTime>11939</TotalTime>
  <Words>4399</Words>
  <Application>Microsoft Office PowerPoint</Application>
  <PresentationFormat>Widescreen</PresentationFormat>
  <Paragraphs>621</Paragraphs>
  <Slides>36</Slides>
  <Notes>4</Notes>
  <HiddenSlides>0</HiddenSlides>
  <MMClips>1</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8" baseType="lpstr">
      <vt:lpstr>Arial Unicode MS</vt:lpstr>
      <vt:lpstr>Aptos</vt:lpstr>
      <vt:lpstr>Aptos Narrow</vt:lpstr>
      <vt:lpstr>Arial</vt:lpstr>
      <vt:lpstr>Avenir Next LT Pro Light</vt:lpstr>
      <vt:lpstr>Calibri</vt:lpstr>
      <vt:lpstr>Cambria Math</vt:lpstr>
      <vt:lpstr>Consolas</vt:lpstr>
      <vt:lpstr>Courier New</vt:lpstr>
      <vt:lpstr>Tw Cen MT</vt:lpstr>
      <vt:lpstr>Custom</vt:lpstr>
      <vt:lpstr>Document</vt:lpstr>
      <vt:lpstr>Pythonでデスクトップアプリを作ろう 10月7日・9日   https://info.nikkeibp.co.jp/media/NSW/atcl/books/110900064/</vt:lpstr>
      <vt:lpstr>PowerPoint Presentation</vt:lpstr>
      <vt:lpstr>1 はじめに</vt:lpstr>
      <vt:lpstr>PowerPoint Presentation</vt:lpstr>
      <vt:lpstr>PowerPoint Presentation</vt:lpstr>
      <vt:lpstr>PowerPoint Presentation</vt:lpstr>
      <vt:lpstr>PowerPoint Presentation</vt:lpstr>
      <vt:lpstr>2 Tkinterの基礎</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ユーザーの操作に対応する</vt:lpstr>
      <vt:lpstr>PowerPoint Presentation</vt:lpstr>
      <vt:lpstr>PowerPoint Presentation</vt:lpstr>
      <vt:lpstr>PowerPoint Presentation</vt:lpstr>
      <vt:lpstr>PowerPoint Presentation</vt:lpstr>
      <vt:lpstr>4. 課題設定</vt:lpstr>
      <vt:lpstr>PowerPoint Presentation</vt:lpstr>
      <vt:lpstr>5. レポートのテンプレート</vt:lpstr>
      <vt:lpstr>6. スケジュール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Mohd Hafizuddin</dc:creator>
  <cp:lastModifiedBy>Mohd Hafizuddin Bin Kamilin</cp:lastModifiedBy>
  <cp:revision>25</cp:revision>
  <dcterms:created xsi:type="dcterms:W3CDTF">2024-01-11T14:50:00Z</dcterms:created>
  <dcterms:modified xsi:type="dcterms:W3CDTF">2026-10-15T02:20:32Z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